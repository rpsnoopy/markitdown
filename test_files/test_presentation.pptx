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Layouts/slideLayout.xml" ContentType="application/vnd.openxmlformats-officedocument.presentationml.slideLayout+xml"/>
  <Override PartName="/ppt/slideLayouts/slideMasters/slideMaster.xml" ContentType="application/vnd.openxmlformats-officedocument.presentationml.slideMaster+xml"/>
  <Override PartName="/ppt/slideLayouts/slideMasters/theme/theme.xml" ContentType="application/vnd.openxmlformats-officedocument.theme+xml"/>
  <Override PartName="/ppt/slides/slide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<Relationships xmlns="http://schemas.openxmlformats.org/package/2006/relationships"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00815e2714da42da" Type="http://schemas.openxmlformats.org/officeDocument/2006/relationships/officeDocument" Target="ppt/presentation.xml"/></Relationships>
</file>

<file path=ppt/presentation.xml><?xml version="1.0" encoding="utf-8"?>
<p:presentation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10024"/>
    <p:sldId id="257" r:id="R10025"/>
    <p:sldId id="258" r:id="R10026"/>
    <p:sldId id="259" r:id="R10027"/>
    <p:sldId id="260" r:id="R10028"/>
    <p:sldId id="261" r:id="R10029"/>
    <p:sldId id="262" r:id="R10030"/>
    <p:sldId id="263" r:id="R10031"/>
    <p:sldId id="264" r:id="R10032"/>
    <p:sldId id="265" r:id="R10033"/>
    <p:sldId id="266" r:id="R10034"/>
    <p:sldId id="267" r:id="R10035"/>
    <p:sldId id="268" r:id="R10036"/>
    <p:sldId id="269" r:id="R10037"/>
    <p:sldId id="270" r:id="R10038"/>
    <p:sldId id="271" r:id="R10039"/>
    <p:sldId id="272" r:id="R10040"/>
  </p:sldIdLst>
  <p:sldSz cx="7563611" cy="10700004" type="custom"/>
  <p:notesSz cx="7563611" cy="10700004"/>
  <p:embeddedFontLst>
    <p:embeddedFont>
      <p:font typeface="ArialMT" charset="1"/>
      <p:regular xmlns:r="http://schemas.openxmlformats.org/officeDocument/2006/relationships" r:id="rId238"/>
    </p:embeddedFont>
    <p:embeddedFont>
      <p:font typeface="Calibri-BoldItalic" charset="1"/>
      <p:boldItalic xmlns:r="http://schemas.openxmlformats.org/officeDocument/2006/relationships" r:id="rId259"/>
    </p:embeddedFont>
    <p:embeddedFont>
      <p:font typeface="Calibri-BoldItalic" charset="1"/>
      <p:boldItalic xmlns:r="http://schemas.openxmlformats.org/officeDocument/2006/relationships" r:id="rId842"/>
    </p:embeddedFont>
    <p:embeddedFont>
      <p:font typeface="Cambria-Bold" charset="1"/>
      <p:bold xmlns:r="http://schemas.openxmlformats.org/officeDocument/2006/relationships" r:id="rId258"/>
    </p:embeddedFont>
    <p:embeddedFont>
      <p:font typeface="Cambria-BoldItalic" charset="1"/>
      <p:boldItalic xmlns:r="http://schemas.openxmlformats.org/officeDocument/2006/relationships" r:id="rId270"/>
    </p:embeddedFont>
  </p:embeddedFontLst>
  <p:defaultTextStyle/>
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Layouts/slideMasters/slideMaster.xml"/><Relationship Id="rId3" Type="http://schemas.openxmlformats.org/officeDocument/2006/relationships/theme" Target="slideLayouts/slideMasters/theme/theme.xml"/><Relationship Id="rId238" Type="http://schemas.openxmlformats.org/officeDocument/2006/relationships/font" Target="fonts/font1.fntdata"/><Relationship Id="rId258" Type="http://schemas.openxmlformats.org/officeDocument/2006/relationships/font" Target="fonts/font2.fntdata"/><Relationship Id="rId259" Type="http://schemas.openxmlformats.org/officeDocument/2006/relationships/font" Target="fonts/font3.fntdata"/><Relationship Id="rId270" Type="http://schemas.openxmlformats.org/officeDocument/2006/relationships/font" Target="fonts/font4.fntdata"/><Relationship Id="rId842" Type="http://schemas.openxmlformats.org/officeDocument/2006/relationships/font" Target="fonts/font5.fntdata"/><Relationship Id="R10024" Type="http://schemas.openxmlformats.org/officeDocument/2006/relationships/slide" Target="slides/slide.xml"/><Relationship Id="R10025" Type="http://schemas.openxmlformats.org/officeDocument/2006/relationships/slide" Target="slides/slide2.xml"/><Relationship Id="R10026" Type="http://schemas.openxmlformats.org/officeDocument/2006/relationships/slide" Target="slides/slide3.xml"/><Relationship Id="R10027" Type="http://schemas.openxmlformats.org/officeDocument/2006/relationships/slide" Target="slides/slide4.xml"/><Relationship Id="R10028" Type="http://schemas.openxmlformats.org/officeDocument/2006/relationships/slide" Target="slides/slide5.xml"/><Relationship Id="R10029" Type="http://schemas.openxmlformats.org/officeDocument/2006/relationships/slide" Target="slides/slide6.xml"/><Relationship Id="R10030" Type="http://schemas.openxmlformats.org/officeDocument/2006/relationships/slide" Target="slides/slide7.xml"/><Relationship Id="R10031" Type="http://schemas.openxmlformats.org/officeDocument/2006/relationships/slide" Target="slides/slide8.xml"/><Relationship Id="R10032" Type="http://schemas.openxmlformats.org/officeDocument/2006/relationships/slide" Target="slides/slide9.xml"/><Relationship Id="R10033" Type="http://schemas.openxmlformats.org/officeDocument/2006/relationships/slide" Target="slides/slide10.xml"/><Relationship Id="R10034" Type="http://schemas.openxmlformats.org/officeDocument/2006/relationships/slide" Target="slides/slide11.xml"/><Relationship Id="R10035" Type="http://schemas.openxmlformats.org/officeDocument/2006/relationships/slide" Target="slides/slide12.xml"/><Relationship Id="R10036" Type="http://schemas.openxmlformats.org/officeDocument/2006/relationships/slide" Target="slides/slide13.xml"/><Relationship Id="R10037" Type="http://schemas.openxmlformats.org/officeDocument/2006/relationships/slide" Target="slides/slide14.xml"/><Relationship Id="R10038" Type="http://schemas.openxmlformats.org/officeDocument/2006/relationships/slide" Target="slides/slide15.xml"/><Relationship Id="R10039" Type="http://schemas.openxmlformats.org/officeDocument/2006/relationships/slide" Target="slides/slide16.xml"/><Relationship Id="R10040" Type="http://schemas.openxmlformats.org/officeDocument/2006/relationships/slide" Target="slides/slide17.xml"/></Relationships>
</file>

<file path=ppt/slideLayouts/_rels/slideLayout.xml.rels><?xml version="1.0" encoding="UTF-8"?><Relationships xmlns="http://schemas.openxmlformats.org/package/2006/relationships"><Relationship Id="rId1" Type="http://schemas.openxmlformats.org/officeDocument/2006/relationships/slideMaster" Target="slideMasters/slideMaster.xml"/></Relationships>
</file>

<file path=ppt/slideLayouts/slideLayout.xml><?xml version="1.0" encoding="utf-8"?>
<p:sldLayout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Masters/_rels/slideMaster.xml.rels><?xml version="1.0" encoding="UTF-8"?><Relationships xmlns="http://schemas.openxmlformats.org/package/2006/relationships"><Relationship Id="rId1" Type="http://schemas.openxmlformats.org/officeDocument/2006/relationships/slideLayout" Target="../slideLayout.xml"/><Relationship Id="rId3" Type="http://schemas.openxmlformats.org/officeDocument/2006/relationships/theme" Target="theme/theme.xml"/></Relationships>
</file>

<file path=ppt/slideLayouts/slideMasters/slideMaster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</p:sldLayoutIdLst>
  <p:txStyles>
    <p:titleStyle/>
    <p:bodyStyle/>
    <p:otherStyle/>
  </p:txStyles>
</p:sldMaster>
</file>

<file path=ppt/slideLayouts/slideMasters/theme/theme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noFill/>
        <a:pattFill/>
        <a:grpFill/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0">
              <a:schemeClr val="phClr">
                <a:tint val="50000"/>
                <a:satMod val="300000"/>
              </a:schemeClr>
            </a:gs>
            <a:gs pos="0">
              <a:schemeClr val="phClr">
                <a:tint val="50000"/>
                <a:satMod val="30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50000"/>
                <a:satMod val="300000"/>
              </a:schemeClr>
            </a:gs>
            <a:gs pos="0">
              <a:schemeClr val="phClr">
                <a:tint val="50000"/>
                <a:satMod val="300000"/>
              </a:schemeClr>
            </a:gs>
          </a:gsLst>
          <a:lin ang="16200000" scaled="1"/>
        </a:gradFill>
      </a:bgFillStyleLst>
    </a:fmtScheme>
  </a:themeElements>
  <a:objectDefaults/>
  <a:extraClrSchemeLst/>
</a:theme>
</file>

<file path=ppt/slides/_rels/slide.xml.rels><?xml version="1.0" encoding="UTF-8"?><Relationships xmlns="http://schemas.openxmlformats.org/package/2006/relationships"><Relationship Id="rId1" Type="http://schemas.openxmlformats.org/officeDocument/2006/relationships/slideLayout" Target="../slideLayouts/slideLayout.xml"/><Relationship Id="rId103" Type="http://schemas.openxmlformats.org/officeDocument/2006/relationships/image" Target="../media/image103.png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.xml"/><Relationship Id="rId252" Type="http://schemas.openxmlformats.org/officeDocument/2006/relationships/image" Target="../media/image252.png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.xml"/><Relationship Id="rId398" Type="http://schemas.openxmlformats.org/officeDocument/2006/relationships/image" Target="../media/image398.png"/><Relationship Id="rId400" Type="http://schemas.openxmlformats.org/officeDocument/2006/relationships/image" Target="../media/image400.png"/><Relationship Id="rId401" Type="http://schemas.openxmlformats.org/officeDocument/2006/relationships/image" Target="../media/image401.png"/><Relationship Id="rId403" Type="http://schemas.openxmlformats.org/officeDocument/2006/relationships/image" Target="../media/image403.png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.xml"/><Relationship Id="rId428" Type="http://schemas.openxmlformats.org/officeDocument/2006/relationships/image" Target="../media/image428.png"/><Relationship Id="rId430" Type="http://schemas.openxmlformats.org/officeDocument/2006/relationships/image" Target="../media/image430.png"/><Relationship Id="rId431" Type="http://schemas.openxmlformats.org/officeDocument/2006/relationships/image" Target="../media/image428.png"/><Relationship Id="rId433" Type="http://schemas.openxmlformats.org/officeDocument/2006/relationships/image" Target="../media/image433.png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.xml"/><Relationship Id="rId453" Type="http://schemas.openxmlformats.org/officeDocument/2006/relationships/image" Target="../media/image398.png"/><Relationship Id="rId455" Type="http://schemas.openxmlformats.org/officeDocument/2006/relationships/image" Target="../media/image455.png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.xml"/><Relationship Id="rId770" Type="http://schemas.openxmlformats.org/officeDocument/2006/relationships/image" Target="../media/image770.png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.xml"/><Relationship Id="rId831" Type="http://schemas.openxmlformats.org/officeDocument/2006/relationships/image" Target="../media/image831.png"/><Relationship Id="rId832" Type="http://schemas.openxmlformats.org/officeDocument/2006/relationships/image" Target="../media/image428.png"/><Relationship Id="rId834" Type="http://schemas.openxmlformats.org/officeDocument/2006/relationships/image" Target="../media/image834.png"/><Relationship Id="rId835" Type="http://schemas.openxmlformats.org/officeDocument/2006/relationships/image" Target="../media/image428.png"/><Relationship Id="rId837" Type="http://schemas.openxmlformats.org/officeDocument/2006/relationships/image" Target="../media/image837.png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.xml"/><Relationship Id="rId855" Type="http://schemas.openxmlformats.org/officeDocument/2006/relationships/image" Target="../media/image855.png"/><Relationship Id="rId856" Type="http://schemas.openxmlformats.org/officeDocument/2006/relationships/image" Target="../media/image856.png"/><Relationship Id="rId857" Type="http://schemas.openxmlformats.org/officeDocument/2006/relationships/image" Target="../media/image857.png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.xml"/><Relationship Id="rId885" Type="http://schemas.openxmlformats.org/officeDocument/2006/relationships/image" Target="../media/image885.png"/><Relationship Id="rId886" Type="http://schemas.openxmlformats.org/officeDocument/2006/relationships/image" Target="../media/image886.png"/><Relationship Id="rId887" Type="http://schemas.openxmlformats.org/officeDocument/2006/relationships/image" Target="../media/image428.png"/><Relationship Id="rId889" Type="http://schemas.openxmlformats.org/officeDocument/2006/relationships/image" Target="../media/image889.png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.xml"/><Relationship Id="rId100" Type="http://schemas.openxmlformats.org/officeDocument/2006/relationships/hyperlink" TargetMode="External" Target="http://www.generali.it/"/><Relationship Id="rId101" Type="http://schemas.openxmlformats.org/officeDocument/2006/relationships/hyperlink" TargetMode="External" Target="https://areaclienti.spesemediche.generali.it/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.xml"/><Relationship Id="rId100" Type="http://schemas.openxmlformats.org/officeDocument/2006/relationships/hyperlink" TargetMode="External" Target="https://secure.firenzerifredi.it/"/><Relationship Id="rId101" Type="http://schemas.openxmlformats.org/officeDocument/2006/relationships/hyperlink" TargetMode="External" Target="http://www.generali.it/"/><Relationship Id="rId102" Type="http://schemas.openxmlformats.org/officeDocument/2006/relationships/hyperlink" TargetMode="External" Target="mailto:ricoveri.it@generali.coma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.xml"/><Relationship Id="rId990" Type="http://schemas.openxmlformats.org/officeDocument/2006/relationships/image" Target="../media/image990.png"/></Relationships>
</file>

<file path=ppt/slides/slid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00" name="Freeform 100"/>
          <p:cNvSpPr/>
          <p:nvPr/>
        </p:nvSpPr>
        <p:spPr>
          <a:xfrm rot="0" flipH="0" flipV="0">
            <a:off x="0" y="0"/>
            <a:ext cx="359409" cy="558800"/>
          </a:xfrm>
          <a:custGeom>
            <a:pathLst>
              <a:path w="359409" h="558800">
                <a:moveTo>
                  <a:pt x="0" y="558800"/>
                </a:moveTo>
                <a:lnTo>
                  <a:pt x="359409" y="558800"/>
                </a:lnTo>
                <a:lnTo>
                  <a:pt x="359409" y="0"/>
                </a:lnTo>
                <a:lnTo>
                  <a:pt x="0" y="0"/>
                </a:lnTo>
                <a:lnTo>
                  <a:pt x="0" y="558800"/>
                </a:lnTo>
                <a:close/>
              </a:path>
            </a:pathLst>
          </a:custGeom>
          <a:solidFill>
            <a:srgbClr val="C21B17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1" name="Freeform 101"/>
          <p:cNvSpPr/>
          <p:nvPr/>
        </p:nvSpPr>
        <p:spPr>
          <a:xfrm rot="0" flipH="0" flipV="0">
            <a:off x="0" y="556896"/>
            <a:ext cx="359409" cy="419100"/>
          </a:xfrm>
          <a:custGeom>
            <a:pathLst>
              <a:path w="359409" h="419100">
                <a:moveTo>
                  <a:pt x="0" y="419100"/>
                </a:moveTo>
                <a:lnTo>
                  <a:pt x="359409" y="419100"/>
                </a:lnTo>
                <a:lnTo>
                  <a:pt x="359409" y="0"/>
                </a:lnTo>
                <a:lnTo>
                  <a:pt x="0" y="0"/>
                </a:lnTo>
                <a:lnTo>
                  <a:pt x="0" y="419100"/>
                </a:lnTo>
                <a:close/>
              </a:path>
            </a:pathLst>
          </a:custGeom>
          <a:solidFill>
            <a:srgbClr val="E9563C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2" name="Freeform 102"/>
          <p:cNvSpPr/>
          <p:nvPr/>
        </p:nvSpPr>
        <p:spPr>
          <a:xfrm rot="0" flipH="0" flipV="0">
            <a:off x="0" y="975996"/>
            <a:ext cx="359409" cy="279400"/>
          </a:xfrm>
          <a:custGeom>
            <a:pathLst>
              <a:path w="359409" h="279400">
                <a:moveTo>
                  <a:pt x="0" y="279400"/>
                </a:moveTo>
                <a:lnTo>
                  <a:pt x="359409" y="279400"/>
                </a:lnTo>
                <a:lnTo>
                  <a:pt x="359409" y="0"/>
                </a:lnTo>
                <a:lnTo>
                  <a:pt x="0" y="0"/>
                </a:lnTo>
                <a:lnTo>
                  <a:pt x="0" y="279400"/>
                </a:lnTo>
                <a:close/>
              </a:path>
            </a:pathLst>
          </a:custGeom>
          <a:solidFill>
            <a:srgbClr val="752027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03" name="Picture 103"/>
          <p:cNvPicPr>
            <a:picLocks noChangeAspect="0" noChangeArrowheads="1"/>
          </p:cNvPicPr>
          <p:nvPr/>
        </p:nvPicPr>
        <p:blipFill>
          <a:blip r:embed="rId10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 flipH="0" flipV="0">
            <a:off x="6319520" y="9607525"/>
            <a:ext cx="878814" cy="713105"/>
          </a:xfrm>
          <a:prstGeom prst="rect">
            <a:avLst/>
          </a:prstGeom>
          <a:noFill/>
          <a:extLst/>
        </p:spPr>
      </p:pic>
      <p:sp>
        <p:nvSpPr>
          <p:cNvPr id="104" name="Rectangle 104"/>
          <p:cNvSpPr/>
          <p:nvPr/>
        </p:nvSpPr>
        <p:spPr>
          <a:xfrm rot="0" flipH="0" flipV="0">
            <a:off x="216408" y="171641"/>
            <a:ext cx="47625" cy="21088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1500" baseline="0" b="0" i="0" dirty="0" spc="0">
                <a:solidFill>
                  <a:srgbClr val="000000"/>
                </a:solidFill>
                <a:latin typeface="Times New Roman" pitchFamily="0" charset="1"/>
              </a:rPr>
              <a:t> </a:t>
            </a:r>
          </a:p>
        </p:txBody>
      </p:sp>
      <p:sp>
        <p:nvSpPr>
          <p:cNvPr id="105" name="Rectangle 105"/>
          <p:cNvSpPr/>
          <p:nvPr/>
        </p:nvSpPr>
        <p:spPr>
          <a:xfrm rot="0" flipH="0" flipV="0">
            <a:off x="733044" y="389954"/>
            <a:ext cx="1818004" cy="21240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1500" baseline="0" b="0" i="0" dirty="0" spc="0">
                <a:solidFill>
                  <a:srgbClr val="000000"/>
                </a:solidFill>
                <a:latin typeface="Arial" pitchFamily="0" charset="1"/>
              </a:rPr>
              <a:t>Generali Italia</a:t>
            </a:r>
            <a:r>
              <a:rPr lang="it-IT" sz="1500" baseline="0" b="0" i="0" dirty="0" spc="111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1500" baseline="0" b="0" i="0" dirty="0" spc="0">
                <a:solidFill>
                  <a:srgbClr val="000000"/>
                </a:solidFill>
                <a:latin typeface="Arial" pitchFamily="0" charset="1"/>
              </a:rPr>
              <a:t>S.p.A. </a:t>
            </a:r>
          </a:p>
        </p:txBody>
      </p:sp>
      <p:sp>
        <p:nvSpPr>
          <p:cNvPr id="106" name="Rectangle 106"/>
          <p:cNvSpPr/>
          <p:nvPr/>
        </p:nvSpPr>
        <p:spPr>
          <a:xfrm rot="0" flipH="0" flipV="0">
            <a:off x="216408" y="677990"/>
            <a:ext cx="52959" cy="21240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1500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107" name="Rectangle 107"/>
          <p:cNvSpPr/>
          <p:nvPr/>
        </p:nvSpPr>
        <p:spPr>
          <a:xfrm rot="0" flipH="0" flipV="0">
            <a:off x="733044" y="902081"/>
            <a:ext cx="4171314" cy="101117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3000" baseline="0" b="1" i="0" dirty="0" spc="0">
                <a:solidFill>
                  <a:srgbClr val="000000"/>
                </a:solidFill>
                <a:latin typeface="Arial" pitchFamily="0" charset="1"/>
              </a:rPr>
              <a:t>GENERASALUTE RSM </a:t>
            </a:r>
          </a:p>
          <a:p>
            <a:pPr marL="0">
              <a:lnSpc>
                <a:spcPts val="2325"/>
              </a:lnSpc>
            </a:pPr>
            <a:r>
              <a:rPr lang="it-IT" sz="1500" baseline="0" b="0" i="0" dirty="0" spc="0">
                <a:solidFill>
                  <a:srgbClr val="000000"/>
                </a:solidFill>
                <a:latin typeface="Arial" pitchFamily="0" charset="1"/>
              </a:rPr>
              <a:t>Contratto di assicurazione malattie per aziende </a:t>
            </a:r>
          </a:p>
          <a:p>
            <a:pPr marL="0">
              <a:lnSpc>
                <a:spcPts val="2291"/>
              </a:lnSpc>
            </a:pPr>
            <a:r>
              <a:rPr lang="it-IT" sz="1500" baseline="0" b="0" i="0" dirty="0" spc="0">
                <a:solidFill>
                  <a:srgbClr val="000000"/>
                </a:solidFill>
                <a:latin typeface="Arial" pitchFamily="0" charset="1"/>
              </a:rPr>
              <a:t>Rimborso Spese Mediche </a:t>
            </a:r>
          </a:p>
        </p:txBody>
      </p:sp>
      <p:sp>
        <p:nvSpPr>
          <p:cNvPr id="108" name="Rectangle 108"/>
          <p:cNvSpPr/>
          <p:nvPr/>
        </p:nvSpPr>
        <p:spPr>
          <a:xfrm rot="0" flipH="0" flipV="0">
            <a:off x="733044" y="2204134"/>
            <a:ext cx="2715680" cy="19881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1403" baseline="0" b="0" i="0" dirty="0" spc="0">
                <a:solidFill>
                  <a:srgbClr val="000000"/>
                </a:solidFill>
                <a:latin typeface="Arial" pitchFamily="0" charset="1"/>
              </a:rPr>
              <a:t>(Mod. M85/854.std - ed. 05/2022) </a:t>
            </a:r>
          </a:p>
        </p:txBody>
      </p:sp>
      <p:sp>
        <p:nvSpPr>
          <p:cNvPr id="109" name="Rectangle 109"/>
          <p:cNvSpPr/>
          <p:nvPr/>
        </p:nvSpPr>
        <p:spPr>
          <a:xfrm rot="0" flipH="0" flipV="0">
            <a:off x="216408" y="2495217"/>
            <a:ext cx="49569" cy="19881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1403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110" name="Rectangle 110"/>
          <p:cNvSpPr/>
          <p:nvPr/>
        </p:nvSpPr>
        <p:spPr>
          <a:xfrm rot="0" flipH="0" flipV="0">
            <a:off x="733044" y="2702116"/>
            <a:ext cx="3874516" cy="48607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1500" baseline="0" b="0" i="0" dirty="0" spc="0">
                <a:solidFill>
                  <a:srgbClr val="000000"/>
                </a:solidFill>
                <a:latin typeface="Arial" pitchFamily="0" charset="1"/>
              </a:rPr>
              <a:t>CONTRAENTE METASALUTE </a:t>
            </a:r>
            <a:r>
              <a:rPr lang="it-IT" sz="1500" baseline="0" b="0" i="0" dirty="0" spc="0">
                <a:solidFill>
                  <a:srgbClr val="000000"/>
                </a:solidFill>
                <a:latin typeface="Arial" pitchFamily="0" charset="1"/>
              </a:rPr>
              <a:t>–</a:t>
            </a:r>
            <a:r>
              <a:rPr lang="it-IT" sz="1500" baseline="0" b="0" i="0" dirty="0" spc="0">
                <a:solidFill>
                  <a:srgbClr val="000000"/>
                </a:solidFill>
                <a:latin typeface="Arial" pitchFamily="0" charset="1"/>
              </a:rPr>
              <a:t> 440927615 </a:t>
            </a:r>
          </a:p>
          <a:p>
            <a:pPr marL="0">
              <a:lnSpc>
                <a:spcPts val="2154"/>
              </a:lnSpc>
            </a:pPr>
            <a:r>
              <a:rPr lang="it-IT" sz="1403" baseline="0" b="0" i="0" dirty="0" spc="0">
                <a:solidFill>
                  <a:srgbClr val="000000"/>
                </a:solidFill>
                <a:latin typeface="Arial" pitchFamily="0" charset="1"/>
              </a:rPr>
              <a:t>Opzione Plus </a:t>
            </a:r>
          </a:p>
        </p:txBody>
      </p:sp>
      <p:sp>
        <p:nvSpPr>
          <p:cNvPr id="111" name="Rectangle 111"/>
          <p:cNvSpPr/>
          <p:nvPr/>
        </p:nvSpPr>
        <p:spPr>
          <a:xfrm rot="0" flipH="0" flipV="0">
            <a:off x="216408" y="3193240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112" name="Rectangle 112"/>
          <p:cNvSpPr/>
          <p:nvPr/>
        </p:nvSpPr>
        <p:spPr>
          <a:xfrm rot="0" flipH="0" flipV="0">
            <a:off x="216408" y="3339544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113" name="Rectangle 113"/>
          <p:cNvSpPr/>
          <p:nvPr/>
        </p:nvSpPr>
        <p:spPr>
          <a:xfrm rot="0" flipH="0" flipV="0">
            <a:off x="216408" y="3484324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114" name="Rectangle 114"/>
          <p:cNvSpPr/>
          <p:nvPr/>
        </p:nvSpPr>
        <p:spPr>
          <a:xfrm rot="0" flipH="0" flipV="0">
            <a:off x="216408" y="3630628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115" name="Rectangle 115"/>
          <p:cNvSpPr/>
          <p:nvPr/>
        </p:nvSpPr>
        <p:spPr>
          <a:xfrm rot="0" flipH="0" flipV="0">
            <a:off x="216408" y="3776932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116" name="Rectangle 116"/>
          <p:cNvSpPr/>
          <p:nvPr/>
        </p:nvSpPr>
        <p:spPr>
          <a:xfrm rot="0" flipH="0" flipV="0">
            <a:off x="216408" y="3923236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117" name="Rectangle 117"/>
          <p:cNvSpPr/>
          <p:nvPr/>
        </p:nvSpPr>
        <p:spPr>
          <a:xfrm rot="0" flipH="0" flipV="0">
            <a:off x="216408" y="4069540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118" name="Rectangle 118"/>
          <p:cNvSpPr/>
          <p:nvPr/>
        </p:nvSpPr>
        <p:spPr>
          <a:xfrm rot="0" flipH="0" flipV="0">
            <a:off x="216408" y="4215844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119" name="Rectangle 119"/>
          <p:cNvSpPr/>
          <p:nvPr/>
        </p:nvSpPr>
        <p:spPr>
          <a:xfrm rot="0" flipH="0" flipV="0">
            <a:off x="216408" y="4360624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120" name="Rectangle 120"/>
          <p:cNvSpPr/>
          <p:nvPr/>
        </p:nvSpPr>
        <p:spPr>
          <a:xfrm rot="0" flipH="0" flipV="0">
            <a:off x="216408" y="4506928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121" name="Rectangle 121"/>
          <p:cNvSpPr/>
          <p:nvPr/>
        </p:nvSpPr>
        <p:spPr>
          <a:xfrm rot="0" flipH="0" flipV="0">
            <a:off x="216408" y="4653232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122" name="Rectangle 122"/>
          <p:cNvSpPr/>
          <p:nvPr/>
        </p:nvSpPr>
        <p:spPr>
          <a:xfrm rot="0" flipH="0" flipV="0">
            <a:off x="216408" y="4799790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123" name="Rectangle 123"/>
          <p:cNvSpPr/>
          <p:nvPr/>
        </p:nvSpPr>
        <p:spPr>
          <a:xfrm rot="0" flipH="0" flipV="0">
            <a:off x="216408" y="4946094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124" name="Rectangle 124"/>
          <p:cNvSpPr/>
          <p:nvPr/>
        </p:nvSpPr>
        <p:spPr>
          <a:xfrm rot="0" flipH="0" flipV="0">
            <a:off x="216408" y="5092398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125" name="Rectangle 125"/>
          <p:cNvSpPr/>
          <p:nvPr/>
        </p:nvSpPr>
        <p:spPr>
          <a:xfrm rot="0" flipH="0" flipV="0">
            <a:off x="216408" y="5237178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126" name="Rectangle 126"/>
          <p:cNvSpPr/>
          <p:nvPr/>
        </p:nvSpPr>
        <p:spPr>
          <a:xfrm rot="0" flipH="0" flipV="0">
            <a:off x="216408" y="5383482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127" name="Rectangle 127"/>
          <p:cNvSpPr/>
          <p:nvPr/>
        </p:nvSpPr>
        <p:spPr>
          <a:xfrm rot="0" flipH="0" flipV="0">
            <a:off x="216408" y="5529786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128" name="Rectangle 128"/>
          <p:cNvSpPr/>
          <p:nvPr/>
        </p:nvSpPr>
        <p:spPr>
          <a:xfrm rot="0" flipH="0" flipV="0">
            <a:off x="216408" y="5676090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129" name="Rectangle 129"/>
          <p:cNvSpPr/>
          <p:nvPr/>
        </p:nvSpPr>
        <p:spPr>
          <a:xfrm rot="0" flipH="0" flipV="0">
            <a:off x="216408" y="5822394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130" name="Rectangle 130"/>
          <p:cNvSpPr/>
          <p:nvPr/>
        </p:nvSpPr>
        <p:spPr>
          <a:xfrm rot="0" flipH="0" flipV="0">
            <a:off x="216408" y="5968698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131" name="Rectangle 131"/>
          <p:cNvSpPr/>
          <p:nvPr/>
        </p:nvSpPr>
        <p:spPr>
          <a:xfrm rot="0" flipH="0" flipV="0">
            <a:off x="216408" y="6113478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132" name="Rectangle 132"/>
          <p:cNvSpPr/>
          <p:nvPr/>
        </p:nvSpPr>
        <p:spPr>
          <a:xfrm rot="0" flipH="0" flipV="0">
            <a:off x="216408" y="6259782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133" name="Rectangle 133"/>
          <p:cNvSpPr/>
          <p:nvPr/>
        </p:nvSpPr>
        <p:spPr>
          <a:xfrm rot="0" flipH="0" flipV="0">
            <a:off x="216408" y="6406086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134" name="Rectangle 134"/>
          <p:cNvSpPr/>
          <p:nvPr/>
        </p:nvSpPr>
        <p:spPr>
          <a:xfrm rot="0" flipH="0" flipV="0">
            <a:off x="216408" y="6552390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135" name="Rectangle 135"/>
          <p:cNvSpPr/>
          <p:nvPr/>
        </p:nvSpPr>
        <p:spPr>
          <a:xfrm rot="0" flipH="0" flipV="0">
            <a:off x="216408" y="6699075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136" name="Rectangle 136"/>
          <p:cNvSpPr/>
          <p:nvPr/>
        </p:nvSpPr>
        <p:spPr>
          <a:xfrm rot="0" flipH="0" flipV="0">
            <a:off x="216408" y="6843855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137" name="Rectangle 137"/>
          <p:cNvSpPr/>
          <p:nvPr/>
        </p:nvSpPr>
        <p:spPr>
          <a:xfrm rot="0" flipH="0" flipV="0">
            <a:off x="216408" y="6990159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138" name="Rectangle 138"/>
          <p:cNvSpPr/>
          <p:nvPr/>
        </p:nvSpPr>
        <p:spPr>
          <a:xfrm rot="0" flipH="0" flipV="0">
            <a:off x="216408" y="7136463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139" name="Rectangle 139"/>
          <p:cNvSpPr/>
          <p:nvPr/>
        </p:nvSpPr>
        <p:spPr>
          <a:xfrm rot="0" flipH="0" flipV="0">
            <a:off x="216408" y="7282767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140" name="Rectangle 140"/>
          <p:cNvSpPr/>
          <p:nvPr/>
        </p:nvSpPr>
        <p:spPr>
          <a:xfrm rot="0" flipH="0" flipV="0">
            <a:off x="216408" y="7429071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141" name="Rectangle 141"/>
          <p:cNvSpPr/>
          <p:nvPr/>
        </p:nvSpPr>
        <p:spPr>
          <a:xfrm rot="0" flipH="0" flipV="0">
            <a:off x="216408" y="7575375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142" name="Rectangle 142"/>
          <p:cNvSpPr/>
          <p:nvPr/>
        </p:nvSpPr>
        <p:spPr>
          <a:xfrm rot="0" flipH="0" flipV="0">
            <a:off x="216408" y="7720155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143" name="Rectangle 143"/>
          <p:cNvSpPr/>
          <p:nvPr/>
        </p:nvSpPr>
        <p:spPr>
          <a:xfrm rot="0" flipH="0" flipV="0">
            <a:off x="216408" y="7866459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144" name="Rectangle 144"/>
          <p:cNvSpPr/>
          <p:nvPr/>
        </p:nvSpPr>
        <p:spPr>
          <a:xfrm rot="0" flipH="0" flipV="0">
            <a:off x="216408" y="8012763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145" name="Rectangle 145"/>
          <p:cNvSpPr/>
          <p:nvPr/>
        </p:nvSpPr>
        <p:spPr>
          <a:xfrm rot="0" flipH="0" flipV="0">
            <a:off x="216408" y="8159067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146" name="Rectangle 146"/>
          <p:cNvSpPr/>
          <p:nvPr/>
        </p:nvSpPr>
        <p:spPr>
          <a:xfrm rot="0" flipH="0" flipV="0">
            <a:off x="216408" y="8305371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147" name="Rectangle 147"/>
          <p:cNvSpPr/>
          <p:nvPr/>
        </p:nvSpPr>
        <p:spPr>
          <a:xfrm rot="0" flipH="0" flipV="0">
            <a:off x="216408" y="8451675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148" name="Rectangle 148"/>
          <p:cNvSpPr/>
          <p:nvPr/>
        </p:nvSpPr>
        <p:spPr>
          <a:xfrm rot="0" flipH="0" flipV="0">
            <a:off x="216408" y="8596709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149" name="Rectangle 149"/>
          <p:cNvSpPr/>
          <p:nvPr/>
        </p:nvSpPr>
        <p:spPr>
          <a:xfrm rot="0" flipH="0" flipV="0">
            <a:off x="216408" y="8743013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150" name="Rectangle 150"/>
          <p:cNvSpPr/>
          <p:nvPr/>
        </p:nvSpPr>
        <p:spPr>
          <a:xfrm rot="0" flipH="0" flipV="0">
            <a:off x="216408" y="8889317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151" name="Rectangle 151"/>
          <p:cNvSpPr/>
          <p:nvPr/>
        </p:nvSpPr>
        <p:spPr>
          <a:xfrm rot="0" flipH="0" flipV="0">
            <a:off x="216408" y="9035621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152" name="Rectangle 152"/>
          <p:cNvSpPr/>
          <p:nvPr/>
        </p:nvSpPr>
        <p:spPr>
          <a:xfrm rot="0" flipH="0" flipV="0">
            <a:off x="216408" y="9181925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153" name="Rectangle 153"/>
          <p:cNvSpPr/>
          <p:nvPr/>
        </p:nvSpPr>
        <p:spPr>
          <a:xfrm rot="0" flipH="0" flipV="0">
            <a:off x="216408" y="9453197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154" name="Rectangle 154"/>
          <p:cNvSpPr/>
          <p:nvPr/>
        </p:nvSpPr>
        <p:spPr>
          <a:xfrm rot="0" flipH="0" flipV="0">
            <a:off x="216408" y="1235251"/>
            <a:ext cx="28386" cy="11384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803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155" name="Rectangle 155"/>
          <p:cNvSpPr/>
          <p:nvPr/>
        </p:nvSpPr>
        <p:spPr>
          <a:xfrm rot="0" flipH="0" flipV="0">
            <a:off x="216408" y="1352599"/>
            <a:ext cx="28386" cy="11384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803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156" name="Rectangle 156"/>
          <p:cNvSpPr/>
          <p:nvPr/>
        </p:nvSpPr>
        <p:spPr>
          <a:xfrm rot="0" flipH="0" flipV="0">
            <a:off x="216408" y="1468423"/>
            <a:ext cx="28386" cy="11384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803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157" name="Rectangle 157"/>
          <p:cNvSpPr/>
          <p:nvPr/>
        </p:nvSpPr>
        <p:spPr>
          <a:xfrm rot="0" flipH="0" flipV="0">
            <a:off x="216408" y="1585771"/>
            <a:ext cx="28386" cy="11384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803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158" name="Rectangle 158"/>
          <p:cNvSpPr/>
          <p:nvPr/>
        </p:nvSpPr>
        <p:spPr>
          <a:xfrm rot="0" flipH="0" flipV="0">
            <a:off x="216408" y="1703119"/>
            <a:ext cx="28386" cy="11384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803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159" name="Rectangle 159"/>
          <p:cNvSpPr/>
          <p:nvPr/>
        </p:nvSpPr>
        <p:spPr>
          <a:xfrm rot="0" flipH="0" flipV="0">
            <a:off x="216408" y="1818943"/>
            <a:ext cx="28386" cy="11384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803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160" name="Rectangle 160"/>
          <p:cNvSpPr/>
          <p:nvPr/>
        </p:nvSpPr>
        <p:spPr>
          <a:xfrm rot="0" flipH="0" flipV="0">
            <a:off x="216408" y="1936290"/>
            <a:ext cx="28386" cy="11384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803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161" name="Rectangle 161"/>
          <p:cNvSpPr/>
          <p:nvPr/>
        </p:nvSpPr>
        <p:spPr>
          <a:xfrm rot="0" flipH="0" flipV="0">
            <a:off x="216408" y="2053639"/>
            <a:ext cx="28386" cy="11384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803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162" name="Rectangle 162"/>
          <p:cNvSpPr/>
          <p:nvPr/>
        </p:nvSpPr>
        <p:spPr>
          <a:xfrm rot="0" flipH="0" flipV="0">
            <a:off x="216408" y="2169463"/>
            <a:ext cx="28386" cy="11384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803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163" name="Rectangle 163"/>
          <p:cNvSpPr/>
          <p:nvPr/>
        </p:nvSpPr>
        <p:spPr>
          <a:xfrm rot="0" flipH="0" flipV="0">
            <a:off x="216408" y="2286811"/>
            <a:ext cx="28386" cy="11384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803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164" name="Rectangle 164"/>
          <p:cNvSpPr/>
          <p:nvPr/>
        </p:nvSpPr>
        <p:spPr>
          <a:xfrm rot="0" flipH="0" flipV="0">
            <a:off x="216408" y="2404159"/>
            <a:ext cx="28386" cy="11384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803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165" name="Rectangle 165"/>
          <p:cNvSpPr/>
          <p:nvPr/>
        </p:nvSpPr>
        <p:spPr>
          <a:xfrm rot="0" flipH="0" flipV="0">
            <a:off x="216408" y="2519983"/>
            <a:ext cx="28386" cy="11384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803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166" name="Rectangle 166"/>
          <p:cNvSpPr/>
          <p:nvPr/>
        </p:nvSpPr>
        <p:spPr>
          <a:xfrm rot="0" flipH="0" flipV="0">
            <a:off x="216408" y="2637331"/>
            <a:ext cx="28386" cy="11384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803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167" name="Rectangle 167"/>
          <p:cNvSpPr/>
          <p:nvPr/>
        </p:nvSpPr>
        <p:spPr>
          <a:xfrm rot="0" flipH="0" flipV="0">
            <a:off x="216408" y="2754678"/>
            <a:ext cx="28386" cy="11384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803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168" name="Rectangle 168"/>
          <p:cNvSpPr/>
          <p:nvPr/>
        </p:nvSpPr>
        <p:spPr>
          <a:xfrm rot="0" flipH="0" flipV="0">
            <a:off x="216408" y="2870884"/>
            <a:ext cx="28386" cy="11384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803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169" name="Rectangle 169"/>
          <p:cNvSpPr/>
          <p:nvPr/>
        </p:nvSpPr>
        <p:spPr>
          <a:xfrm rot="0" flipH="0" flipV="0">
            <a:off x="216408" y="2988232"/>
            <a:ext cx="28386" cy="11384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803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170" name="Rectangle 170"/>
          <p:cNvSpPr/>
          <p:nvPr/>
        </p:nvSpPr>
        <p:spPr>
          <a:xfrm rot="0" flipH="0" flipV="0">
            <a:off x="216408" y="3105579"/>
            <a:ext cx="28386" cy="11384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803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171" name="Rectangle 171"/>
          <p:cNvSpPr/>
          <p:nvPr/>
        </p:nvSpPr>
        <p:spPr>
          <a:xfrm rot="0" flipH="0" flipV="0">
            <a:off x="216408" y="3221403"/>
            <a:ext cx="28386" cy="11384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803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172" name="Rectangle 172"/>
          <p:cNvSpPr/>
          <p:nvPr/>
        </p:nvSpPr>
        <p:spPr>
          <a:xfrm rot="0" flipH="0" flipV="0">
            <a:off x="216408" y="3338752"/>
            <a:ext cx="28386" cy="11384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803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173" name="Rectangle 173"/>
          <p:cNvSpPr/>
          <p:nvPr/>
        </p:nvSpPr>
        <p:spPr>
          <a:xfrm rot="0" flipH="0" flipV="0">
            <a:off x="216408" y="3456100"/>
            <a:ext cx="28386" cy="11384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803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174" name="Rectangle 174"/>
          <p:cNvSpPr/>
          <p:nvPr/>
        </p:nvSpPr>
        <p:spPr>
          <a:xfrm rot="0" flipH="0" flipV="0">
            <a:off x="216408" y="3571924"/>
            <a:ext cx="28386" cy="11384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803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175" name="Rectangle 175"/>
          <p:cNvSpPr/>
          <p:nvPr/>
        </p:nvSpPr>
        <p:spPr>
          <a:xfrm rot="0" flipH="0" flipV="0">
            <a:off x="216408" y="3689272"/>
            <a:ext cx="28386" cy="11384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803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176" name="Rectangle 176"/>
          <p:cNvSpPr/>
          <p:nvPr/>
        </p:nvSpPr>
        <p:spPr>
          <a:xfrm rot="0" flipH="0" flipV="0">
            <a:off x="216408" y="3806620"/>
            <a:ext cx="28386" cy="11384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803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177" name="Rectangle 177"/>
          <p:cNvSpPr/>
          <p:nvPr/>
        </p:nvSpPr>
        <p:spPr>
          <a:xfrm rot="0" flipH="0" flipV="0">
            <a:off x="216408" y="3922444"/>
            <a:ext cx="28386" cy="11384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803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178" name="Rectangle 178"/>
          <p:cNvSpPr/>
          <p:nvPr/>
        </p:nvSpPr>
        <p:spPr>
          <a:xfrm rot="0" flipH="0" flipV="0">
            <a:off x="216408" y="4039791"/>
            <a:ext cx="28386" cy="11384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803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179" name="Rectangle 179"/>
          <p:cNvSpPr/>
          <p:nvPr/>
        </p:nvSpPr>
        <p:spPr>
          <a:xfrm rot="0" flipH="0" flipV="0">
            <a:off x="216408" y="4155616"/>
            <a:ext cx="28386" cy="11384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803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180" name="Rectangle 180"/>
          <p:cNvSpPr/>
          <p:nvPr/>
        </p:nvSpPr>
        <p:spPr>
          <a:xfrm rot="0" flipH="0" flipV="0">
            <a:off x="216408" y="4272964"/>
            <a:ext cx="28386" cy="11384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803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181" name="Rectangle 181"/>
          <p:cNvSpPr/>
          <p:nvPr/>
        </p:nvSpPr>
        <p:spPr>
          <a:xfrm rot="0" flipH="0" flipV="0">
            <a:off x="216408" y="4390312"/>
            <a:ext cx="28386" cy="11384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803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182" name="Rectangle 182"/>
          <p:cNvSpPr/>
          <p:nvPr/>
        </p:nvSpPr>
        <p:spPr>
          <a:xfrm rot="0" flipH="0" flipV="0">
            <a:off x="216408" y="4506136"/>
            <a:ext cx="28386" cy="11384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803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183" name="Rectangle 183"/>
          <p:cNvSpPr/>
          <p:nvPr/>
        </p:nvSpPr>
        <p:spPr>
          <a:xfrm rot="0" flipH="0" flipV="0">
            <a:off x="216408" y="4623484"/>
            <a:ext cx="28386" cy="11384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803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184" name="Rectangle 184"/>
          <p:cNvSpPr/>
          <p:nvPr/>
        </p:nvSpPr>
        <p:spPr>
          <a:xfrm rot="0" flipH="0" flipV="0">
            <a:off x="216408" y="4741086"/>
            <a:ext cx="28386" cy="11384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803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185" name="Rectangle 185"/>
          <p:cNvSpPr/>
          <p:nvPr/>
        </p:nvSpPr>
        <p:spPr>
          <a:xfrm rot="0" flipH="0" flipV="0">
            <a:off x="216408" y="4856910"/>
            <a:ext cx="28386" cy="11384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803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186" name="Rectangle 186"/>
          <p:cNvSpPr/>
          <p:nvPr/>
        </p:nvSpPr>
        <p:spPr>
          <a:xfrm rot="0" flipH="0" flipV="0">
            <a:off x="216408" y="4974258"/>
            <a:ext cx="28386" cy="11384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803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187" name="Rectangle 187"/>
          <p:cNvSpPr/>
          <p:nvPr/>
        </p:nvSpPr>
        <p:spPr>
          <a:xfrm rot="0" flipH="0" flipV="0">
            <a:off x="216408" y="5091606"/>
            <a:ext cx="28386" cy="11384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803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188" name="Rectangle 188"/>
          <p:cNvSpPr/>
          <p:nvPr/>
        </p:nvSpPr>
        <p:spPr>
          <a:xfrm rot="0" flipH="0" flipV="0">
            <a:off x="216408" y="5207430"/>
            <a:ext cx="28386" cy="11384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803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189" name="Rectangle 189"/>
          <p:cNvSpPr/>
          <p:nvPr/>
        </p:nvSpPr>
        <p:spPr>
          <a:xfrm rot="0" flipH="0" flipV="0">
            <a:off x="216408" y="5324778"/>
            <a:ext cx="28386" cy="11384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803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190" name="Rectangle 190"/>
          <p:cNvSpPr/>
          <p:nvPr/>
        </p:nvSpPr>
        <p:spPr>
          <a:xfrm rot="0" flipH="0" flipV="0">
            <a:off x="216408" y="5442126"/>
            <a:ext cx="28386" cy="11384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803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191" name="Rectangle 191"/>
          <p:cNvSpPr/>
          <p:nvPr/>
        </p:nvSpPr>
        <p:spPr>
          <a:xfrm rot="0" flipH="0" flipV="0">
            <a:off x="216408" y="5557950"/>
            <a:ext cx="28386" cy="11384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803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192" name="Rectangle 192"/>
          <p:cNvSpPr/>
          <p:nvPr/>
        </p:nvSpPr>
        <p:spPr>
          <a:xfrm rot="0" flipH="0" flipV="0">
            <a:off x="216408" y="5675298"/>
            <a:ext cx="28386" cy="11384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803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193" name="Rectangle 193"/>
          <p:cNvSpPr/>
          <p:nvPr/>
        </p:nvSpPr>
        <p:spPr>
          <a:xfrm rot="0" flipH="0" flipV="0">
            <a:off x="216408" y="5792646"/>
            <a:ext cx="28386" cy="11384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803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194" name="Rectangle 194"/>
          <p:cNvSpPr/>
          <p:nvPr/>
        </p:nvSpPr>
        <p:spPr>
          <a:xfrm rot="0" flipH="0" flipV="0">
            <a:off x="216408" y="5908470"/>
            <a:ext cx="28386" cy="11384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803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195" name="Rectangle 195"/>
          <p:cNvSpPr/>
          <p:nvPr/>
        </p:nvSpPr>
        <p:spPr>
          <a:xfrm rot="0" flipH="0" flipV="0">
            <a:off x="216408" y="6025818"/>
            <a:ext cx="28386" cy="11384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803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196" name="Rectangle 196"/>
          <p:cNvSpPr/>
          <p:nvPr/>
        </p:nvSpPr>
        <p:spPr>
          <a:xfrm rot="0" flipH="0" flipV="0">
            <a:off x="216408" y="6143166"/>
            <a:ext cx="28386" cy="11384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803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197" name="Rectangle 197"/>
          <p:cNvSpPr/>
          <p:nvPr/>
        </p:nvSpPr>
        <p:spPr>
          <a:xfrm rot="0" flipH="0" flipV="0">
            <a:off x="216408" y="6258990"/>
            <a:ext cx="28386" cy="11384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803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198" name="Rectangle 198"/>
          <p:cNvSpPr/>
          <p:nvPr/>
        </p:nvSpPr>
        <p:spPr>
          <a:xfrm rot="0" flipH="0" flipV="0">
            <a:off x="216408" y="6376338"/>
            <a:ext cx="28386" cy="11384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803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199" name="Rectangle 199"/>
          <p:cNvSpPr/>
          <p:nvPr/>
        </p:nvSpPr>
        <p:spPr>
          <a:xfrm rot="0" flipH="0" flipV="0">
            <a:off x="216408" y="6493686"/>
            <a:ext cx="28386" cy="11384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803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200" name="Rectangle 200"/>
          <p:cNvSpPr/>
          <p:nvPr/>
        </p:nvSpPr>
        <p:spPr>
          <a:xfrm rot="0" flipH="0" flipV="0">
            <a:off x="216408" y="6609510"/>
            <a:ext cx="28386" cy="11384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803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201" name="Rectangle 201"/>
          <p:cNvSpPr/>
          <p:nvPr/>
        </p:nvSpPr>
        <p:spPr>
          <a:xfrm rot="0" flipH="0" flipV="0">
            <a:off x="216408" y="6727239"/>
            <a:ext cx="28386" cy="11384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803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202" name="Rectangle 202"/>
          <p:cNvSpPr/>
          <p:nvPr/>
        </p:nvSpPr>
        <p:spPr>
          <a:xfrm rot="0" flipH="0" flipV="0">
            <a:off x="216408" y="6844587"/>
            <a:ext cx="28386" cy="11384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803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203" name="Rectangle 203"/>
          <p:cNvSpPr/>
          <p:nvPr/>
        </p:nvSpPr>
        <p:spPr>
          <a:xfrm rot="0" flipH="0" flipV="0">
            <a:off x="216408" y="6960411"/>
            <a:ext cx="28386" cy="11384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803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204" name="Rectangle 204"/>
          <p:cNvSpPr/>
          <p:nvPr/>
        </p:nvSpPr>
        <p:spPr>
          <a:xfrm rot="0" flipH="0" flipV="0">
            <a:off x="216408" y="7077759"/>
            <a:ext cx="28386" cy="11384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803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205" name="Rectangle 205"/>
          <p:cNvSpPr/>
          <p:nvPr/>
        </p:nvSpPr>
        <p:spPr>
          <a:xfrm rot="0" flipH="0" flipV="0">
            <a:off x="216408" y="7195107"/>
            <a:ext cx="28386" cy="11384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803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206" name="Rectangle 206"/>
          <p:cNvSpPr/>
          <p:nvPr/>
        </p:nvSpPr>
        <p:spPr>
          <a:xfrm rot="0" flipH="0" flipV="0">
            <a:off x="216408" y="7310931"/>
            <a:ext cx="28386" cy="11384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803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207" name="Rectangle 207"/>
          <p:cNvSpPr/>
          <p:nvPr/>
        </p:nvSpPr>
        <p:spPr>
          <a:xfrm rot="0" flipH="0" flipV="0">
            <a:off x="216408" y="7428279"/>
            <a:ext cx="28386" cy="11384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803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208" name="Rectangle 208"/>
          <p:cNvSpPr/>
          <p:nvPr/>
        </p:nvSpPr>
        <p:spPr>
          <a:xfrm rot="0" flipH="0" flipV="0">
            <a:off x="216408" y="7545627"/>
            <a:ext cx="28386" cy="11384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803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209" name="Rectangle 209"/>
          <p:cNvSpPr/>
          <p:nvPr/>
        </p:nvSpPr>
        <p:spPr>
          <a:xfrm rot="0" flipH="0" flipV="0">
            <a:off x="216408" y="7661451"/>
            <a:ext cx="28386" cy="11384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803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210" name="Rectangle 210"/>
          <p:cNvSpPr/>
          <p:nvPr/>
        </p:nvSpPr>
        <p:spPr>
          <a:xfrm rot="0" flipH="0" flipV="0">
            <a:off x="216408" y="7778799"/>
            <a:ext cx="28386" cy="11384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803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211" name="Rectangle 211"/>
          <p:cNvSpPr/>
          <p:nvPr/>
        </p:nvSpPr>
        <p:spPr>
          <a:xfrm rot="0" flipH="0" flipV="0">
            <a:off x="216408" y="7896147"/>
            <a:ext cx="28386" cy="11384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803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212" name="Rectangle 212"/>
          <p:cNvSpPr/>
          <p:nvPr/>
        </p:nvSpPr>
        <p:spPr>
          <a:xfrm rot="0" flipH="0" flipV="0">
            <a:off x="216408" y="8011971"/>
            <a:ext cx="28386" cy="11384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803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213" name="Rectangle 213"/>
          <p:cNvSpPr/>
          <p:nvPr/>
        </p:nvSpPr>
        <p:spPr>
          <a:xfrm rot="0" flipH="0" flipV="0">
            <a:off x="216408" y="8129319"/>
            <a:ext cx="28386" cy="11384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803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214" name="Rectangle 214"/>
          <p:cNvSpPr/>
          <p:nvPr/>
        </p:nvSpPr>
        <p:spPr>
          <a:xfrm rot="0" flipH="0" flipV="0">
            <a:off x="216408" y="8246667"/>
            <a:ext cx="28386" cy="11384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803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215" name="Rectangle 215"/>
          <p:cNvSpPr/>
          <p:nvPr/>
        </p:nvSpPr>
        <p:spPr>
          <a:xfrm rot="0" flipH="0" flipV="0">
            <a:off x="216408" y="8362491"/>
            <a:ext cx="28386" cy="11384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803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216" name="Rectangle 216"/>
          <p:cNvSpPr/>
          <p:nvPr/>
        </p:nvSpPr>
        <p:spPr>
          <a:xfrm rot="0" flipH="0" flipV="0">
            <a:off x="216408" y="8479839"/>
            <a:ext cx="28386" cy="11384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803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217" name="Rectangle 217"/>
          <p:cNvSpPr/>
          <p:nvPr/>
        </p:nvSpPr>
        <p:spPr>
          <a:xfrm rot="0" flipH="0" flipV="0">
            <a:off x="216408" y="8605061"/>
            <a:ext cx="28386" cy="11384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803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218" name="Rectangle 218"/>
          <p:cNvSpPr/>
          <p:nvPr/>
        </p:nvSpPr>
        <p:spPr>
          <a:xfrm rot="0" flipH="0" flipV="0">
            <a:off x="900988" y="8722409"/>
            <a:ext cx="1790460" cy="11384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803" baseline="0" b="0" i="0" dirty="0" spc="0">
                <a:solidFill>
                  <a:srgbClr val="000000"/>
                </a:solidFill>
                <a:latin typeface="Arial" pitchFamily="0" charset="1"/>
              </a:rPr>
              <a:t>Data ultimo aggiornamento: 25/05/2022 </a:t>
            </a:r>
          </a:p>
        </p:txBody>
      </p:sp>
      <p:sp>
        <p:nvSpPr>
          <p:cNvPr id="219" name="Rectangle 219"/>
          <p:cNvSpPr/>
          <p:nvPr/>
        </p:nvSpPr>
        <p:spPr>
          <a:xfrm rot="0" flipH="0" flipV="0">
            <a:off x="216408" y="8838233"/>
            <a:ext cx="28386" cy="11384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803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220" name="Rectangle 220"/>
          <p:cNvSpPr/>
          <p:nvPr/>
        </p:nvSpPr>
        <p:spPr>
          <a:xfrm rot="0" flipH="0" flipV="0">
            <a:off x="216408" y="8955581"/>
            <a:ext cx="28386" cy="11384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803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221" name="Rectangle 221"/>
          <p:cNvSpPr/>
          <p:nvPr/>
        </p:nvSpPr>
        <p:spPr>
          <a:xfrm rot="0" flipH="0" flipV="0">
            <a:off x="216408" y="9072929"/>
            <a:ext cx="28386" cy="11384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803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222" name="Rectangle 222"/>
          <p:cNvSpPr/>
          <p:nvPr/>
        </p:nvSpPr>
        <p:spPr>
          <a:xfrm rot="0" flipH="0" flipV="0">
            <a:off x="216408" y="9188753"/>
            <a:ext cx="28386" cy="11384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803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223" name="Rectangle 223"/>
          <p:cNvSpPr/>
          <p:nvPr/>
        </p:nvSpPr>
        <p:spPr>
          <a:xfrm rot="0" flipH="0" flipV="0">
            <a:off x="216408" y="9306101"/>
            <a:ext cx="28386" cy="11384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803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224" name="Rectangle 224"/>
          <p:cNvSpPr/>
          <p:nvPr/>
        </p:nvSpPr>
        <p:spPr>
          <a:xfrm rot="0" flipH="0" flipV="0">
            <a:off x="216408" y="9423449"/>
            <a:ext cx="28386" cy="11384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803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225" name="Rectangle 225"/>
          <p:cNvSpPr/>
          <p:nvPr/>
        </p:nvSpPr>
        <p:spPr>
          <a:xfrm rot="0" flipH="0" flipV="0">
            <a:off x="216408" y="9635285"/>
            <a:ext cx="28386" cy="11384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803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226" name="Rectangle 226"/>
          <p:cNvSpPr/>
          <p:nvPr/>
        </p:nvSpPr>
        <p:spPr>
          <a:xfrm rot="0" flipH="0" flipV="0">
            <a:off x="359663" y="9751109"/>
            <a:ext cx="6503607" cy="11384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>
              <a:tabLst>
                <a:tab pos="2794127" algn="l"/>
                <a:tab pos="5496432" algn="l"/>
              </a:tabLst>
            </a:pPr>
            <a:r>
              <a:rPr lang="it-IT" sz="803" baseline="0" b="0" i="0" dirty="0" spc="0">
                <a:solidFill>
                  <a:srgbClr val="000000"/>
                </a:solidFill>
                <a:latin typeface="Arial" pitchFamily="0" charset="1"/>
              </a:rPr>
              <a:t>Pagina 2 di 2 </a:t>
            </a:r>
            <a:r>
              <a:rPr lang="it-IT" sz="803" baseline="0" b="0" i="0" dirty="0" spc="0">
                <a:solidFill>
                  <a:srgbClr val="000000"/>
                </a:solidFill>
                <a:latin typeface="Arial" pitchFamily="0" charset="1"/>
              </a:rPr>
              <a:t>–</a:t>
            </a:r>
            <a:r>
              <a:rPr lang="it-IT" sz="803" baseline="0" b="0" i="0" dirty="0" spc="0">
                <a:solidFill>
                  <a:srgbClr val="000000"/>
                </a:solidFill>
                <a:latin typeface="Arial" pitchFamily="0" charset="1"/>
              </a:rPr>
              <a:t> Copertina 	Edizione 05.2022 	</a:t>
            </a:r>
            <a:r>
              <a:rPr lang="it-IT" sz="803" baseline="0" b="1" i="0" dirty="0" spc="0">
                <a:solidFill>
                  <a:srgbClr val="000000"/>
                </a:solidFill>
                <a:latin typeface="Arial" pitchFamily="0" charset="1"/>
              </a:rPr>
              <a:t>GENERASalute RSM </a:t>
            </a:r>
          </a:p>
        </p:txBody>
      </p:sp>
      <p:sp>
        <p:nvSpPr>
          <p:cNvPr id="227" name="Rectangle 227"/>
          <p:cNvSpPr/>
          <p:nvPr/>
        </p:nvSpPr>
        <p:spPr>
          <a:xfrm rot="-5400000" flipH="0" flipV="0">
            <a:off x="6741218" y="1172025"/>
            <a:ext cx="998149" cy="78165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551" baseline="0" b="0" i="0" dirty="0" spc="0">
                <a:solidFill>
                  <a:srgbClr val="000000"/>
                </a:solidFill>
                <a:latin typeface="Arial" pitchFamily="0" charset="1"/>
              </a:rPr>
              <a:t>Mod. M85/854.std - Ed. 05/2022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28" name="Rectangle 228"/>
          <p:cNvSpPr/>
          <p:nvPr/>
        </p:nvSpPr>
        <p:spPr>
          <a:xfrm rot="0" flipH="0" flipV="0">
            <a:off x="449580" y="542148"/>
            <a:ext cx="1336155" cy="15633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1103" baseline="0" b="1" i="1" dirty="0" spc="0">
                <a:solidFill>
                  <a:srgbClr val="000000"/>
                </a:solidFill>
                <a:latin typeface="Arial" pitchFamily="0" charset="1"/>
              </a:rPr>
              <a:t>ART. 1 DEFINIZIONI </a:t>
            </a:r>
          </a:p>
        </p:txBody>
      </p:sp>
      <p:sp>
        <p:nvSpPr>
          <p:cNvPr id="229" name="Rectangle 229"/>
          <p:cNvSpPr/>
          <p:nvPr/>
        </p:nvSpPr>
        <p:spPr>
          <a:xfrm rot="0" flipH="0" flipV="0">
            <a:off x="216408" y="737441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1" i="1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230" name="Rectangle 230"/>
          <p:cNvSpPr/>
          <p:nvPr/>
        </p:nvSpPr>
        <p:spPr>
          <a:xfrm rot="0" flipH="0" flipV="0">
            <a:off x="432816" y="883999"/>
            <a:ext cx="754797" cy="32391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Annualità </a:t>
            </a:r>
          </a:p>
          <a:p>
            <a:pPr marL="0">
              <a:lnSpc>
                <a:spcPts val="1440"/>
              </a:lnSpc>
            </a:pP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assicurativa </a:t>
            </a:r>
          </a:p>
        </p:txBody>
      </p:sp>
      <p:sp>
        <p:nvSpPr>
          <p:cNvPr id="231" name="Rectangle 231"/>
          <p:cNvSpPr/>
          <p:nvPr/>
        </p:nvSpPr>
        <p:spPr>
          <a:xfrm rot="0" flipH="0" flipV="0">
            <a:off x="432816" y="882475"/>
            <a:ext cx="6640091" cy="112554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1428241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Il periodo che intercorre tra la data di decorrenza e la prima data di scadenza del contratto. </a:t>
            </a:r>
          </a:p>
          <a:p>
            <a:pPr marL="1428241">
              <a:lnSpc>
                <a:spcPts val="115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Per le annualità assicurative successive è il periodo che intercorre tra la data di rinnovo e la </a:t>
            </a:r>
          </a:p>
          <a:p>
            <a:pPr marL="1428241">
              <a:lnSpc>
                <a:spcPts val="115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successiva data di scadenza. </a:t>
            </a:r>
          </a:p>
          <a:p>
            <a:pPr marL="0">
              <a:lnSpc>
                <a:spcPts val="1403"/>
              </a:lnSpc>
              <a:tabLst>
                <a:tab pos="1428241" algn="l"/>
              </a:tabLst>
            </a:pP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Assicurato 	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La persona in favore della quale è prestata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l’assicurazione.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  <a:p>
            <a:pPr marL="0">
              <a:lnSpc>
                <a:spcPts val="1452"/>
              </a:lnSpc>
              <a:tabLst>
                <a:tab pos="1428241" algn="l"/>
              </a:tabLst>
            </a:pP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Assicurazione 	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Il contratto GeneraSalute RSM (Mod. M85/854). </a:t>
            </a:r>
          </a:p>
          <a:p>
            <a:pPr marL="0">
              <a:lnSpc>
                <a:spcPts val="1439"/>
              </a:lnSpc>
            </a:pP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Assistenza infermie- </a:t>
            </a:r>
          </a:p>
          <a:p>
            <a:pPr marL="0">
              <a:lnSpc>
                <a:spcPts val="1152"/>
              </a:lnSpc>
            </a:pP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ristica </a:t>
            </a:r>
          </a:p>
        </p:txBody>
      </p:sp>
      <p:sp>
        <p:nvSpPr>
          <p:cNvPr id="232" name="Rectangle 232"/>
          <p:cNvSpPr/>
          <p:nvPr/>
        </p:nvSpPr>
        <p:spPr>
          <a:xfrm rot="0" flipH="0" flipV="0">
            <a:off x="1861057" y="1720675"/>
            <a:ext cx="5076049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L’assistenza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infermieristica professionale prestata da personale fornito di specifico diploma </a:t>
            </a:r>
          </a:p>
        </p:txBody>
      </p:sp>
      <p:sp>
        <p:nvSpPr>
          <p:cNvPr id="233" name="Rectangle 233"/>
          <p:cNvSpPr/>
          <p:nvPr/>
        </p:nvSpPr>
        <p:spPr>
          <a:xfrm rot="0" flipH="0" flipV="0">
            <a:off x="432816" y="2049860"/>
            <a:ext cx="1153894" cy="28734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Centrale Operativa </a:t>
            </a:r>
          </a:p>
          <a:p>
            <a:pPr marL="0">
              <a:lnSpc>
                <a:spcPts val="1151"/>
              </a:lnSpc>
            </a:pP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Medica </a:t>
            </a:r>
          </a:p>
        </p:txBody>
      </p:sp>
      <p:sp>
        <p:nvSpPr>
          <p:cNvPr id="234" name="Rectangle 234"/>
          <p:cNvSpPr/>
          <p:nvPr/>
        </p:nvSpPr>
        <p:spPr>
          <a:xfrm rot="0" flipH="0" flipV="0">
            <a:off x="1861057" y="2049860"/>
            <a:ext cx="5217781" cy="57995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La</a:t>
            </a:r>
            <a:r>
              <a:rPr lang="it-IT" sz="996" baseline="0" b="0" i="0" dirty="0" spc="106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struttura</a:t>
            </a:r>
            <a:r>
              <a:rPr lang="it-IT" sz="996" baseline="0" b="0" i="0" dirty="0" spc="106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costituita</a:t>
            </a:r>
            <a:r>
              <a:rPr lang="it-IT" sz="996" baseline="0" b="0" i="0" dirty="0" spc="106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da</a:t>
            </a:r>
            <a:r>
              <a:rPr lang="it-IT" sz="996" baseline="0" b="0" i="0" dirty="0" spc="106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medici,</a:t>
            </a:r>
            <a:r>
              <a:rPr lang="it-IT" sz="996" baseline="0" b="0" i="0" dirty="0" spc="105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tecnici</a:t>
            </a:r>
            <a:r>
              <a:rPr lang="it-IT" sz="996" baseline="0" b="0" i="0" dirty="0" spc="106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ed</a:t>
            </a:r>
            <a:r>
              <a:rPr lang="it-IT" sz="996" baseline="0" b="0" i="0" dirty="0" spc="106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operatori</a:t>
            </a:r>
            <a:r>
              <a:rPr lang="it-IT" sz="996" baseline="0" b="0" i="0" dirty="0" spc="115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che,</a:t>
            </a:r>
            <a:r>
              <a:rPr lang="it-IT" sz="996" baseline="0" b="0" i="0" dirty="0" spc="105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in</a:t>
            </a:r>
            <a:r>
              <a:rPr lang="it-IT" sz="996" baseline="0" b="0" i="0" dirty="0" spc="104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virtù</a:t>
            </a:r>
            <a:r>
              <a:rPr lang="it-IT" sz="996" baseline="0" b="0" i="0" dirty="0" spc="116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di</a:t>
            </a:r>
            <a:r>
              <a:rPr lang="it-IT" sz="996" baseline="0" b="0" i="0" dirty="0" spc="106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specifica</a:t>
            </a:r>
            <a:r>
              <a:rPr lang="it-IT" sz="996" baseline="0" b="0" i="0" dirty="0" spc="104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convenzione </a:t>
            </a:r>
          </a:p>
          <a:p>
            <a:pPr marL="0">
              <a:lnSpc>
                <a:spcPts val="1151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sottoscritta con Generali Italia, provvede per incarico di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quest’ultima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al contatto telefonico con </a:t>
            </a:r>
          </a:p>
          <a:p>
            <a:pPr marL="0">
              <a:lnSpc>
                <a:spcPts val="115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l’Assicurato ed organizza ed eroga nei casi previsti le prestazioni garantite “in rete conven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- </a:t>
            </a:r>
          </a:p>
          <a:p>
            <a:pPr marL="0">
              <a:lnSpc>
                <a:spcPts val="115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zionata” dal contratto.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235" name="Rectangle 235"/>
          <p:cNvSpPr/>
          <p:nvPr/>
        </p:nvSpPr>
        <p:spPr>
          <a:xfrm rot="0" flipH="0" flipV="0">
            <a:off x="432816" y="2673175"/>
            <a:ext cx="1286622" cy="28772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Condizioni di assicu- </a:t>
            </a:r>
          </a:p>
          <a:p>
            <a:pPr marL="0">
              <a:lnSpc>
                <a:spcPts val="1155"/>
              </a:lnSpc>
            </a:pP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razione </a:t>
            </a:r>
          </a:p>
        </p:txBody>
      </p:sp>
      <p:sp>
        <p:nvSpPr>
          <p:cNvPr id="236" name="Rectangle 236"/>
          <p:cNvSpPr/>
          <p:nvPr/>
        </p:nvSpPr>
        <p:spPr>
          <a:xfrm rot="0" flipH="0" flipV="0">
            <a:off x="432816" y="2673175"/>
            <a:ext cx="4804648" cy="8013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1428241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Il documento che disciplina il contratto di assicurazione. </a:t>
            </a:r>
          </a:p>
          <a:p>
            <a:pPr marL="0">
              <a:lnSpc>
                <a:spcPts val="2595"/>
              </a:lnSpc>
              <a:tabLst>
                <a:tab pos="1428241" algn="l"/>
              </a:tabLst>
            </a:pP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Contraente 	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La persona giuridica che stipula il contratto di assicurazione. </a:t>
            </a:r>
          </a:p>
          <a:p>
            <a:pPr marL="0">
              <a:lnSpc>
                <a:spcPts val="1452"/>
              </a:lnSpc>
            </a:pP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Day Hospital/Day </a:t>
            </a:r>
          </a:p>
          <a:p>
            <a:pPr marL="0">
              <a:lnSpc>
                <a:spcPts val="1151"/>
              </a:lnSpc>
            </a:pP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Surgery </a:t>
            </a:r>
          </a:p>
        </p:txBody>
      </p:sp>
      <p:sp>
        <p:nvSpPr>
          <p:cNvPr id="237" name="Rectangle 237"/>
          <p:cNvSpPr/>
          <p:nvPr/>
        </p:nvSpPr>
        <p:spPr>
          <a:xfrm rot="0" flipH="0" flipV="0">
            <a:off x="432816" y="3187144"/>
            <a:ext cx="6650593" cy="1753684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1428241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La degenza in istituto di cura limitata a una sola parte della giornata. </a:t>
            </a:r>
          </a:p>
          <a:p>
            <a:pPr marL="0">
              <a:lnSpc>
                <a:spcPts val="2603"/>
              </a:lnSpc>
              <a:tabLst>
                <a:tab pos="1428241" algn="l"/>
              </a:tabLst>
            </a:pP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Difetto fisico 	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La deviazione del normale assetto morfologico di un organismo o parti di esso dovuto a svi- </a:t>
            </a:r>
          </a:p>
          <a:p>
            <a:pPr marL="1428241">
              <a:lnSpc>
                <a:spcPts val="115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luppo somatico in soggetti già costituzionalmente predisposti o a condizioni traumatiche ac- </a:t>
            </a:r>
          </a:p>
          <a:p>
            <a:pPr marL="1428241">
              <a:lnSpc>
                <a:spcPts val="1139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quisite </a:t>
            </a:r>
          </a:p>
          <a:p>
            <a:pPr marL="0">
              <a:lnSpc>
                <a:spcPts val="1452"/>
              </a:lnSpc>
              <a:tabLst>
                <a:tab pos="1428241" algn="l"/>
              </a:tabLst>
            </a:pP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Durata contrattuale 	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Il periodo durante il quale il contratto è efficace. </a:t>
            </a:r>
          </a:p>
          <a:p>
            <a:pPr marL="0">
              <a:lnSpc>
                <a:spcPts val="1452"/>
              </a:lnSpc>
              <a:tabLst>
                <a:tab pos="1428241" algn="l"/>
              </a:tabLst>
            </a:pP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Franchigia 	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L’importo</a:t>
            </a:r>
            <a:r>
              <a:rPr lang="it-IT" sz="996" baseline="0" b="0" i="0" dirty="0" spc="345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prestabilito</a:t>
            </a:r>
            <a:r>
              <a:rPr lang="it-IT" sz="996" baseline="0" b="0" i="0" dirty="0" spc="344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che</a:t>
            </a:r>
            <a:r>
              <a:rPr lang="it-IT" sz="996" baseline="0" b="0" i="0" dirty="0" spc="346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rimane</a:t>
            </a:r>
            <a:r>
              <a:rPr lang="it-IT" sz="996" baseline="0" b="0" i="0" dirty="0" spc="344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a</a:t>
            </a:r>
            <a:r>
              <a:rPr lang="it-IT" sz="996" baseline="0" b="0" i="0" dirty="0" spc="344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carico</a:t>
            </a:r>
            <a:r>
              <a:rPr lang="it-IT" sz="996" baseline="0" b="0" i="0" dirty="0" spc="344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dell’Assicurato.</a:t>
            </a:r>
            <a:r>
              <a:rPr lang="it-IT" sz="996" baseline="0" b="0" i="0" dirty="0" spc="343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Tale</a:t>
            </a:r>
            <a:r>
              <a:rPr lang="it-IT" sz="996" baseline="0" b="0" i="0" dirty="0" spc="344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importo</a:t>
            </a:r>
            <a:r>
              <a:rPr lang="it-IT" sz="996" baseline="0" b="0" i="0" dirty="0" spc="345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viene</a:t>
            </a:r>
            <a:r>
              <a:rPr lang="it-IT" sz="996" baseline="0" b="0" i="0" dirty="0" spc="344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detratto </a:t>
            </a:r>
          </a:p>
          <a:p>
            <a:pPr marL="1428241">
              <a:lnSpc>
                <a:spcPts val="1151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dall’ammontare</a:t>
            </a:r>
            <a:r>
              <a:rPr lang="it-IT" sz="996" baseline="0" b="0" i="0" dirty="0" spc="215">
                <a:solidFill>
                  <a:srgbClr val="000000"/>
                </a:solidFill>
                <a:latin typeface="ArialMT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dell’indennizzo.</a:t>
            </a:r>
            <a:r>
              <a:rPr lang="it-IT" sz="996" baseline="0" b="0" i="0" dirty="0" spc="211">
                <a:solidFill>
                  <a:srgbClr val="000000"/>
                </a:solidFill>
                <a:latin typeface="ArialMT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Per</a:t>
            </a:r>
            <a:r>
              <a:rPr lang="it-IT" sz="996" baseline="0" b="0" i="0" dirty="0" spc="229">
                <a:solidFill>
                  <a:srgbClr val="000000"/>
                </a:solidFill>
                <a:latin typeface="ArialMT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le</a:t>
            </a:r>
            <a:r>
              <a:rPr lang="it-IT" sz="996" baseline="0" b="0" i="0" dirty="0" spc="212">
                <a:solidFill>
                  <a:srgbClr val="000000"/>
                </a:solidFill>
                <a:latin typeface="ArialMT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garanzie</a:t>
            </a:r>
            <a:r>
              <a:rPr lang="it-IT" sz="996" baseline="0" b="0" i="0" dirty="0" spc="212">
                <a:solidFill>
                  <a:srgbClr val="000000"/>
                </a:solidFill>
                <a:latin typeface="ArialMT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che</a:t>
            </a:r>
            <a:r>
              <a:rPr lang="it-IT" sz="996" baseline="0" b="0" i="0" dirty="0" spc="214">
                <a:solidFill>
                  <a:srgbClr val="000000"/>
                </a:solidFill>
                <a:latin typeface="ArialMT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prevedono</a:t>
            </a:r>
            <a:r>
              <a:rPr lang="it-IT" sz="996" baseline="0" b="0" i="0" dirty="0" spc="214">
                <a:solidFill>
                  <a:srgbClr val="000000"/>
                </a:solidFill>
                <a:latin typeface="ArialMT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un’indennità</a:t>
            </a:r>
            <a:r>
              <a:rPr lang="it-IT" sz="996" baseline="0" b="0" i="0" dirty="0" spc="223">
                <a:solidFill>
                  <a:srgbClr val="000000"/>
                </a:solidFill>
                <a:latin typeface="ArialMT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per</a:t>
            </a:r>
            <a:r>
              <a:rPr lang="it-IT" sz="996" baseline="0" b="0" i="0" dirty="0" spc="217">
                <a:solidFill>
                  <a:srgbClr val="000000"/>
                </a:solidFill>
                <a:latin typeface="ArialMT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ciascun </a:t>
            </a:r>
          </a:p>
          <a:p>
            <a:pPr marL="1428241">
              <a:lnSpc>
                <a:spcPts val="1139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giorno di ricovero è il numero di giorni per i quali non viene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corrisposta l’indennità all’Assicu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- </a:t>
            </a:r>
          </a:p>
          <a:p>
            <a:pPr marL="1428241">
              <a:lnSpc>
                <a:spcPts val="115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rato. </a:t>
            </a:r>
          </a:p>
          <a:p>
            <a:pPr marL="0">
              <a:lnSpc>
                <a:spcPts val="1453"/>
              </a:lnSpc>
            </a:pP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Generali Italia </a:t>
            </a:r>
          </a:p>
        </p:txBody>
      </p:sp>
      <p:sp>
        <p:nvSpPr>
          <p:cNvPr id="239" name="Rectangle 239"/>
          <p:cNvSpPr/>
          <p:nvPr/>
        </p:nvSpPr>
        <p:spPr>
          <a:xfrm rot="0" flipH="0" flipV="0">
            <a:off x="400811" y="5022294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1" i="1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240" name="Rectangle 240"/>
          <p:cNvSpPr/>
          <p:nvPr/>
        </p:nvSpPr>
        <p:spPr>
          <a:xfrm rot="0" flipH="0" flipV="0">
            <a:off x="432816" y="5168598"/>
            <a:ext cx="678597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Indennizzo </a:t>
            </a:r>
          </a:p>
        </p:txBody>
      </p:sp>
      <p:sp>
        <p:nvSpPr>
          <p:cNvPr id="241" name="Rectangle 241"/>
          <p:cNvSpPr/>
          <p:nvPr/>
        </p:nvSpPr>
        <p:spPr>
          <a:xfrm rot="0" flipH="0" flipV="0">
            <a:off x="1861057" y="4798266"/>
            <a:ext cx="5190349" cy="471746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L’impresa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assicuratrice Generali Italia S.p.A., con sede legale in Mogliano Veneto, via Maroc- </a:t>
            </a:r>
          </a:p>
          <a:p>
            <a:pPr marL="0">
              <a:lnSpc>
                <a:spcPts val="1151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chesa 14. </a:t>
            </a:r>
          </a:p>
          <a:p>
            <a:pPr marL="0">
              <a:lnSpc>
                <a:spcPts val="145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La somma dovuta da Generali Italia in caso di sinistro. </a:t>
            </a:r>
          </a:p>
        </p:txBody>
      </p:sp>
      <p:sp>
        <p:nvSpPr>
          <p:cNvPr id="242" name="Rectangle 242"/>
          <p:cNvSpPr/>
          <p:nvPr/>
        </p:nvSpPr>
        <p:spPr>
          <a:xfrm rot="0" flipH="0" flipV="0">
            <a:off x="432816" y="5353002"/>
            <a:ext cx="614589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Infortunio </a:t>
            </a:r>
          </a:p>
        </p:txBody>
      </p:sp>
      <p:sp>
        <p:nvSpPr>
          <p:cNvPr id="243" name="Rectangle 243"/>
          <p:cNvSpPr/>
          <p:nvPr/>
        </p:nvSpPr>
        <p:spPr>
          <a:xfrm rot="0" flipH="0" flipV="0">
            <a:off x="400811" y="5573982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1" i="1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244" name="Rectangle 244"/>
          <p:cNvSpPr/>
          <p:nvPr/>
        </p:nvSpPr>
        <p:spPr>
          <a:xfrm rot="0" flipH="0" flipV="0">
            <a:off x="432816" y="5720286"/>
            <a:ext cx="1097646" cy="28734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Intervento Chirur- </a:t>
            </a:r>
          </a:p>
          <a:p>
            <a:pPr marL="0">
              <a:lnSpc>
                <a:spcPts val="1151"/>
              </a:lnSpc>
            </a:pP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gico </a:t>
            </a:r>
          </a:p>
        </p:txBody>
      </p:sp>
      <p:sp>
        <p:nvSpPr>
          <p:cNvPr id="245" name="Rectangle 245"/>
          <p:cNvSpPr/>
          <p:nvPr/>
        </p:nvSpPr>
        <p:spPr>
          <a:xfrm rot="0" flipH="0" flipV="0">
            <a:off x="1861057" y="5353002"/>
            <a:ext cx="5193396" cy="616526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33527"/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L’evento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dovuto a causa fortuita, violenta ed esterna che produca lesioni corporali obiettiva- </a:t>
            </a:r>
          </a:p>
          <a:p>
            <a:pPr marL="0">
              <a:lnSpc>
                <a:spcPts val="1140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mente constatabili. </a:t>
            </a:r>
          </a:p>
          <a:p>
            <a:pPr marL="0">
              <a:lnSpc>
                <a:spcPts val="1439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L’atto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cruento, manuale o strumentale, eseguito a fini terapeutici che richiede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l’uso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della sala </a:t>
            </a:r>
          </a:p>
          <a:p>
            <a:pPr marL="0">
              <a:lnSpc>
                <a:spcPts val="1163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operatoria. Può avvenire in regime di ricovero ordinario o day surgery con o senza degenza. </a:t>
            </a:r>
          </a:p>
        </p:txBody>
      </p:sp>
      <p:sp>
        <p:nvSpPr>
          <p:cNvPr id="246" name="Rectangle 246"/>
          <p:cNvSpPr/>
          <p:nvPr/>
        </p:nvSpPr>
        <p:spPr>
          <a:xfrm rot="0" flipH="0" flipV="0">
            <a:off x="432816" y="6049470"/>
            <a:ext cx="1169274" cy="28734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Intervento Chirur- </a:t>
            </a:r>
          </a:p>
          <a:p>
            <a:pPr marL="0">
              <a:lnSpc>
                <a:spcPts val="1152"/>
              </a:lnSpc>
            </a:pP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gico Ambulatoriale </a:t>
            </a:r>
          </a:p>
        </p:txBody>
      </p:sp>
      <p:sp>
        <p:nvSpPr>
          <p:cNvPr id="247" name="Rectangle 247"/>
          <p:cNvSpPr/>
          <p:nvPr/>
        </p:nvSpPr>
        <p:spPr>
          <a:xfrm rot="0" flipH="0" flipV="0">
            <a:off x="432816" y="6049470"/>
            <a:ext cx="6653498" cy="358438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1428241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La prestazione chirurgica, senza degenza, effettuata in ambulatorio o ambulatorio protetto, in </a:t>
            </a:r>
          </a:p>
          <a:p>
            <a:pPr marL="1428241">
              <a:lnSpc>
                <a:spcPts val="115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anestesia locale e/o analgesia anche comportante suture, diatermocoagulazione, crioterapia, </a:t>
            </a:r>
          </a:p>
          <a:p>
            <a:pPr marL="1428241">
              <a:lnSpc>
                <a:spcPts val="1151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biopsia, endoscopia con biopsia, ago aspirato, infiltrazioni articolari. </a:t>
            </a:r>
          </a:p>
          <a:p>
            <a:pPr marL="0">
              <a:lnSpc>
                <a:spcPts val="1452"/>
              </a:lnSpc>
              <a:tabLst>
                <a:tab pos="1461769" algn="l"/>
              </a:tabLst>
            </a:pP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Istituto di Cura 	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L’ospedale, la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clinica o la casa di cura in Italia o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all’estero,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regolarmente autorizzati, in base </a:t>
            </a:r>
          </a:p>
          <a:p>
            <a:pPr marL="1428241">
              <a:lnSpc>
                <a:spcPts val="1154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ai requisiti di legge e dalle competenti autorità, al ricovero ed eventualmente all’assistenza </a:t>
            </a:r>
          </a:p>
          <a:p>
            <a:pPr marL="1428241">
              <a:lnSpc>
                <a:spcPts val="1151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sanitaria ambulatoriale anche in regime di degenza diurna. </a:t>
            </a:r>
          </a:p>
          <a:p>
            <a:pPr marL="0">
              <a:lnSpc>
                <a:spcPts val="1439"/>
              </a:lnSpc>
              <a:tabLst>
                <a:tab pos="1428241" algn="l"/>
              </a:tabLst>
            </a:pP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IVASS 	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L’Istituto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per la Vigilanza sulle Assicurazioni. </a:t>
            </a:r>
          </a:p>
          <a:p>
            <a:pPr marL="0">
              <a:lnSpc>
                <a:spcPts val="1452"/>
              </a:lnSpc>
              <a:tabLst>
                <a:tab pos="1461769" algn="l"/>
              </a:tabLst>
            </a:pP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Malattia 	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L’alterazione dello stato di salute non dipendente da infortunio che necessiti di prestazioni </a:t>
            </a:r>
          </a:p>
          <a:p>
            <a:pPr marL="1428241">
              <a:lnSpc>
                <a:spcPts val="1151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diagnostiche e trattamenti terapeutici. </a:t>
            </a:r>
          </a:p>
          <a:p>
            <a:pPr marL="0">
              <a:lnSpc>
                <a:spcPts val="1452"/>
              </a:lnSpc>
              <a:tabLst>
                <a:tab pos="1461769" algn="l"/>
              </a:tabLst>
            </a:pP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Malattia oncologica 	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La malattia determinata dalla presenza di neoplasia benigna o maligna; sono incluse le leu- </a:t>
            </a:r>
          </a:p>
          <a:p>
            <a:pPr marL="1428241">
              <a:lnSpc>
                <a:spcPts val="1140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cemie, i linfomi, il morbo di Hodgkin, il cancro in situ; sono inoltre compresi i tumori con inva- </a:t>
            </a:r>
          </a:p>
          <a:p>
            <a:pPr marL="1428241">
              <a:lnSpc>
                <a:spcPts val="1151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sione diretta degli organi vicini, in fase metastatica e le recidive. </a:t>
            </a:r>
          </a:p>
          <a:p>
            <a:pPr marL="0">
              <a:lnSpc>
                <a:spcPts val="1355"/>
              </a:lnSpc>
              <a:tabLst>
                <a:tab pos="1428241" algn="l"/>
              </a:tabLst>
            </a:pP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Premio 	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La somma dovuta dai singoli assicurati a Generali Italia. </a:t>
            </a:r>
          </a:p>
          <a:p>
            <a:pPr marL="0">
              <a:lnSpc>
                <a:spcPts val="1272"/>
              </a:lnSpc>
              <a:tabLst>
                <a:tab pos="1428241" algn="l"/>
              </a:tabLst>
            </a:pP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Polizza 	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Il documento che prova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l’assicurazione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e definisce il perimetro di tutte le garanzie attive. </a:t>
            </a:r>
          </a:p>
          <a:p>
            <a:pPr marL="0">
              <a:lnSpc>
                <a:spcPts val="1284"/>
              </a:lnSpc>
              <a:tabLst>
                <a:tab pos="1428241" algn="l"/>
              </a:tabLst>
            </a:pP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Protesi 	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Il dispositivo con carattere</a:t>
            </a:r>
            <a:r>
              <a:rPr lang="it-IT" sz="996" baseline="0" b="0" i="0" dirty="0" spc="143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anatomico-funzionale usato per sostituire parzialmente o total- </a:t>
            </a:r>
          </a:p>
          <a:p>
            <a:pPr marL="1428241">
              <a:lnSpc>
                <a:spcPts val="1055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mente una parte del corpo umano non più in grado di operare correttamente. </a:t>
            </a:r>
          </a:p>
          <a:p>
            <a:pPr marL="0">
              <a:lnSpc>
                <a:spcPts val="1177"/>
              </a:lnSpc>
              <a:tabLst>
                <a:tab pos="1428241" algn="l"/>
              </a:tabLst>
            </a:pP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Ricovero 	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La degenza in istituto di cura comportante almeno un pernottamento. </a:t>
            </a:r>
          </a:p>
          <a:p>
            <a:pPr marL="0">
              <a:lnSpc>
                <a:spcPts val="1272"/>
              </a:lnSpc>
              <a:tabLst>
                <a:tab pos="1428241" algn="l"/>
              </a:tabLst>
            </a:pP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Rischio 	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La probabilità del verificarsi del sinistro. </a:t>
            </a:r>
          </a:p>
          <a:p>
            <a:pPr marL="0">
              <a:lnSpc>
                <a:spcPts val="1283"/>
              </a:lnSpc>
              <a:tabLst>
                <a:tab pos="1428241" algn="l"/>
              </a:tabLst>
            </a:pP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Scoperto 	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L’importo</a:t>
            </a:r>
            <a:r>
              <a:rPr lang="it-IT" sz="996" baseline="0" b="0" i="0" dirty="0" spc="203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prestabilito</a:t>
            </a:r>
            <a:r>
              <a:rPr lang="it-IT" sz="996" baseline="0" b="0" i="0" dirty="0" spc="191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che</a:t>
            </a:r>
            <a:r>
              <a:rPr lang="it-IT" sz="996" baseline="0" b="0" i="0" dirty="0" spc="215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rimane</a:t>
            </a:r>
            <a:r>
              <a:rPr lang="it-IT" sz="996" baseline="0" b="0" i="0" dirty="0" spc="191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a</a:t>
            </a:r>
            <a:r>
              <a:rPr lang="it-IT" sz="996" baseline="0" b="0" i="0" dirty="0" spc="179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carico</a:t>
            </a:r>
            <a:r>
              <a:rPr lang="it-IT" sz="996" baseline="0" b="0" i="0" dirty="0" spc="203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dell’Assicurato, espresso in misura percentuale </a:t>
            </a:r>
          </a:p>
          <a:p>
            <a:pPr marL="1428241">
              <a:lnSpc>
                <a:spcPts val="1055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sull’ammontare dell’indennizzo.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  <a:p>
            <a:pPr marL="0">
              <a:lnSpc>
                <a:spcPts val="1176"/>
              </a:lnSpc>
              <a:tabLst>
                <a:tab pos="1428241" algn="l"/>
              </a:tabLst>
            </a:pP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Sinistro 	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Il verificarsi del fatto dannoso per cui è prestata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l’assicurazione.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  <a:p>
            <a:pPr marL="0">
              <a:lnSpc>
                <a:spcPts val="1283"/>
              </a:lnSpc>
            </a:pP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Strutture Mediche </a:t>
            </a:r>
          </a:p>
          <a:p>
            <a:pPr marL="0">
              <a:lnSpc>
                <a:spcPts val="1044"/>
              </a:lnSpc>
            </a:pP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Convenzionate </a:t>
            </a:r>
          </a:p>
        </p:txBody>
      </p:sp>
      <p:sp>
        <p:nvSpPr>
          <p:cNvPr id="248" name="Rectangle 248"/>
          <p:cNvSpPr/>
          <p:nvPr/>
        </p:nvSpPr>
        <p:spPr>
          <a:xfrm rot="0" flipH="0" flipV="0">
            <a:off x="1861057" y="9360233"/>
            <a:ext cx="5188825" cy="540326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Le strutture sanitarie costituite da istituti di cura, ambulatori medici e medici, convenzionati </a:t>
            </a:r>
          </a:p>
          <a:p>
            <a:pPr marL="0">
              <a:lnSpc>
                <a:spcPts val="1044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con la Centrale Operativa Medica, che forniscono le prestazioni il cui costo viene sostenuto </a:t>
            </a:r>
          </a:p>
          <a:p>
            <a:pPr marL="0">
              <a:lnSpc>
                <a:spcPts val="1055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da Generali Italia, in nome e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per conto dell’Assicurato, nei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limiti di quanto previsto dalle con- </a:t>
            </a:r>
          </a:p>
          <a:p>
            <a:pPr marL="0">
              <a:lnSpc>
                <a:spcPts val="1044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dizioni contrattuali. </a:t>
            </a:r>
          </a:p>
        </p:txBody>
      </p:sp>
      <p:sp>
        <p:nvSpPr>
          <p:cNvPr id="249" name="Rectangle 249"/>
          <p:cNvSpPr/>
          <p:nvPr/>
        </p:nvSpPr>
        <p:spPr>
          <a:xfrm rot="0" flipH="0" flipV="0">
            <a:off x="216408" y="9903509"/>
            <a:ext cx="28386" cy="11384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803" baseline="0" b="1" i="1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250" name="Rectangle 250"/>
          <p:cNvSpPr/>
          <p:nvPr/>
        </p:nvSpPr>
        <p:spPr>
          <a:xfrm rot="0" flipH="0" flipV="0">
            <a:off x="216408" y="10020857"/>
            <a:ext cx="28386" cy="11384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803" baseline="0" b="1" i="1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251" name="Rectangle 251"/>
          <p:cNvSpPr/>
          <p:nvPr/>
        </p:nvSpPr>
        <p:spPr>
          <a:xfrm rot="0" flipH="0" flipV="0">
            <a:off x="359663" y="10136681"/>
            <a:ext cx="6755067" cy="11384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>
              <a:tabLst>
                <a:tab pos="2253107" algn="l"/>
                <a:tab pos="5749797" algn="l"/>
              </a:tabLst>
            </a:pPr>
            <a:r>
              <a:rPr lang="it-IT" sz="803" baseline="0" b="0" i="0" dirty="0" spc="0">
                <a:solidFill>
                  <a:srgbClr val="000000"/>
                </a:solidFill>
                <a:latin typeface="Arial" pitchFamily="0" charset="1"/>
              </a:rPr>
              <a:t>Condizioni di assicurazione 	Edizione 05.2022 	</a:t>
            </a:r>
            <a:r>
              <a:rPr lang="it-IT" sz="803" baseline="0" b="1" i="0" dirty="0" spc="0">
                <a:solidFill>
                  <a:srgbClr val="000000"/>
                </a:solidFill>
                <a:latin typeface="Arial" pitchFamily="0" charset="1"/>
              </a:rPr>
              <a:t>GENERASalute RSM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/>
      </p:grpSpPr>
      <p:pic>
        <p:nvPicPr>
          <p:cNvPr id="252" name="Picture 252"/>
          <p:cNvPicPr>
            <a:picLocks noChangeAspect="0" noChangeArrowheads="1"/>
          </p:cNvPicPr>
          <p:nvPr/>
        </p:nvPicPr>
        <p:blipFill>
          <a:blip r:embed="rId25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 flipH="0" flipV="0">
            <a:off x="445769" y="3727565"/>
            <a:ext cx="341629" cy="356628"/>
          </a:xfrm>
          <a:prstGeom prst="rect">
            <a:avLst/>
          </a:prstGeom>
          <a:noFill/>
          <a:extLst/>
        </p:spPr>
      </p:pic>
      <p:sp>
        <p:nvSpPr>
          <p:cNvPr id="253" name="Rectangle 253"/>
          <p:cNvSpPr/>
          <p:nvPr/>
        </p:nvSpPr>
        <p:spPr>
          <a:xfrm rot="0" flipH="0" flipV="0">
            <a:off x="216408" y="9969041"/>
            <a:ext cx="6881559" cy="158594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>
              <a:tabLst>
                <a:tab pos="143255" algn="l"/>
                <a:tab pos="2844419" algn="l"/>
                <a:tab pos="5645784" algn="l"/>
              </a:tabLst>
            </a:pPr>
            <a:r>
              <a:rPr lang="it-IT" sz="1509" baseline="-31325" b="0" i="0" dirty="0" spc="0">
                <a:solidFill>
                  <a:srgbClr val="000000"/>
                </a:solidFill>
                <a:latin typeface="Arial" pitchFamily="0" charset="1"/>
              </a:rPr>
              <a:t> 	</a:t>
            </a:r>
            <a:r>
              <a:rPr lang="it-IT" sz="803" baseline="0" b="1" i="0" dirty="0" spc="0">
                <a:solidFill>
                  <a:srgbClr val="000000"/>
                </a:solidFill>
                <a:latin typeface="Arial" pitchFamily="0" charset="1"/>
              </a:rPr>
              <a:t>GENERASalute RSM 	</a:t>
            </a:r>
            <a:r>
              <a:rPr lang="it-IT" sz="803" baseline="0" b="0" i="0" dirty="0" spc="0">
                <a:solidFill>
                  <a:srgbClr val="000000"/>
                </a:solidFill>
                <a:latin typeface="Arial" pitchFamily="0" charset="1"/>
              </a:rPr>
              <a:t>Edizione 05.2022 	Condizioni di assicurazione </a:t>
            </a:r>
          </a:p>
        </p:txBody>
      </p:sp>
      <p:sp>
        <p:nvSpPr>
          <p:cNvPr id="254" name="Rectangle 254"/>
          <p:cNvSpPr/>
          <p:nvPr/>
        </p:nvSpPr>
        <p:spPr>
          <a:xfrm rot="0" flipH="0" flipV="0">
            <a:off x="519683" y="679529"/>
            <a:ext cx="6567732" cy="633544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>
              <a:tabLst>
                <a:tab pos="1426717" algn="l"/>
              </a:tabLst>
            </a:pP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Ticket sanitario 	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Il contributo pagato per la prestazione a carico del Servizio Sanitario Nazionale, erogata da </a:t>
            </a:r>
          </a:p>
          <a:p>
            <a:pPr marL="0">
              <a:lnSpc>
                <a:spcPts val="1284"/>
              </a:lnSpc>
              <a:tabLst>
                <a:tab pos="1426717" algn="l"/>
              </a:tabLst>
            </a:pP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 	</a:t>
            </a:r>
            <a:r>
              <a:rPr lang="it-IT" sz="1509" baseline="13253" b="0" i="0" dirty="0" spc="0">
                <a:solidFill>
                  <a:srgbClr val="000000"/>
                </a:solidFill>
                <a:latin typeface="Arial" pitchFamily="0" charset="1"/>
              </a:rPr>
              <a:t>una struttura del SSN o da una struttura privata con questo accreditata. </a:t>
            </a:r>
          </a:p>
          <a:p>
            <a:pPr marL="0">
              <a:lnSpc>
                <a:spcPts val="1441"/>
              </a:lnSpc>
            </a:pP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SSN (Servizio Sanita- </a:t>
            </a:r>
          </a:p>
          <a:p>
            <a:pPr marL="0">
              <a:lnSpc>
                <a:spcPts val="1152"/>
              </a:lnSpc>
            </a:pP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rio Nazionale) </a:t>
            </a:r>
          </a:p>
        </p:txBody>
      </p:sp>
      <p:sp>
        <p:nvSpPr>
          <p:cNvPr id="255" name="Rectangle 255"/>
          <p:cNvSpPr/>
          <p:nvPr/>
        </p:nvSpPr>
        <p:spPr>
          <a:xfrm rot="0" flipH="0" flipV="0">
            <a:off x="1946401" y="1063831"/>
            <a:ext cx="2620503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Il servizio sanitario erogato dello Stato Italiano. </a:t>
            </a:r>
          </a:p>
        </p:txBody>
      </p:sp>
      <p:sp>
        <p:nvSpPr>
          <p:cNvPr id="256" name="Rectangle 256"/>
          <p:cNvSpPr/>
          <p:nvPr/>
        </p:nvSpPr>
        <p:spPr>
          <a:xfrm rot="0" flipH="0" flipV="0">
            <a:off x="216408" y="1439673"/>
            <a:ext cx="42367" cy="169924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1200" baseline="0" b="1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257" name="Rectangle 257"/>
          <p:cNvSpPr/>
          <p:nvPr/>
        </p:nvSpPr>
        <p:spPr>
          <a:xfrm rot="0" flipH="0" flipV="0">
            <a:off x="446531" y="1611122"/>
            <a:ext cx="1291081" cy="50967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1200" baseline="0" b="1" i="0" dirty="0" spc="0">
                <a:solidFill>
                  <a:srgbClr val="4F81BC"/>
                </a:solidFill>
                <a:latin typeface="Cambria-Bold" pitchFamily="0" charset="1"/>
              </a:rPr>
              <a:t>CHI ASSICURIAMO</a:t>
            </a:r>
            <a:r>
              <a:rPr lang="it-IT" sz="1200" baseline="0" b="1" i="0" dirty="0" spc="0">
                <a:solidFill>
                  <a:srgbClr val="000000"/>
                </a:solidFill>
                <a:latin typeface="Cambria-Bold" pitchFamily="0" charset="1"/>
              </a:rPr>
              <a:t> </a:t>
            </a:r>
          </a:p>
          <a:p>
            <a:pPr marL="0">
              <a:lnSpc>
                <a:spcPts val="1437"/>
              </a:lnSpc>
            </a:pPr>
            <a:r>
              <a:rPr lang="it-IT" sz="1200" baseline="0" b="1" i="1" dirty="0" spc="0">
                <a:solidFill>
                  <a:srgbClr val="000000"/>
                </a:solidFill>
                <a:latin typeface="Calibri-BoldItalic" pitchFamily="0" charset="1"/>
              </a:rPr>
              <a:t>Art. 2 Assicurati </a:t>
            </a:r>
          </a:p>
          <a:p>
            <a:pPr marL="0">
              <a:lnSpc>
                <a:spcPts val="1169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Sono Assicurati: </a:t>
            </a:r>
          </a:p>
        </p:txBody>
      </p:sp>
      <p:sp>
        <p:nvSpPr>
          <p:cNvPr id="260" name="Rectangle 260"/>
          <p:cNvSpPr/>
          <p:nvPr/>
        </p:nvSpPr>
        <p:spPr>
          <a:xfrm rot="0" flipH="0" flipV="0">
            <a:off x="216408" y="2126060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261" name="Rectangle 261"/>
          <p:cNvSpPr/>
          <p:nvPr/>
        </p:nvSpPr>
        <p:spPr>
          <a:xfrm rot="0" flipH="0" flipV="0">
            <a:off x="446531" y="2270839"/>
            <a:ext cx="6681075" cy="87293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i lavoratori che hanno cessato l'attività lavorativa e maturato 2 anni di anzianità di iscrizione al Fondo Metasalute in ma- </a:t>
            </a:r>
          </a:p>
          <a:p>
            <a:pPr marL="0">
              <a:lnSpc>
                <a:spcPts val="115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niera continuativa all'atto di andare in pensione come da CCNL 05.02.2021. </a:t>
            </a:r>
          </a:p>
          <a:p>
            <a:pPr marL="0">
              <a:lnSpc>
                <a:spcPts val="115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Sono altresì compresi i lavoratori che abbiano i requisiti soprarichiamati e che: </a:t>
            </a:r>
          </a:p>
          <a:p>
            <a:pPr marL="228600">
              <a:lnSpc>
                <a:spcPts val="1151"/>
              </a:lnSpc>
              <a:tabLst>
                <a:tab pos="457504" algn="l"/>
              </a:tabLst>
            </a:pPr>
            <a:r>
              <a:rPr lang="it-IT" sz="996" baseline="0" b="0" i="0" dirty="0" spc="-8">
                <a:solidFill>
                  <a:srgbClr val="000000"/>
                </a:solidFill>
                <a:latin typeface="Arial" pitchFamily="0" charset="1"/>
              </a:rPr>
              <a:t>-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	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sono beneficiari degli istituti legali disposti dal legislatore per un periodo necessario per maturare i requisiti per </a:t>
            </a:r>
          </a:p>
          <a:p>
            <a:pPr marL="457504">
              <a:lnSpc>
                <a:spcPts val="1154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il trattamento di pensione effettivo; </a:t>
            </a:r>
          </a:p>
          <a:p>
            <a:pPr marL="228600">
              <a:lnSpc>
                <a:spcPts val="1152"/>
              </a:lnSpc>
              <a:tabLst>
                <a:tab pos="457504" algn="l"/>
              </a:tabLst>
            </a:pPr>
            <a:r>
              <a:rPr lang="it-IT" sz="996" baseline="0" b="0" i="0" dirty="0" spc="-8">
                <a:solidFill>
                  <a:srgbClr val="000000"/>
                </a:solidFill>
                <a:latin typeface="Arial" pitchFamily="0" charset="1"/>
              </a:rPr>
              <a:t>-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	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non ancora titolari di pensione che abbiano fatto regolare richiesta di pensione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all’Ente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preposto. </a:t>
            </a:r>
          </a:p>
        </p:txBody>
      </p:sp>
      <p:sp>
        <p:nvSpPr>
          <p:cNvPr id="262" name="Rectangle 262"/>
          <p:cNvSpPr/>
          <p:nvPr/>
        </p:nvSpPr>
        <p:spPr>
          <a:xfrm rot="0" flipH="0" flipV="0">
            <a:off x="216408" y="3147520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263" name="Rectangle 263"/>
          <p:cNvSpPr/>
          <p:nvPr/>
        </p:nvSpPr>
        <p:spPr>
          <a:xfrm rot="0" flipH="0" flipV="0">
            <a:off x="446531" y="3293824"/>
            <a:ext cx="6790802" cy="28734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I lavoratori che hanno maturato i suddetti criteri potranno essere assicurati previa verifica dei requisiti legittimanti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l’iscri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- </a:t>
            </a:r>
          </a:p>
          <a:p>
            <a:pPr marL="0">
              <a:lnSpc>
                <a:spcPts val="115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zione da parte di Generali Italia. </a:t>
            </a:r>
          </a:p>
        </p:txBody>
      </p:sp>
      <p:sp>
        <p:nvSpPr>
          <p:cNvPr id="264" name="Rectangle 264"/>
          <p:cNvSpPr/>
          <p:nvPr/>
        </p:nvSpPr>
        <p:spPr>
          <a:xfrm rot="0" flipH="0" flipV="0">
            <a:off x="216408" y="3586432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265" name="Rectangle 265"/>
          <p:cNvSpPr/>
          <p:nvPr/>
        </p:nvSpPr>
        <p:spPr>
          <a:xfrm rot="0" flipH="0" flipV="0">
            <a:off x="787908" y="3978347"/>
            <a:ext cx="1411419" cy="140026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Times New Roman" pitchFamily="0" charset="1"/>
              </a:rPr>
              <a:t> </a:t>
            </a:r>
            <a:r>
              <a:rPr lang="it-IT" sz="947" baseline="0" b="1" i="0" dirty="0" spc="0">
                <a:solidFill>
                  <a:srgbClr val="000000"/>
                </a:solidFill>
                <a:latin typeface="Arial" pitchFamily="0" charset="1"/>
              </a:rPr>
              <a:t>Che cosa è assicurato? </a:t>
            </a:r>
          </a:p>
        </p:txBody>
      </p:sp>
      <p:sp>
        <p:nvSpPr>
          <p:cNvPr id="266" name="Rectangle 266"/>
          <p:cNvSpPr/>
          <p:nvPr/>
        </p:nvSpPr>
        <p:spPr>
          <a:xfrm rot="0" flipH="0" flipV="0">
            <a:off x="216408" y="4120777"/>
            <a:ext cx="33470" cy="13424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47" baseline="0" b="1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267" name="Rectangle 267"/>
          <p:cNvSpPr/>
          <p:nvPr/>
        </p:nvSpPr>
        <p:spPr>
          <a:xfrm rot="0" flipH="0" flipV="0">
            <a:off x="446531" y="4286124"/>
            <a:ext cx="6645382" cy="117743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35051"/>
            <a:r>
              <a:rPr lang="it-IT" sz="1200" baseline="0" b="1" i="1" dirty="0" spc="0">
                <a:solidFill>
                  <a:srgbClr val="000000"/>
                </a:solidFill>
                <a:latin typeface="Calibri-BoldItalic" pitchFamily="0" charset="1"/>
              </a:rPr>
              <a:t>Art. 3 Rischi assicurati </a:t>
            </a:r>
          </a:p>
          <a:p>
            <a:pPr marL="0">
              <a:lnSpc>
                <a:spcPts val="1169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Generali Italia rimborsa le spese sanitarie rese necessarie da malattia o infortunio e verificatisi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nell’anno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assicurativo. </a:t>
            </a:r>
          </a:p>
          <a:p>
            <a:pPr marL="0">
              <a:lnSpc>
                <a:spcPts val="1151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Le singole Garanzie, descritte negli articoli che seguono, sono prestate fino a concorrenza dei massimali, entro gli </a:t>
            </a:r>
          </a:p>
          <a:p>
            <a:pPr marL="0">
              <a:lnSpc>
                <a:spcPts val="1154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eventuali limiti di indennizzo e con l’applicazione delle franchigie e degli scoperti indicati negli articoli stessi e/o nell’art. </a:t>
            </a:r>
          </a:p>
          <a:p>
            <a:pPr marL="0">
              <a:lnSpc>
                <a:spcPts val="1139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10 Tabella franchigie, scoperti, massimali e limiti di indennizzo. </a:t>
            </a:r>
          </a:p>
          <a:p>
            <a:pPr marL="0">
              <a:lnSpc>
                <a:spcPts val="1151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La presente assicurazione si intende prestata indipendentemente e ad integrazione del SSN. </a:t>
            </a:r>
          </a:p>
          <a:p>
            <a:pPr marL="0">
              <a:lnSpc>
                <a:spcPts val="115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Se l’Assicurato paga soltanto il ticket previsto dal SSN per la prestazione effettuata Generali Italia rimborserà l’intero </a:t>
            </a:r>
          </a:p>
          <a:p>
            <a:pPr marL="0">
              <a:lnSpc>
                <a:spcPts val="1151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importo. </a:t>
            </a:r>
          </a:p>
        </p:txBody>
      </p:sp>
      <p:sp>
        <p:nvSpPr>
          <p:cNvPr id="268" name="Rectangle 268"/>
          <p:cNvSpPr/>
          <p:nvPr/>
        </p:nvSpPr>
        <p:spPr>
          <a:xfrm rot="0" flipH="0" flipV="0">
            <a:off x="216408" y="5468826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269" name="Rectangle 269"/>
          <p:cNvSpPr/>
          <p:nvPr/>
        </p:nvSpPr>
        <p:spPr>
          <a:xfrm rot="0" flipH="0" flipV="0">
            <a:off x="446531" y="5641214"/>
            <a:ext cx="3563859" cy="47919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1200" baseline="0" b="1" i="1" dirty="0" spc="0">
                <a:solidFill>
                  <a:srgbClr val="000000"/>
                </a:solidFill>
                <a:latin typeface="Calibri-BoldItalic" pitchFamily="0" charset="1"/>
              </a:rPr>
              <a:t>Art. 4 Rimborso spese ospedaliere e chirurgiche </a:t>
            </a:r>
          </a:p>
          <a:p>
            <a:pPr marL="0">
              <a:lnSpc>
                <a:spcPts val="1430"/>
              </a:lnSpc>
            </a:pPr>
            <a:r>
              <a:rPr lang="it-IT" sz="1200" baseline="0" b="1" i="1" dirty="0" spc="0">
                <a:solidFill>
                  <a:srgbClr val="C00000"/>
                </a:solidFill>
                <a:latin typeface="Cambria-BoldItalic" pitchFamily="0" charset="1"/>
              </a:rPr>
              <a:t>Che cosa è assicurato</a:t>
            </a:r>
            <a:r>
              <a:rPr lang="it-IT" sz="1200" baseline="0" b="1" i="1" dirty="0" spc="0">
                <a:solidFill>
                  <a:srgbClr val="000000"/>
                </a:solidFill>
                <a:latin typeface="Cambria-BoldItalic" pitchFamily="0" charset="1"/>
              </a:rPr>
              <a:t> </a:t>
            </a:r>
          </a:p>
          <a:p>
            <a:pPr marL="0">
              <a:lnSpc>
                <a:spcPts val="114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Generali Italia riconosce le spese sanitarie sostenute in caso di: </a:t>
            </a:r>
          </a:p>
        </p:txBody>
      </p:sp>
      <p:sp>
        <p:nvSpPr>
          <p:cNvPr id="271" name="Rectangle 271"/>
          <p:cNvSpPr/>
          <p:nvPr/>
        </p:nvSpPr>
        <p:spPr>
          <a:xfrm rot="0" flipH="0" flipV="0">
            <a:off x="216408" y="6125670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272" name="Rectangle 272"/>
          <p:cNvSpPr/>
          <p:nvPr/>
        </p:nvSpPr>
        <p:spPr>
          <a:xfrm rot="0" flipH="0" flipV="0">
            <a:off x="446531" y="6298058"/>
            <a:ext cx="6650594" cy="3553734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1200" baseline="0" b="1" i="1" dirty="0" spc="0">
                <a:solidFill>
                  <a:srgbClr val="000000"/>
                </a:solidFill>
                <a:latin typeface="Calibri-BoldItalic" pitchFamily="0" charset="1"/>
              </a:rPr>
              <a:t>Art.</a:t>
            </a:r>
            <a:r>
              <a:rPr lang="it-IT" sz="1200" baseline="0" b="1" i="1" dirty="0" spc="220">
                <a:solidFill>
                  <a:srgbClr val="000000"/>
                </a:solidFill>
                <a:latin typeface="Calibri-BoldItalic" pitchFamily="0" charset="1"/>
              </a:rPr>
              <a:t> </a:t>
            </a:r>
            <a:r>
              <a:rPr lang="it-IT" sz="1200" baseline="0" b="1" i="1" dirty="0" spc="0">
                <a:solidFill>
                  <a:srgbClr val="000000"/>
                </a:solidFill>
                <a:latin typeface="Calibri-BoldItalic" pitchFamily="0" charset="1"/>
              </a:rPr>
              <a:t>4.1</a:t>
            </a:r>
            <a:r>
              <a:rPr lang="it-IT" sz="1200" baseline="0" b="1" i="1" dirty="0" spc="220">
                <a:solidFill>
                  <a:srgbClr val="000000"/>
                </a:solidFill>
                <a:latin typeface="Calibri-BoldItalic" pitchFamily="0" charset="1"/>
              </a:rPr>
              <a:t> </a:t>
            </a:r>
            <a:r>
              <a:rPr lang="it-IT" sz="1200" baseline="0" b="1" i="1" dirty="0" spc="0">
                <a:solidFill>
                  <a:srgbClr val="000000"/>
                </a:solidFill>
                <a:latin typeface="Calibri-BoldItalic" pitchFamily="0" charset="1"/>
              </a:rPr>
              <a:t>Intervento</a:t>
            </a:r>
            <a:r>
              <a:rPr lang="it-IT" sz="1200" baseline="0" b="1" i="1" dirty="0" spc="232">
                <a:solidFill>
                  <a:srgbClr val="000000"/>
                </a:solidFill>
                <a:latin typeface="Calibri-BoldItalic" pitchFamily="0" charset="1"/>
              </a:rPr>
              <a:t> </a:t>
            </a:r>
            <a:r>
              <a:rPr lang="it-IT" sz="1200" baseline="0" b="1" i="1" dirty="0" spc="0">
                <a:solidFill>
                  <a:srgbClr val="000000"/>
                </a:solidFill>
                <a:latin typeface="Calibri-BoldItalic" pitchFamily="0" charset="1"/>
              </a:rPr>
              <a:t>chirurgico</a:t>
            </a:r>
            <a:r>
              <a:rPr lang="it-IT" sz="1200" baseline="0" b="1" i="1" dirty="0" spc="244">
                <a:solidFill>
                  <a:srgbClr val="000000"/>
                </a:solidFill>
                <a:latin typeface="Calibri-BoldItalic" pitchFamily="0" charset="1"/>
              </a:rPr>
              <a:t> </a:t>
            </a:r>
            <a:r>
              <a:rPr lang="it-IT" sz="1200" baseline="0" b="1" i="1" dirty="0" spc="0">
                <a:solidFill>
                  <a:srgbClr val="000000"/>
                </a:solidFill>
                <a:latin typeface="Calibri-BoldItalic" pitchFamily="0" charset="1"/>
              </a:rPr>
              <a:t>effettuato</a:t>
            </a:r>
            <a:r>
              <a:rPr lang="it-IT" sz="1200" baseline="0" b="1" i="1" dirty="0" spc="208">
                <a:solidFill>
                  <a:srgbClr val="000000"/>
                </a:solidFill>
                <a:latin typeface="Calibri-BoldItalic" pitchFamily="0" charset="1"/>
              </a:rPr>
              <a:t> </a:t>
            </a:r>
            <a:r>
              <a:rPr lang="it-IT" sz="1200" baseline="0" b="1" i="1" dirty="0" spc="0">
                <a:solidFill>
                  <a:srgbClr val="000000"/>
                </a:solidFill>
                <a:latin typeface="Calibri-BoldItalic" pitchFamily="0" charset="1"/>
              </a:rPr>
              <a:t>in</a:t>
            </a:r>
            <a:r>
              <a:rPr lang="it-IT" sz="1200" baseline="0" b="1" i="1" dirty="0" spc="220">
                <a:solidFill>
                  <a:srgbClr val="000000"/>
                </a:solidFill>
                <a:latin typeface="Calibri-BoldItalic" pitchFamily="0" charset="1"/>
              </a:rPr>
              <a:t> </a:t>
            </a:r>
            <a:r>
              <a:rPr lang="it-IT" sz="1200" baseline="0" b="1" i="1" dirty="0" spc="0">
                <a:solidFill>
                  <a:srgbClr val="000000"/>
                </a:solidFill>
                <a:latin typeface="Calibri-BoldItalic" pitchFamily="0" charset="1"/>
              </a:rPr>
              <a:t>regime</a:t>
            </a:r>
            <a:r>
              <a:rPr lang="it-IT" sz="1200" baseline="0" b="1" i="1" dirty="0" spc="220">
                <a:solidFill>
                  <a:srgbClr val="000000"/>
                </a:solidFill>
                <a:latin typeface="Calibri-BoldItalic" pitchFamily="0" charset="1"/>
              </a:rPr>
              <a:t> </a:t>
            </a:r>
            <a:r>
              <a:rPr lang="it-IT" sz="1200" baseline="0" b="1" i="1" dirty="0" spc="0">
                <a:solidFill>
                  <a:srgbClr val="000000"/>
                </a:solidFill>
                <a:latin typeface="Calibri-BoldItalic" pitchFamily="0" charset="1"/>
              </a:rPr>
              <a:t>di</a:t>
            </a:r>
            <a:r>
              <a:rPr lang="it-IT" sz="1200" baseline="0" b="1" i="1" dirty="0" spc="232">
                <a:solidFill>
                  <a:srgbClr val="000000"/>
                </a:solidFill>
                <a:latin typeface="Calibri-BoldItalic" pitchFamily="0" charset="1"/>
              </a:rPr>
              <a:t> </a:t>
            </a:r>
            <a:r>
              <a:rPr lang="it-IT" sz="1200" baseline="0" b="1" i="1" dirty="0" spc="0">
                <a:solidFill>
                  <a:srgbClr val="000000"/>
                </a:solidFill>
                <a:latin typeface="Calibri-BoldItalic" pitchFamily="0" charset="1"/>
              </a:rPr>
              <a:t>ricovero</a:t>
            </a:r>
            <a:r>
              <a:rPr lang="it-IT" sz="1200" baseline="0" b="1" i="1" dirty="0" spc="220">
                <a:solidFill>
                  <a:srgbClr val="000000"/>
                </a:solidFill>
                <a:latin typeface="Calibri-BoldItalic" pitchFamily="0" charset="1"/>
              </a:rPr>
              <a:t> </a:t>
            </a:r>
            <a:r>
              <a:rPr lang="it-IT" sz="1200" baseline="0" b="1" i="1" dirty="0" spc="0">
                <a:solidFill>
                  <a:srgbClr val="000000"/>
                </a:solidFill>
                <a:latin typeface="Calibri-BoldItalic" pitchFamily="0" charset="1"/>
              </a:rPr>
              <a:t>in</a:t>
            </a:r>
            <a:r>
              <a:rPr lang="it-IT" sz="1200" baseline="0" b="1" i="1" dirty="0" spc="220">
                <a:solidFill>
                  <a:srgbClr val="000000"/>
                </a:solidFill>
                <a:latin typeface="Calibri-BoldItalic" pitchFamily="0" charset="1"/>
              </a:rPr>
              <a:t> </a:t>
            </a:r>
            <a:r>
              <a:rPr lang="it-IT" sz="1200" baseline="0" b="1" i="1" dirty="0" spc="0">
                <a:solidFill>
                  <a:srgbClr val="000000"/>
                </a:solidFill>
                <a:latin typeface="Calibri-BoldItalic" pitchFamily="0" charset="1"/>
              </a:rPr>
              <a:t>istituto</a:t>
            </a:r>
            <a:r>
              <a:rPr lang="it-IT" sz="1200" baseline="0" b="1" i="1" dirty="0" spc="220">
                <a:solidFill>
                  <a:srgbClr val="000000"/>
                </a:solidFill>
                <a:latin typeface="Calibri-BoldItalic" pitchFamily="0" charset="1"/>
              </a:rPr>
              <a:t> </a:t>
            </a:r>
            <a:r>
              <a:rPr lang="it-IT" sz="1200" baseline="0" b="1" i="1" dirty="0" spc="0">
                <a:solidFill>
                  <a:srgbClr val="000000"/>
                </a:solidFill>
                <a:latin typeface="Calibri-BoldItalic" pitchFamily="0" charset="1"/>
              </a:rPr>
              <a:t>di</a:t>
            </a:r>
            <a:r>
              <a:rPr lang="it-IT" sz="1200" baseline="0" b="1" i="1" dirty="0" spc="220">
                <a:solidFill>
                  <a:srgbClr val="000000"/>
                </a:solidFill>
                <a:latin typeface="Calibri-BoldItalic" pitchFamily="0" charset="1"/>
              </a:rPr>
              <a:t> </a:t>
            </a:r>
            <a:r>
              <a:rPr lang="it-IT" sz="1200" baseline="0" b="1" i="1" dirty="0" spc="0">
                <a:solidFill>
                  <a:srgbClr val="000000"/>
                </a:solidFill>
                <a:latin typeface="Calibri-BoldItalic" pitchFamily="0" charset="1"/>
              </a:rPr>
              <a:t>cura,</a:t>
            </a:r>
            <a:r>
              <a:rPr lang="it-IT" sz="1200" baseline="0" b="1" i="1" dirty="0" spc="220">
                <a:solidFill>
                  <a:srgbClr val="000000"/>
                </a:solidFill>
                <a:latin typeface="Calibri-BoldItalic" pitchFamily="0" charset="1"/>
              </a:rPr>
              <a:t> </a:t>
            </a:r>
            <a:r>
              <a:rPr lang="it-IT" sz="1200" baseline="0" b="1" i="1" dirty="0" spc="0">
                <a:solidFill>
                  <a:srgbClr val="000000"/>
                </a:solidFill>
                <a:latin typeface="Calibri-BoldItalic" pitchFamily="0" charset="1"/>
              </a:rPr>
              <a:t>Day</a:t>
            </a:r>
            <a:r>
              <a:rPr lang="it-IT" sz="1200" baseline="0" b="1" i="1" dirty="0" spc="220">
                <a:solidFill>
                  <a:srgbClr val="000000"/>
                </a:solidFill>
                <a:latin typeface="Calibri-BoldItalic" pitchFamily="0" charset="1"/>
              </a:rPr>
              <a:t> </a:t>
            </a:r>
            <a:r>
              <a:rPr lang="it-IT" sz="1200" baseline="0" b="1" i="1" dirty="0" spc="0">
                <a:solidFill>
                  <a:srgbClr val="000000"/>
                </a:solidFill>
                <a:latin typeface="Calibri-BoldItalic" pitchFamily="0" charset="1"/>
              </a:rPr>
              <a:t>Hospital</a:t>
            </a:r>
            <a:r>
              <a:rPr lang="it-IT" sz="1200" baseline="0" b="1" i="1" dirty="0" spc="220">
                <a:solidFill>
                  <a:srgbClr val="000000"/>
                </a:solidFill>
                <a:latin typeface="Calibri-BoldItalic" pitchFamily="0" charset="1"/>
              </a:rPr>
              <a:t> </a:t>
            </a:r>
            <a:r>
              <a:rPr lang="it-IT" sz="1200" baseline="0" b="1" i="1" dirty="0" spc="0">
                <a:solidFill>
                  <a:srgbClr val="000000"/>
                </a:solidFill>
                <a:latin typeface="Calibri-BoldItalic" pitchFamily="0" charset="1"/>
              </a:rPr>
              <a:t>o</a:t>
            </a:r>
            <a:r>
              <a:rPr lang="it-IT" sz="1200" baseline="0" b="1" i="1" dirty="0" spc="268">
                <a:solidFill>
                  <a:srgbClr val="000000"/>
                </a:solidFill>
                <a:latin typeface="Calibri-BoldItalic" pitchFamily="0" charset="1"/>
              </a:rPr>
              <a:t> </a:t>
            </a:r>
            <a:r>
              <a:rPr lang="it-IT" sz="1200" baseline="0" b="1" i="1" dirty="0" spc="0">
                <a:solidFill>
                  <a:srgbClr val="000000"/>
                </a:solidFill>
                <a:latin typeface="Calibri-BoldItalic" pitchFamily="0" charset="1"/>
              </a:rPr>
              <a:t>in </a:t>
            </a:r>
          </a:p>
          <a:p>
            <a:pPr marL="0">
              <a:lnSpc>
                <a:spcPts val="1463"/>
              </a:lnSpc>
            </a:pPr>
            <a:r>
              <a:rPr lang="it-IT" sz="1200" baseline="0" b="1" i="1" dirty="0" spc="0">
                <a:solidFill>
                  <a:srgbClr val="000000"/>
                </a:solidFill>
                <a:latin typeface="Calibri-BoldItalic" pitchFamily="0" charset="1"/>
              </a:rPr>
              <a:t>ambulatorio: </a:t>
            </a:r>
          </a:p>
          <a:p>
            <a:pPr marL="129540">
              <a:lnSpc>
                <a:spcPts val="1172"/>
              </a:lnSpc>
              <a:tabLst>
                <a:tab pos="310895" algn="l"/>
              </a:tabLst>
            </a:pPr>
            <a:r>
              <a:rPr lang="it-IT" sz="996" baseline="0" b="0" i="0" dirty="0" spc="-8">
                <a:solidFill>
                  <a:srgbClr val="000000"/>
                </a:solidFill>
                <a:latin typeface="Arial" pitchFamily="0" charset="1"/>
              </a:rPr>
              <a:t>-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	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onorari</a:t>
            </a:r>
            <a:r>
              <a:rPr lang="it-IT" sz="996" baseline="0" b="0" i="0" dirty="0" spc="179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dell’équipe</a:t>
            </a:r>
            <a:r>
              <a:rPr lang="it-IT" sz="996" baseline="0" b="0" i="0" dirty="0" spc="155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chirurgica,</a:t>
            </a:r>
            <a:r>
              <a:rPr lang="it-IT" sz="996" baseline="0" b="0" i="0" dirty="0" spc="155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i</a:t>
            </a:r>
            <a:r>
              <a:rPr lang="it-IT" sz="996" baseline="0" b="0" i="0" dirty="0" spc="170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diritti</a:t>
            </a:r>
            <a:r>
              <a:rPr lang="it-IT" sz="996" baseline="0" b="0" i="0" dirty="0" spc="179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di</a:t>
            </a:r>
            <a:r>
              <a:rPr lang="it-IT" sz="996" baseline="0" b="0" i="0" dirty="0" spc="167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sala</a:t>
            </a:r>
            <a:r>
              <a:rPr lang="it-IT" sz="996" baseline="0" b="0" i="0" dirty="0" spc="155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operatoria</a:t>
            </a:r>
            <a:r>
              <a:rPr lang="it-IT" sz="996" baseline="0" b="0" i="0" dirty="0" spc="191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ed</a:t>
            </a:r>
            <a:r>
              <a:rPr lang="it-IT" sz="996" baseline="0" b="0" i="0" dirty="0" spc="155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i</a:t>
            </a:r>
            <a:r>
              <a:rPr lang="it-IT" sz="996" baseline="0" b="0" i="0" dirty="0" spc="169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materiali</a:t>
            </a:r>
            <a:r>
              <a:rPr lang="it-IT" sz="996" baseline="0" b="0" i="0" dirty="0" spc="167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di</a:t>
            </a:r>
            <a:r>
              <a:rPr lang="it-IT" sz="996" baseline="0" b="0" i="0" dirty="0" spc="155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intervento,</a:t>
            </a:r>
            <a:r>
              <a:rPr lang="it-IT" sz="996" baseline="0" b="0" i="0" dirty="0" spc="191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comprese</a:t>
            </a:r>
            <a:r>
              <a:rPr lang="it-IT" sz="996" baseline="0" b="0" i="0" dirty="0" spc="191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le</a:t>
            </a:r>
            <a:r>
              <a:rPr lang="it-IT" sz="996" baseline="0" b="0" i="0" dirty="0" spc="191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endoprotesi </a:t>
            </a:r>
          </a:p>
          <a:p>
            <a:pPr marL="310895">
              <a:lnSpc>
                <a:spcPts val="1139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applicate</a:t>
            </a:r>
            <a:r>
              <a:rPr lang="it-IT" sz="996" baseline="0" b="0" i="0" dirty="0" spc="250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durante</a:t>
            </a:r>
            <a:r>
              <a:rPr lang="it-IT" sz="996" baseline="0" b="0" i="0" dirty="0" spc="275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l’intervento;</a:t>
            </a:r>
            <a:r>
              <a:rPr lang="it-IT" sz="996" baseline="0" b="0" i="0" dirty="0" spc="275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le</a:t>
            </a:r>
            <a:r>
              <a:rPr lang="it-IT" sz="996" baseline="0" b="1" i="0" dirty="0" spc="287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spese</a:t>
            </a:r>
            <a:r>
              <a:rPr lang="it-IT" sz="996" baseline="0" b="1" i="0" dirty="0" spc="263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per</a:t>
            </a:r>
            <a:r>
              <a:rPr lang="it-IT" sz="996" baseline="0" b="1" i="0" dirty="0" spc="263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interventi</a:t>
            </a:r>
            <a:r>
              <a:rPr lang="it-IT" sz="996" baseline="0" b="1" i="0" dirty="0" spc="275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chirurgici</a:t>
            </a:r>
            <a:r>
              <a:rPr lang="it-IT" sz="996" baseline="0" b="1" i="0" dirty="0" spc="275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con</a:t>
            </a:r>
            <a:r>
              <a:rPr lang="it-IT" sz="996" baseline="0" b="1" i="0" dirty="0" spc="263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utilizzo</a:t>
            </a:r>
            <a:r>
              <a:rPr lang="it-IT" sz="996" baseline="0" b="1" i="0" dirty="0" spc="251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di</a:t>
            </a:r>
            <a:r>
              <a:rPr lang="it-IT" sz="996" baseline="0" b="1" i="0" dirty="0" spc="251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tecnica</a:t>
            </a:r>
            <a:r>
              <a:rPr lang="it-IT" sz="996" baseline="0" b="1" i="0" dirty="0" spc="251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robotica</a:t>
            </a:r>
            <a:r>
              <a:rPr lang="it-IT" sz="996" baseline="0" b="1" i="0" dirty="0" spc="251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sono </a:t>
            </a:r>
          </a:p>
          <a:p>
            <a:pPr marL="310895">
              <a:lnSpc>
                <a:spcPts val="1151"/>
              </a:lnSpc>
            </a:pP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riconosciuti solo se effettuati in strutture convenzionate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; </a:t>
            </a:r>
          </a:p>
          <a:p>
            <a:pPr marL="140208">
              <a:lnSpc>
                <a:spcPts val="1152"/>
              </a:lnSpc>
            </a:pPr>
            <a:r>
              <a:rPr lang="it-IT" sz="996" baseline="0" b="0" i="0" dirty="0" spc="-8">
                <a:solidFill>
                  <a:srgbClr val="000000"/>
                </a:solidFill>
                <a:latin typeface="Arial" pitchFamily="0" charset="1"/>
              </a:rPr>
              <a:t>-</a:t>
            </a:r>
            <a:r>
              <a:rPr lang="it-IT" sz="996" baseline="0" b="0" i="0" dirty="0" spc="750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assistenza medica ed infermieristica, cure, trattamenti fisioterapici e rieducativi, medicinali, esami e accertamenti </a:t>
            </a:r>
          </a:p>
          <a:p>
            <a:pPr marL="310895">
              <a:lnSpc>
                <a:spcPts val="1151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diagnostici, riguardanti il periodo di ricovero o sostenuti durante il Day Hospital o in ambulatorio per l’intervento </a:t>
            </a:r>
          </a:p>
          <a:p>
            <a:pPr marL="310895">
              <a:lnSpc>
                <a:spcPts val="1151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chirurgico; </a:t>
            </a:r>
          </a:p>
          <a:p>
            <a:pPr marL="140208">
              <a:lnSpc>
                <a:spcPts val="1152"/>
              </a:lnSpc>
            </a:pPr>
            <a:r>
              <a:rPr lang="it-IT" sz="996" baseline="0" b="0" i="0" dirty="0" spc="-8">
                <a:solidFill>
                  <a:srgbClr val="000000"/>
                </a:solidFill>
                <a:latin typeface="Arial" pitchFamily="0" charset="1"/>
              </a:rPr>
              <a:t>-</a:t>
            </a:r>
            <a:r>
              <a:rPr lang="it-IT" sz="996" baseline="0" b="0" i="0" dirty="0" spc="750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rette di degenza; </a:t>
            </a:r>
          </a:p>
          <a:p>
            <a:pPr marL="140208">
              <a:lnSpc>
                <a:spcPts val="1139"/>
              </a:lnSpc>
            </a:pPr>
            <a:r>
              <a:rPr lang="it-IT" sz="996" baseline="0" b="0" i="0" dirty="0" spc="-8">
                <a:solidFill>
                  <a:srgbClr val="000000"/>
                </a:solidFill>
                <a:latin typeface="Arial" pitchFamily="0" charset="1"/>
              </a:rPr>
              <a:t>-</a:t>
            </a:r>
            <a:r>
              <a:rPr lang="it-IT" sz="996" baseline="0" b="0" i="0" dirty="0" spc="750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esami, accertamenti diagnostici e visite specialistiche, 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effettuati nei 90 giorni precedenti la data 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dell’intervento </a:t>
            </a:r>
          </a:p>
          <a:p>
            <a:pPr marL="310895">
              <a:lnSpc>
                <a:spcPts val="1152"/>
              </a:lnSpc>
            </a:pP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chirurgico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o il ricovero in istituto di cura, purché direttamente inerenti alla malattia o all’infortunio che ha deter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- </a:t>
            </a:r>
          </a:p>
          <a:p>
            <a:pPr marL="310895">
              <a:lnSpc>
                <a:spcPts val="115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minato il ricorso alle prestazioni; </a:t>
            </a:r>
          </a:p>
          <a:p>
            <a:pPr marL="140208">
              <a:lnSpc>
                <a:spcPts val="1151"/>
              </a:lnSpc>
            </a:pPr>
            <a:r>
              <a:rPr lang="it-IT" sz="996" baseline="0" b="0" i="0" dirty="0" spc="-8">
                <a:solidFill>
                  <a:srgbClr val="000000"/>
                </a:solidFill>
                <a:latin typeface="Arial" pitchFamily="0" charset="1"/>
              </a:rPr>
              <a:t>-</a:t>
            </a:r>
            <a:r>
              <a:rPr lang="it-IT" sz="996" baseline="0" b="0" i="0" dirty="0" spc="750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esami e visite specialistiche, medicine, prestazioni mediche ed infermieristiche, acquisto e/o noleggio di apparec- </a:t>
            </a:r>
          </a:p>
          <a:p>
            <a:pPr marL="365759">
              <a:lnSpc>
                <a:spcPts val="115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chi protesici e sanitari comprese le carrozzelle ortopediche, trattamenti fisioterapici o rieducativi, cure termali </a:t>
            </a:r>
          </a:p>
          <a:p>
            <a:pPr marL="365759">
              <a:lnSpc>
                <a:spcPts val="115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(escluse in ogni caso le spese di natura alberghiera), 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effettuati nei 120 giorni successivi alla data dell’inter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- </a:t>
            </a:r>
          </a:p>
          <a:p>
            <a:pPr marL="365759">
              <a:lnSpc>
                <a:spcPts val="1139"/>
              </a:lnSpc>
            </a:pP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vento</a:t>
            </a:r>
            <a:r>
              <a:rPr lang="it-IT" sz="996" baseline="0" b="1" i="0" dirty="0" spc="287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o</a:t>
            </a:r>
            <a:r>
              <a:rPr lang="it-IT" sz="996" baseline="0" b="0" i="0" dirty="0" spc="275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della</a:t>
            </a:r>
            <a:r>
              <a:rPr lang="it-IT" sz="996" baseline="0" b="0" i="0" dirty="0" spc="275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dimissione</a:t>
            </a:r>
            <a:r>
              <a:rPr lang="it-IT" sz="996" baseline="0" b="0" i="0" dirty="0" spc="287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dal</a:t>
            </a:r>
            <a:r>
              <a:rPr lang="it-IT" sz="996" baseline="0" b="0" i="0" dirty="0" spc="266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ricovero,</a:t>
            </a:r>
            <a:r>
              <a:rPr lang="it-IT" sz="996" baseline="0" b="0" i="0" dirty="0" spc="287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purché</a:t>
            </a:r>
            <a:r>
              <a:rPr lang="it-IT" sz="996" baseline="0" b="0" i="0" dirty="0" spc="263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direttamente</a:t>
            </a:r>
            <a:r>
              <a:rPr lang="it-IT" sz="996" baseline="0" b="0" i="0" dirty="0" spc="275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inerenti</a:t>
            </a:r>
            <a:r>
              <a:rPr lang="it-IT" sz="996" baseline="0" b="0" i="0" dirty="0" spc="275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alla</a:t>
            </a:r>
            <a:r>
              <a:rPr lang="it-IT" sz="996" baseline="0" b="0" i="0" dirty="0" spc="287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malattia</a:t>
            </a:r>
            <a:r>
              <a:rPr lang="it-IT" sz="996" baseline="0" b="0" i="0" dirty="0" spc="275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o</a:t>
            </a:r>
            <a:r>
              <a:rPr lang="it-IT" sz="996" baseline="0" b="0" i="0" dirty="0" spc="275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all’infortunio</a:t>
            </a:r>
            <a:r>
              <a:rPr lang="it-IT" sz="996" baseline="0" b="0" i="0" dirty="0" spc="275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che</a:t>
            </a:r>
            <a:r>
              <a:rPr lang="it-IT" sz="996" baseline="0" b="0" i="0" dirty="0" spc="275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ha </a:t>
            </a:r>
          </a:p>
          <a:p>
            <a:pPr marL="365759">
              <a:lnSpc>
                <a:spcPts val="1154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determinato il ricorso alle prestazioni; </a:t>
            </a:r>
          </a:p>
          <a:p>
            <a:pPr marL="140208">
              <a:lnSpc>
                <a:spcPts val="1151"/>
              </a:lnSpc>
              <a:tabLst>
                <a:tab pos="365759" algn="l"/>
              </a:tabLst>
            </a:pPr>
            <a:r>
              <a:rPr lang="it-IT" sz="996" baseline="0" b="0" i="0" dirty="0" spc="-8">
                <a:solidFill>
                  <a:srgbClr val="000000"/>
                </a:solidFill>
                <a:latin typeface="Arial" pitchFamily="0" charset="1"/>
              </a:rPr>
              <a:t>-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	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prelievo di organi o parte di essi; ricovero relativo al donatore e gli accertamenti diagnostici, assistenza medica </a:t>
            </a:r>
          </a:p>
          <a:p>
            <a:pPr marL="365759">
              <a:lnSpc>
                <a:spcPts val="115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ed infermieristica, intervento chirurgico di espianto, cure, medicinali e rette di degenza; </a:t>
            </a:r>
          </a:p>
          <a:p>
            <a:pPr marL="140208">
              <a:lnSpc>
                <a:spcPts val="1152"/>
              </a:lnSpc>
              <a:tabLst>
                <a:tab pos="365759" algn="l"/>
              </a:tabLst>
            </a:pPr>
            <a:r>
              <a:rPr lang="it-IT" sz="996" baseline="0" b="0" i="0" dirty="0" spc="-8">
                <a:solidFill>
                  <a:srgbClr val="000000"/>
                </a:solidFill>
                <a:latin typeface="Arial" pitchFamily="0" charset="1"/>
              </a:rPr>
              <a:t>-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	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vitto e pernottamento in istituto di cura, o struttura alberghiera ove non sussista disponibilità ospedaliera, per </a:t>
            </a:r>
          </a:p>
          <a:p>
            <a:pPr marL="365759">
              <a:lnSpc>
                <a:spcPts val="1139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un accompagnatore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dell’Assicurato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con il 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limite giornaliero di 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€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 60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e per una durata non superiore al ricovero, </a:t>
            </a:r>
          </a:p>
          <a:p>
            <a:pPr marL="365759">
              <a:lnSpc>
                <a:spcPts val="115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con un 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massimo di 30 giorni per annualità assicurativa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; </a:t>
            </a:r>
          </a:p>
          <a:p>
            <a:pPr marL="140208">
              <a:lnSpc>
                <a:spcPts val="1151"/>
              </a:lnSpc>
              <a:tabLst>
                <a:tab pos="365759" algn="l"/>
              </a:tabLst>
            </a:pPr>
            <a:r>
              <a:rPr lang="it-IT" sz="996" baseline="0" b="0" i="0" dirty="0" spc="-8">
                <a:solidFill>
                  <a:srgbClr val="000000"/>
                </a:solidFill>
                <a:latin typeface="Arial" pitchFamily="0" charset="1"/>
              </a:rPr>
              <a:t>-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	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trasporto</a:t>
            </a:r>
            <a:r>
              <a:rPr lang="it-IT" sz="996" baseline="0" b="0" i="0" dirty="0" spc="263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dell’Assicurato</a:t>
            </a:r>
            <a:r>
              <a:rPr lang="it-IT" sz="996" baseline="0" b="0" i="0" dirty="0" spc="275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in</a:t>
            </a:r>
            <a:r>
              <a:rPr lang="it-IT" sz="996" baseline="0" b="0" i="0" dirty="0" spc="263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autoambulanza</a:t>
            </a:r>
            <a:r>
              <a:rPr lang="it-IT" sz="996" baseline="0" b="0" i="0" dirty="0" spc="263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all’istituto</a:t>
            </a:r>
            <a:r>
              <a:rPr lang="it-IT" sz="996" baseline="0" b="0" i="0" dirty="0" spc="263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di</a:t>
            </a:r>
            <a:r>
              <a:rPr lang="it-IT" sz="996" baseline="0" b="0" i="0" dirty="0" spc="263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cura</a:t>
            </a:r>
            <a:r>
              <a:rPr lang="it-IT" sz="996" baseline="0" b="0" i="0" dirty="0" spc="263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e</a:t>
            </a:r>
            <a:r>
              <a:rPr lang="it-IT" sz="996" baseline="0" b="0" i="0" dirty="0" spc="263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viceversa,</a:t>
            </a:r>
            <a:r>
              <a:rPr lang="it-IT" sz="996" baseline="0" b="0" i="0" dirty="0" spc="263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col</a:t>
            </a:r>
            <a:r>
              <a:rPr lang="it-IT" sz="996" baseline="0" b="0" i="0" dirty="0" spc="251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massimo</a:t>
            </a:r>
            <a:r>
              <a:rPr lang="it-IT" sz="996" baseline="0" b="1" i="0" dirty="0" spc="263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di</a:t>
            </a:r>
            <a:r>
              <a:rPr lang="it-IT" sz="996" baseline="0" b="1" i="0" dirty="0" spc="263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€</a:t>
            </a:r>
            <a:r>
              <a:rPr lang="it-IT" sz="996" baseline="0" b="1" i="0" dirty="0" spc="263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1.100</a:t>
            </a:r>
            <a:r>
              <a:rPr lang="it-IT" sz="996" baseline="0" b="1" i="0" dirty="0" spc="263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per </a:t>
            </a:r>
          </a:p>
          <a:p>
            <a:pPr marL="365759">
              <a:lnSpc>
                <a:spcPts val="1152"/>
              </a:lnSpc>
            </a:pP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intervento o ricovero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;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73" name="Freeform 273"/>
          <p:cNvSpPr/>
          <p:nvPr/>
        </p:nvSpPr>
        <p:spPr>
          <a:xfrm rot="0" flipH="0" flipV="0">
            <a:off x="633983" y="2138427"/>
            <a:ext cx="6096" cy="6096"/>
          </a:xfrm>
          <a:custGeom>
            <a:pathLst>
              <a:path w="6096" h="6096">
                <a:moveTo>
                  <a:pt x="0" y="6096"/>
                </a:moveTo>
                <a:lnTo>
                  <a:pt x="6096" y="6096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4" name="Freeform 274"/>
          <p:cNvSpPr/>
          <p:nvPr/>
        </p:nvSpPr>
        <p:spPr>
          <a:xfrm rot="0" flipH="0" flipV="0">
            <a:off x="633983" y="2138427"/>
            <a:ext cx="6096" cy="6096"/>
          </a:xfrm>
          <a:custGeom>
            <a:pathLst>
              <a:path w="6096" h="6096">
                <a:moveTo>
                  <a:pt x="0" y="6096"/>
                </a:moveTo>
                <a:lnTo>
                  <a:pt x="6096" y="6096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5" name="Freeform 275"/>
          <p:cNvSpPr/>
          <p:nvPr/>
        </p:nvSpPr>
        <p:spPr>
          <a:xfrm rot="0" flipH="0" flipV="0">
            <a:off x="640080" y="2138427"/>
            <a:ext cx="5216016" cy="6096"/>
          </a:xfrm>
          <a:custGeom>
            <a:pathLst>
              <a:path w="5216016" h="6096">
                <a:moveTo>
                  <a:pt x="0" y="6096"/>
                </a:moveTo>
                <a:lnTo>
                  <a:pt x="5216016" y="6096"/>
                </a:lnTo>
                <a:lnTo>
                  <a:pt x="5216016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6" name="Freeform 276"/>
          <p:cNvSpPr/>
          <p:nvPr/>
        </p:nvSpPr>
        <p:spPr>
          <a:xfrm rot="0" flipH="0" flipV="0">
            <a:off x="5856096" y="2138427"/>
            <a:ext cx="6096" cy="6096"/>
          </a:xfrm>
          <a:custGeom>
            <a:pathLst>
              <a:path w="6096" h="6096">
                <a:moveTo>
                  <a:pt x="0" y="6096"/>
                </a:moveTo>
                <a:lnTo>
                  <a:pt x="6096" y="6096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7" name="Freeform 277"/>
          <p:cNvSpPr/>
          <p:nvPr/>
        </p:nvSpPr>
        <p:spPr>
          <a:xfrm rot="0" flipH="0" flipV="0">
            <a:off x="5862192" y="2138427"/>
            <a:ext cx="1164641" cy="6096"/>
          </a:xfrm>
          <a:custGeom>
            <a:pathLst>
              <a:path w="1164641" h="6096">
                <a:moveTo>
                  <a:pt x="0" y="6096"/>
                </a:moveTo>
                <a:lnTo>
                  <a:pt x="1164641" y="6096"/>
                </a:lnTo>
                <a:lnTo>
                  <a:pt x="1164641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8" name="Freeform 278"/>
          <p:cNvSpPr/>
          <p:nvPr/>
        </p:nvSpPr>
        <p:spPr>
          <a:xfrm rot="0" flipH="0" flipV="0">
            <a:off x="7026909" y="2138427"/>
            <a:ext cx="6096" cy="6096"/>
          </a:xfrm>
          <a:custGeom>
            <a:pathLst>
              <a:path w="6096" h="6096">
                <a:moveTo>
                  <a:pt x="0" y="6096"/>
                </a:moveTo>
                <a:lnTo>
                  <a:pt x="6096" y="6096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9" name="Freeform 279"/>
          <p:cNvSpPr/>
          <p:nvPr/>
        </p:nvSpPr>
        <p:spPr>
          <a:xfrm rot="0" flipH="0" flipV="0">
            <a:off x="7026909" y="2138427"/>
            <a:ext cx="6096" cy="6096"/>
          </a:xfrm>
          <a:custGeom>
            <a:pathLst>
              <a:path w="6096" h="6096">
                <a:moveTo>
                  <a:pt x="0" y="6096"/>
                </a:moveTo>
                <a:lnTo>
                  <a:pt x="6096" y="6096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80" name="Freeform 280"/>
          <p:cNvSpPr/>
          <p:nvPr/>
        </p:nvSpPr>
        <p:spPr>
          <a:xfrm rot="0" flipH="0" flipV="0">
            <a:off x="633983" y="2144523"/>
            <a:ext cx="6096" cy="292608"/>
          </a:xfrm>
          <a:custGeom>
            <a:pathLst>
              <a:path w="6096" h="292608">
                <a:moveTo>
                  <a:pt x="0" y="292608"/>
                </a:moveTo>
                <a:lnTo>
                  <a:pt x="6096" y="292608"/>
                </a:lnTo>
                <a:lnTo>
                  <a:pt x="6096" y="0"/>
                </a:lnTo>
                <a:lnTo>
                  <a:pt x="0" y="0"/>
                </a:lnTo>
                <a:lnTo>
                  <a:pt x="0" y="292608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81" name="Freeform 281"/>
          <p:cNvSpPr/>
          <p:nvPr/>
        </p:nvSpPr>
        <p:spPr>
          <a:xfrm rot="0" flipH="0" flipV="0">
            <a:off x="5856096" y="2144523"/>
            <a:ext cx="6096" cy="292608"/>
          </a:xfrm>
          <a:custGeom>
            <a:pathLst>
              <a:path w="6096" h="292608">
                <a:moveTo>
                  <a:pt x="0" y="292608"/>
                </a:moveTo>
                <a:lnTo>
                  <a:pt x="6096" y="292608"/>
                </a:lnTo>
                <a:lnTo>
                  <a:pt x="6096" y="0"/>
                </a:lnTo>
                <a:lnTo>
                  <a:pt x="0" y="0"/>
                </a:lnTo>
                <a:lnTo>
                  <a:pt x="0" y="292608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82" name="Freeform 282"/>
          <p:cNvSpPr/>
          <p:nvPr/>
        </p:nvSpPr>
        <p:spPr>
          <a:xfrm rot="0" flipH="0" flipV="0">
            <a:off x="7026909" y="2144523"/>
            <a:ext cx="6096" cy="292608"/>
          </a:xfrm>
          <a:custGeom>
            <a:pathLst>
              <a:path w="6096" h="292608">
                <a:moveTo>
                  <a:pt x="0" y="292608"/>
                </a:moveTo>
                <a:lnTo>
                  <a:pt x="6096" y="292608"/>
                </a:lnTo>
                <a:lnTo>
                  <a:pt x="6096" y="0"/>
                </a:lnTo>
                <a:lnTo>
                  <a:pt x="0" y="0"/>
                </a:lnTo>
                <a:lnTo>
                  <a:pt x="0" y="292608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83" name="Freeform 283"/>
          <p:cNvSpPr/>
          <p:nvPr/>
        </p:nvSpPr>
        <p:spPr>
          <a:xfrm rot="0" flipH="0" flipV="0">
            <a:off x="633983" y="2437130"/>
            <a:ext cx="6096" cy="6096"/>
          </a:xfrm>
          <a:custGeom>
            <a:pathLst>
              <a:path w="6096" h="6096">
                <a:moveTo>
                  <a:pt x="0" y="6096"/>
                </a:moveTo>
                <a:lnTo>
                  <a:pt x="6096" y="6096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84" name="Freeform 284"/>
          <p:cNvSpPr/>
          <p:nvPr/>
        </p:nvSpPr>
        <p:spPr>
          <a:xfrm rot="0" flipH="0" flipV="0">
            <a:off x="640080" y="2437130"/>
            <a:ext cx="5216016" cy="6096"/>
          </a:xfrm>
          <a:custGeom>
            <a:pathLst>
              <a:path w="5216016" h="6096">
                <a:moveTo>
                  <a:pt x="0" y="6096"/>
                </a:moveTo>
                <a:lnTo>
                  <a:pt x="5216016" y="6096"/>
                </a:lnTo>
                <a:lnTo>
                  <a:pt x="5216016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85" name="Freeform 285"/>
          <p:cNvSpPr/>
          <p:nvPr/>
        </p:nvSpPr>
        <p:spPr>
          <a:xfrm rot="0" flipH="0" flipV="0">
            <a:off x="5856096" y="2437130"/>
            <a:ext cx="6096" cy="6096"/>
          </a:xfrm>
          <a:custGeom>
            <a:pathLst>
              <a:path w="6096" h="6096">
                <a:moveTo>
                  <a:pt x="0" y="6096"/>
                </a:moveTo>
                <a:lnTo>
                  <a:pt x="6096" y="6096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86" name="Freeform 286"/>
          <p:cNvSpPr/>
          <p:nvPr/>
        </p:nvSpPr>
        <p:spPr>
          <a:xfrm rot="0" flipH="0" flipV="0">
            <a:off x="5862192" y="2437130"/>
            <a:ext cx="1164641" cy="6096"/>
          </a:xfrm>
          <a:custGeom>
            <a:pathLst>
              <a:path w="1164641" h="6096">
                <a:moveTo>
                  <a:pt x="0" y="6096"/>
                </a:moveTo>
                <a:lnTo>
                  <a:pt x="1164641" y="6096"/>
                </a:lnTo>
                <a:lnTo>
                  <a:pt x="1164641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87" name="Freeform 287"/>
          <p:cNvSpPr/>
          <p:nvPr/>
        </p:nvSpPr>
        <p:spPr>
          <a:xfrm rot="0" flipH="0" flipV="0">
            <a:off x="7026909" y="2437130"/>
            <a:ext cx="6096" cy="6096"/>
          </a:xfrm>
          <a:custGeom>
            <a:pathLst>
              <a:path w="6096" h="6096">
                <a:moveTo>
                  <a:pt x="0" y="6096"/>
                </a:moveTo>
                <a:lnTo>
                  <a:pt x="6096" y="6096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88" name="Freeform 288"/>
          <p:cNvSpPr/>
          <p:nvPr/>
        </p:nvSpPr>
        <p:spPr>
          <a:xfrm rot="0" flipH="0" flipV="0">
            <a:off x="633983" y="2443303"/>
            <a:ext cx="6096" cy="768400"/>
          </a:xfrm>
          <a:custGeom>
            <a:pathLst>
              <a:path w="6096" h="768400">
                <a:moveTo>
                  <a:pt x="0" y="768400"/>
                </a:moveTo>
                <a:lnTo>
                  <a:pt x="6096" y="768400"/>
                </a:lnTo>
                <a:lnTo>
                  <a:pt x="6096" y="0"/>
                </a:lnTo>
                <a:lnTo>
                  <a:pt x="0" y="0"/>
                </a:lnTo>
                <a:lnTo>
                  <a:pt x="0" y="768400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89" name="Freeform 289"/>
          <p:cNvSpPr/>
          <p:nvPr/>
        </p:nvSpPr>
        <p:spPr>
          <a:xfrm rot="0" flipH="0" flipV="0">
            <a:off x="5856096" y="2443303"/>
            <a:ext cx="6096" cy="768400"/>
          </a:xfrm>
          <a:custGeom>
            <a:pathLst>
              <a:path w="6096" h="768400">
                <a:moveTo>
                  <a:pt x="0" y="768400"/>
                </a:moveTo>
                <a:lnTo>
                  <a:pt x="6096" y="768400"/>
                </a:lnTo>
                <a:lnTo>
                  <a:pt x="6096" y="0"/>
                </a:lnTo>
                <a:lnTo>
                  <a:pt x="0" y="0"/>
                </a:lnTo>
                <a:lnTo>
                  <a:pt x="0" y="768400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90" name="Freeform 290"/>
          <p:cNvSpPr/>
          <p:nvPr/>
        </p:nvSpPr>
        <p:spPr>
          <a:xfrm rot="0" flipH="0" flipV="0">
            <a:off x="7026909" y="2443303"/>
            <a:ext cx="6096" cy="768400"/>
          </a:xfrm>
          <a:custGeom>
            <a:pathLst>
              <a:path w="6096" h="768400">
                <a:moveTo>
                  <a:pt x="0" y="768400"/>
                </a:moveTo>
                <a:lnTo>
                  <a:pt x="6096" y="768400"/>
                </a:lnTo>
                <a:lnTo>
                  <a:pt x="6096" y="0"/>
                </a:lnTo>
                <a:lnTo>
                  <a:pt x="0" y="0"/>
                </a:lnTo>
                <a:lnTo>
                  <a:pt x="0" y="768400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91" name="Freeform 291"/>
          <p:cNvSpPr/>
          <p:nvPr/>
        </p:nvSpPr>
        <p:spPr>
          <a:xfrm rot="0" flipH="0" flipV="0">
            <a:off x="633983" y="3211703"/>
            <a:ext cx="6096" cy="6096"/>
          </a:xfrm>
          <a:custGeom>
            <a:pathLst>
              <a:path w="6096" h="6096">
                <a:moveTo>
                  <a:pt x="0" y="6096"/>
                </a:moveTo>
                <a:lnTo>
                  <a:pt x="6096" y="6096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92" name="Freeform 292"/>
          <p:cNvSpPr/>
          <p:nvPr/>
        </p:nvSpPr>
        <p:spPr>
          <a:xfrm rot="0" flipH="0" flipV="0">
            <a:off x="640080" y="3211703"/>
            <a:ext cx="5216016" cy="6096"/>
          </a:xfrm>
          <a:custGeom>
            <a:pathLst>
              <a:path w="5216016" h="6096">
                <a:moveTo>
                  <a:pt x="0" y="6096"/>
                </a:moveTo>
                <a:lnTo>
                  <a:pt x="5216016" y="6096"/>
                </a:lnTo>
                <a:lnTo>
                  <a:pt x="5216016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93" name="Freeform 293"/>
          <p:cNvSpPr/>
          <p:nvPr/>
        </p:nvSpPr>
        <p:spPr>
          <a:xfrm rot="0" flipH="0" flipV="0">
            <a:off x="5856096" y="3211703"/>
            <a:ext cx="6096" cy="6096"/>
          </a:xfrm>
          <a:custGeom>
            <a:pathLst>
              <a:path w="6096" h="6096">
                <a:moveTo>
                  <a:pt x="0" y="6096"/>
                </a:moveTo>
                <a:lnTo>
                  <a:pt x="6096" y="6096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94" name="Freeform 294"/>
          <p:cNvSpPr/>
          <p:nvPr/>
        </p:nvSpPr>
        <p:spPr>
          <a:xfrm rot="0" flipH="0" flipV="0">
            <a:off x="5862192" y="3211703"/>
            <a:ext cx="1164641" cy="6096"/>
          </a:xfrm>
          <a:custGeom>
            <a:pathLst>
              <a:path w="1164641" h="6096">
                <a:moveTo>
                  <a:pt x="0" y="6096"/>
                </a:moveTo>
                <a:lnTo>
                  <a:pt x="1164641" y="6096"/>
                </a:lnTo>
                <a:lnTo>
                  <a:pt x="1164641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95" name="Freeform 295"/>
          <p:cNvSpPr/>
          <p:nvPr/>
        </p:nvSpPr>
        <p:spPr>
          <a:xfrm rot="0" flipH="0" flipV="0">
            <a:off x="7026909" y="3211703"/>
            <a:ext cx="6096" cy="6096"/>
          </a:xfrm>
          <a:custGeom>
            <a:pathLst>
              <a:path w="6096" h="6096">
                <a:moveTo>
                  <a:pt x="0" y="6096"/>
                </a:moveTo>
                <a:lnTo>
                  <a:pt x="6096" y="6096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96" name="Freeform 296"/>
          <p:cNvSpPr/>
          <p:nvPr/>
        </p:nvSpPr>
        <p:spPr>
          <a:xfrm rot="0" flipH="0" flipV="0">
            <a:off x="633983" y="3217799"/>
            <a:ext cx="6096" cy="583692"/>
          </a:xfrm>
          <a:custGeom>
            <a:pathLst>
              <a:path w="6096" h="583692">
                <a:moveTo>
                  <a:pt x="0" y="583692"/>
                </a:moveTo>
                <a:lnTo>
                  <a:pt x="6096" y="583692"/>
                </a:lnTo>
                <a:lnTo>
                  <a:pt x="6096" y="0"/>
                </a:lnTo>
                <a:lnTo>
                  <a:pt x="0" y="0"/>
                </a:lnTo>
                <a:lnTo>
                  <a:pt x="0" y="583692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97" name="Freeform 297"/>
          <p:cNvSpPr/>
          <p:nvPr/>
        </p:nvSpPr>
        <p:spPr>
          <a:xfrm rot="0" flipH="0" flipV="0">
            <a:off x="5856096" y="3217799"/>
            <a:ext cx="6096" cy="583692"/>
          </a:xfrm>
          <a:custGeom>
            <a:pathLst>
              <a:path w="6096" h="583692">
                <a:moveTo>
                  <a:pt x="0" y="583692"/>
                </a:moveTo>
                <a:lnTo>
                  <a:pt x="6096" y="583692"/>
                </a:lnTo>
                <a:lnTo>
                  <a:pt x="6096" y="0"/>
                </a:lnTo>
                <a:lnTo>
                  <a:pt x="0" y="0"/>
                </a:lnTo>
                <a:lnTo>
                  <a:pt x="0" y="583692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98" name="Freeform 298"/>
          <p:cNvSpPr/>
          <p:nvPr/>
        </p:nvSpPr>
        <p:spPr>
          <a:xfrm rot="0" flipH="0" flipV="0">
            <a:off x="7026909" y="3217799"/>
            <a:ext cx="6096" cy="583692"/>
          </a:xfrm>
          <a:custGeom>
            <a:pathLst>
              <a:path w="6096" h="583692">
                <a:moveTo>
                  <a:pt x="0" y="583692"/>
                </a:moveTo>
                <a:lnTo>
                  <a:pt x="6096" y="583692"/>
                </a:lnTo>
                <a:lnTo>
                  <a:pt x="6096" y="0"/>
                </a:lnTo>
                <a:lnTo>
                  <a:pt x="0" y="0"/>
                </a:lnTo>
                <a:lnTo>
                  <a:pt x="0" y="583692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99" name="Freeform 299"/>
          <p:cNvSpPr/>
          <p:nvPr/>
        </p:nvSpPr>
        <p:spPr>
          <a:xfrm rot="0" flipH="0" flipV="0">
            <a:off x="633983" y="3801491"/>
            <a:ext cx="6096" cy="6096"/>
          </a:xfrm>
          <a:custGeom>
            <a:pathLst>
              <a:path w="6096" h="6096">
                <a:moveTo>
                  <a:pt x="0" y="6096"/>
                </a:moveTo>
                <a:lnTo>
                  <a:pt x="6096" y="6096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0" name="Freeform 300"/>
          <p:cNvSpPr/>
          <p:nvPr/>
        </p:nvSpPr>
        <p:spPr>
          <a:xfrm rot="0" flipH="0" flipV="0">
            <a:off x="640080" y="3801491"/>
            <a:ext cx="5216016" cy="6096"/>
          </a:xfrm>
          <a:custGeom>
            <a:pathLst>
              <a:path w="5216016" h="6096">
                <a:moveTo>
                  <a:pt x="0" y="6096"/>
                </a:moveTo>
                <a:lnTo>
                  <a:pt x="5216016" y="6096"/>
                </a:lnTo>
                <a:lnTo>
                  <a:pt x="5216016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1" name="Freeform 301"/>
          <p:cNvSpPr/>
          <p:nvPr/>
        </p:nvSpPr>
        <p:spPr>
          <a:xfrm rot="0" flipH="0" flipV="0">
            <a:off x="5856096" y="3801491"/>
            <a:ext cx="6096" cy="6096"/>
          </a:xfrm>
          <a:custGeom>
            <a:pathLst>
              <a:path w="6096" h="6096">
                <a:moveTo>
                  <a:pt x="0" y="6096"/>
                </a:moveTo>
                <a:lnTo>
                  <a:pt x="6096" y="6096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2" name="Freeform 302"/>
          <p:cNvSpPr/>
          <p:nvPr/>
        </p:nvSpPr>
        <p:spPr>
          <a:xfrm rot="0" flipH="0" flipV="0">
            <a:off x="5862192" y="3801491"/>
            <a:ext cx="1164641" cy="6096"/>
          </a:xfrm>
          <a:custGeom>
            <a:pathLst>
              <a:path w="1164641" h="6096">
                <a:moveTo>
                  <a:pt x="0" y="6096"/>
                </a:moveTo>
                <a:lnTo>
                  <a:pt x="1164641" y="6096"/>
                </a:lnTo>
                <a:lnTo>
                  <a:pt x="1164641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3" name="Freeform 303"/>
          <p:cNvSpPr/>
          <p:nvPr/>
        </p:nvSpPr>
        <p:spPr>
          <a:xfrm rot="0" flipH="0" flipV="0">
            <a:off x="7026909" y="3801491"/>
            <a:ext cx="6096" cy="6096"/>
          </a:xfrm>
          <a:custGeom>
            <a:pathLst>
              <a:path w="6096" h="6096">
                <a:moveTo>
                  <a:pt x="0" y="6096"/>
                </a:moveTo>
                <a:lnTo>
                  <a:pt x="6096" y="6096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4" name="Freeform 304"/>
          <p:cNvSpPr/>
          <p:nvPr/>
        </p:nvSpPr>
        <p:spPr>
          <a:xfrm rot="0" flipH="0" flipV="0">
            <a:off x="633983" y="3807587"/>
            <a:ext cx="6096" cy="585216"/>
          </a:xfrm>
          <a:custGeom>
            <a:pathLst>
              <a:path w="6096" h="585216">
                <a:moveTo>
                  <a:pt x="0" y="585216"/>
                </a:moveTo>
                <a:lnTo>
                  <a:pt x="6096" y="585216"/>
                </a:lnTo>
                <a:lnTo>
                  <a:pt x="6096" y="0"/>
                </a:lnTo>
                <a:lnTo>
                  <a:pt x="0" y="0"/>
                </a:lnTo>
                <a:lnTo>
                  <a:pt x="0" y="58521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5" name="Freeform 305"/>
          <p:cNvSpPr/>
          <p:nvPr/>
        </p:nvSpPr>
        <p:spPr>
          <a:xfrm rot="0" flipH="0" flipV="0">
            <a:off x="5856096" y="3807587"/>
            <a:ext cx="6096" cy="585216"/>
          </a:xfrm>
          <a:custGeom>
            <a:pathLst>
              <a:path w="6096" h="585216">
                <a:moveTo>
                  <a:pt x="0" y="585216"/>
                </a:moveTo>
                <a:lnTo>
                  <a:pt x="6096" y="585216"/>
                </a:lnTo>
                <a:lnTo>
                  <a:pt x="6096" y="0"/>
                </a:lnTo>
                <a:lnTo>
                  <a:pt x="0" y="0"/>
                </a:lnTo>
                <a:lnTo>
                  <a:pt x="0" y="58521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6" name="Freeform 306"/>
          <p:cNvSpPr/>
          <p:nvPr/>
        </p:nvSpPr>
        <p:spPr>
          <a:xfrm rot="0" flipH="0" flipV="0">
            <a:off x="7026909" y="3807587"/>
            <a:ext cx="6096" cy="585216"/>
          </a:xfrm>
          <a:custGeom>
            <a:pathLst>
              <a:path w="6096" h="585216">
                <a:moveTo>
                  <a:pt x="0" y="585216"/>
                </a:moveTo>
                <a:lnTo>
                  <a:pt x="6096" y="585216"/>
                </a:lnTo>
                <a:lnTo>
                  <a:pt x="6096" y="0"/>
                </a:lnTo>
                <a:lnTo>
                  <a:pt x="0" y="0"/>
                </a:lnTo>
                <a:lnTo>
                  <a:pt x="0" y="58521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7" name="Freeform 307"/>
          <p:cNvSpPr/>
          <p:nvPr/>
        </p:nvSpPr>
        <p:spPr>
          <a:xfrm rot="0" flipH="0" flipV="0">
            <a:off x="633983" y="4392803"/>
            <a:ext cx="6096" cy="6097"/>
          </a:xfrm>
          <a:custGeom>
            <a:pathLst>
              <a:path w="6096" h="6097">
                <a:moveTo>
                  <a:pt x="0" y="6097"/>
                </a:moveTo>
                <a:lnTo>
                  <a:pt x="6096" y="6097"/>
                </a:lnTo>
                <a:lnTo>
                  <a:pt x="6096" y="0"/>
                </a:lnTo>
                <a:lnTo>
                  <a:pt x="0" y="0"/>
                </a:lnTo>
                <a:lnTo>
                  <a:pt x="0" y="6097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8" name="Freeform 308"/>
          <p:cNvSpPr/>
          <p:nvPr/>
        </p:nvSpPr>
        <p:spPr>
          <a:xfrm rot="0" flipH="0" flipV="0">
            <a:off x="640080" y="4392803"/>
            <a:ext cx="5216016" cy="6097"/>
          </a:xfrm>
          <a:custGeom>
            <a:pathLst>
              <a:path w="5216016" h="6097">
                <a:moveTo>
                  <a:pt x="0" y="6097"/>
                </a:moveTo>
                <a:lnTo>
                  <a:pt x="5216016" y="6097"/>
                </a:lnTo>
                <a:lnTo>
                  <a:pt x="5216016" y="0"/>
                </a:lnTo>
                <a:lnTo>
                  <a:pt x="0" y="0"/>
                </a:lnTo>
                <a:lnTo>
                  <a:pt x="0" y="6097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9" name="Freeform 309"/>
          <p:cNvSpPr/>
          <p:nvPr/>
        </p:nvSpPr>
        <p:spPr>
          <a:xfrm rot="0" flipH="0" flipV="0">
            <a:off x="5856096" y="4392803"/>
            <a:ext cx="6096" cy="6097"/>
          </a:xfrm>
          <a:custGeom>
            <a:pathLst>
              <a:path w="6096" h="6097">
                <a:moveTo>
                  <a:pt x="0" y="6097"/>
                </a:moveTo>
                <a:lnTo>
                  <a:pt x="6096" y="6097"/>
                </a:lnTo>
                <a:lnTo>
                  <a:pt x="6096" y="0"/>
                </a:lnTo>
                <a:lnTo>
                  <a:pt x="0" y="0"/>
                </a:lnTo>
                <a:lnTo>
                  <a:pt x="0" y="6097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10" name="Freeform 310"/>
          <p:cNvSpPr/>
          <p:nvPr/>
        </p:nvSpPr>
        <p:spPr>
          <a:xfrm rot="0" flipH="0" flipV="0">
            <a:off x="5862192" y="4392803"/>
            <a:ext cx="1164641" cy="6097"/>
          </a:xfrm>
          <a:custGeom>
            <a:pathLst>
              <a:path w="1164641" h="6097">
                <a:moveTo>
                  <a:pt x="0" y="6097"/>
                </a:moveTo>
                <a:lnTo>
                  <a:pt x="1164641" y="6097"/>
                </a:lnTo>
                <a:lnTo>
                  <a:pt x="1164641" y="0"/>
                </a:lnTo>
                <a:lnTo>
                  <a:pt x="0" y="0"/>
                </a:lnTo>
                <a:lnTo>
                  <a:pt x="0" y="6097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11" name="Freeform 311"/>
          <p:cNvSpPr/>
          <p:nvPr/>
        </p:nvSpPr>
        <p:spPr>
          <a:xfrm rot="0" flipH="0" flipV="0">
            <a:off x="7026909" y="4392803"/>
            <a:ext cx="6096" cy="6097"/>
          </a:xfrm>
          <a:custGeom>
            <a:pathLst>
              <a:path w="6096" h="6097">
                <a:moveTo>
                  <a:pt x="0" y="6097"/>
                </a:moveTo>
                <a:lnTo>
                  <a:pt x="6096" y="6097"/>
                </a:lnTo>
                <a:lnTo>
                  <a:pt x="6096" y="0"/>
                </a:lnTo>
                <a:lnTo>
                  <a:pt x="0" y="0"/>
                </a:lnTo>
                <a:lnTo>
                  <a:pt x="0" y="6097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12" name="Freeform 312"/>
          <p:cNvSpPr/>
          <p:nvPr/>
        </p:nvSpPr>
        <p:spPr>
          <a:xfrm rot="0" flipH="0" flipV="0">
            <a:off x="633983" y="4398849"/>
            <a:ext cx="6096" cy="454457"/>
          </a:xfrm>
          <a:custGeom>
            <a:pathLst>
              <a:path w="6096" h="454457">
                <a:moveTo>
                  <a:pt x="0" y="454457"/>
                </a:moveTo>
                <a:lnTo>
                  <a:pt x="6096" y="454457"/>
                </a:lnTo>
                <a:lnTo>
                  <a:pt x="6096" y="0"/>
                </a:lnTo>
                <a:lnTo>
                  <a:pt x="0" y="0"/>
                </a:lnTo>
                <a:lnTo>
                  <a:pt x="0" y="454457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13" name="Freeform 313"/>
          <p:cNvSpPr/>
          <p:nvPr/>
        </p:nvSpPr>
        <p:spPr>
          <a:xfrm rot="0" flipH="0" flipV="0">
            <a:off x="5856096" y="4398849"/>
            <a:ext cx="6096" cy="454457"/>
          </a:xfrm>
          <a:custGeom>
            <a:pathLst>
              <a:path w="6096" h="454457">
                <a:moveTo>
                  <a:pt x="0" y="454457"/>
                </a:moveTo>
                <a:lnTo>
                  <a:pt x="6096" y="454457"/>
                </a:lnTo>
                <a:lnTo>
                  <a:pt x="6096" y="0"/>
                </a:lnTo>
                <a:lnTo>
                  <a:pt x="0" y="0"/>
                </a:lnTo>
                <a:lnTo>
                  <a:pt x="0" y="454457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14" name="Freeform 314"/>
          <p:cNvSpPr/>
          <p:nvPr/>
        </p:nvSpPr>
        <p:spPr>
          <a:xfrm rot="0" flipH="0" flipV="0">
            <a:off x="7026909" y="4398849"/>
            <a:ext cx="6096" cy="454457"/>
          </a:xfrm>
          <a:custGeom>
            <a:pathLst>
              <a:path w="6096" h="454457">
                <a:moveTo>
                  <a:pt x="0" y="454457"/>
                </a:moveTo>
                <a:lnTo>
                  <a:pt x="6096" y="454457"/>
                </a:lnTo>
                <a:lnTo>
                  <a:pt x="6096" y="0"/>
                </a:lnTo>
                <a:lnTo>
                  <a:pt x="0" y="0"/>
                </a:lnTo>
                <a:lnTo>
                  <a:pt x="0" y="454457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15" name="Freeform 315"/>
          <p:cNvSpPr/>
          <p:nvPr/>
        </p:nvSpPr>
        <p:spPr>
          <a:xfrm rot="0" flipH="0" flipV="0">
            <a:off x="633983" y="4853306"/>
            <a:ext cx="6096" cy="6095"/>
          </a:xfrm>
          <a:custGeom>
            <a:pathLst>
              <a:path w="6096" h="6095">
                <a:moveTo>
                  <a:pt x="0" y="6095"/>
                </a:moveTo>
                <a:lnTo>
                  <a:pt x="6096" y="6095"/>
                </a:lnTo>
                <a:lnTo>
                  <a:pt x="6096" y="0"/>
                </a:lnTo>
                <a:lnTo>
                  <a:pt x="0" y="0"/>
                </a:lnTo>
                <a:lnTo>
                  <a:pt x="0" y="6095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16" name="Freeform 316"/>
          <p:cNvSpPr/>
          <p:nvPr/>
        </p:nvSpPr>
        <p:spPr>
          <a:xfrm rot="0" flipH="0" flipV="0">
            <a:off x="640080" y="4853306"/>
            <a:ext cx="5216016" cy="6095"/>
          </a:xfrm>
          <a:custGeom>
            <a:pathLst>
              <a:path w="5216016" h="6095">
                <a:moveTo>
                  <a:pt x="0" y="6095"/>
                </a:moveTo>
                <a:lnTo>
                  <a:pt x="5216016" y="6095"/>
                </a:lnTo>
                <a:lnTo>
                  <a:pt x="5216016" y="0"/>
                </a:lnTo>
                <a:lnTo>
                  <a:pt x="0" y="0"/>
                </a:lnTo>
                <a:lnTo>
                  <a:pt x="0" y="6095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17" name="Freeform 317"/>
          <p:cNvSpPr/>
          <p:nvPr/>
        </p:nvSpPr>
        <p:spPr>
          <a:xfrm rot="0" flipH="0" flipV="0">
            <a:off x="5856096" y="4853306"/>
            <a:ext cx="6096" cy="6095"/>
          </a:xfrm>
          <a:custGeom>
            <a:pathLst>
              <a:path w="6096" h="6095">
                <a:moveTo>
                  <a:pt x="0" y="6095"/>
                </a:moveTo>
                <a:lnTo>
                  <a:pt x="6096" y="6095"/>
                </a:lnTo>
                <a:lnTo>
                  <a:pt x="6096" y="0"/>
                </a:lnTo>
                <a:lnTo>
                  <a:pt x="0" y="0"/>
                </a:lnTo>
                <a:lnTo>
                  <a:pt x="0" y="6095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18" name="Freeform 318"/>
          <p:cNvSpPr/>
          <p:nvPr/>
        </p:nvSpPr>
        <p:spPr>
          <a:xfrm rot="0" flipH="0" flipV="0">
            <a:off x="5862192" y="4853306"/>
            <a:ext cx="1164641" cy="6095"/>
          </a:xfrm>
          <a:custGeom>
            <a:pathLst>
              <a:path w="1164641" h="6095">
                <a:moveTo>
                  <a:pt x="0" y="6095"/>
                </a:moveTo>
                <a:lnTo>
                  <a:pt x="1164641" y="6095"/>
                </a:lnTo>
                <a:lnTo>
                  <a:pt x="1164641" y="0"/>
                </a:lnTo>
                <a:lnTo>
                  <a:pt x="0" y="0"/>
                </a:lnTo>
                <a:lnTo>
                  <a:pt x="0" y="6095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19" name="Freeform 319"/>
          <p:cNvSpPr/>
          <p:nvPr/>
        </p:nvSpPr>
        <p:spPr>
          <a:xfrm rot="0" flipH="0" flipV="0">
            <a:off x="7026909" y="4853306"/>
            <a:ext cx="6096" cy="6095"/>
          </a:xfrm>
          <a:custGeom>
            <a:pathLst>
              <a:path w="6096" h="6095">
                <a:moveTo>
                  <a:pt x="0" y="6095"/>
                </a:moveTo>
                <a:lnTo>
                  <a:pt x="6096" y="6095"/>
                </a:lnTo>
                <a:lnTo>
                  <a:pt x="6096" y="0"/>
                </a:lnTo>
                <a:lnTo>
                  <a:pt x="0" y="0"/>
                </a:lnTo>
                <a:lnTo>
                  <a:pt x="0" y="6095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20" name="Freeform 320"/>
          <p:cNvSpPr/>
          <p:nvPr/>
        </p:nvSpPr>
        <p:spPr>
          <a:xfrm rot="0" flipH="0" flipV="0">
            <a:off x="633983" y="4859401"/>
            <a:ext cx="6096" cy="606552"/>
          </a:xfrm>
          <a:custGeom>
            <a:pathLst>
              <a:path w="6096" h="606552">
                <a:moveTo>
                  <a:pt x="0" y="606552"/>
                </a:moveTo>
                <a:lnTo>
                  <a:pt x="6096" y="606552"/>
                </a:lnTo>
                <a:lnTo>
                  <a:pt x="6096" y="0"/>
                </a:lnTo>
                <a:lnTo>
                  <a:pt x="0" y="0"/>
                </a:lnTo>
                <a:lnTo>
                  <a:pt x="0" y="606552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21" name="Freeform 321"/>
          <p:cNvSpPr/>
          <p:nvPr/>
        </p:nvSpPr>
        <p:spPr>
          <a:xfrm rot="0" flipH="0" flipV="0">
            <a:off x="5856096" y="4859401"/>
            <a:ext cx="6096" cy="606552"/>
          </a:xfrm>
          <a:custGeom>
            <a:pathLst>
              <a:path w="6096" h="606552">
                <a:moveTo>
                  <a:pt x="0" y="606552"/>
                </a:moveTo>
                <a:lnTo>
                  <a:pt x="6096" y="606552"/>
                </a:lnTo>
                <a:lnTo>
                  <a:pt x="6096" y="0"/>
                </a:lnTo>
                <a:lnTo>
                  <a:pt x="0" y="0"/>
                </a:lnTo>
                <a:lnTo>
                  <a:pt x="0" y="606552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22" name="Freeform 322"/>
          <p:cNvSpPr/>
          <p:nvPr/>
        </p:nvSpPr>
        <p:spPr>
          <a:xfrm rot="0" flipH="0" flipV="0">
            <a:off x="7026909" y="4859401"/>
            <a:ext cx="6096" cy="606552"/>
          </a:xfrm>
          <a:custGeom>
            <a:pathLst>
              <a:path w="6096" h="606552">
                <a:moveTo>
                  <a:pt x="0" y="606552"/>
                </a:moveTo>
                <a:lnTo>
                  <a:pt x="6096" y="606552"/>
                </a:lnTo>
                <a:lnTo>
                  <a:pt x="6096" y="0"/>
                </a:lnTo>
                <a:lnTo>
                  <a:pt x="0" y="0"/>
                </a:lnTo>
                <a:lnTo>
                  <a:pt x="0" y="606552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23" name="Freeform 323"/>
          <p:cNvSpPr/>
          <p:nvPr/>
        </p:nvSpPr>
        <p:spPr>
          <a:xfrm rot="0" flipH="0" flipV="0">
            <a:off x="633983" y="5465953"/>
            <a:ext cx="6096" cy="6097"/>
          </a:xfrm>
          <a:custGeom>
            <a:pathLst>
              <a:path w="6096" h="6097">
                <a:moveTo>
                  <a:pt x="0" y="6097"/>
                </a:moveTo>
                <a:lnTo>
                  <a:pt x="6096" y="6097"/>
                </a:lnTo>
                <a:lnTo>
                  <a:pt x="6096" y="0"/>
                </a:lnTo>
                <a:lnTo>
                  <a:pt x="0" y="0"/>
                </a:lnTo>
                <a:lnTo>
                  <a:pt x="0" y="6097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24" name="Freeform 324"/>
          <p:cNvSpPr/>
          <p:nvPr/>
        </p:nvSpPr>
        <p:spPr>
          <a:xfrm rot="0" flipH="0" flipV="0">
            <a:off x="640080" y="5465953"/>
            <a:ext cx="5216016" cy="6097"/>
          </a:xfrm>
          <a:custGeom>
            <a:pathLst>
              <a:path w="5216016" h="6097">
                <a:moveTo>
                  <a:pt x="0" y="6097"/>
                </a:moveTo>
                <a:lnTo>
                  <a:pt x="5216016" y="6097"/>
                </a:lnTo>
                <a:lnTo>
                  <a:pt x="5216016" y="0"/>
                </a:lnTo>
                <a:lnTo>
                  <a:pt x="0" y="0"/>
                </a:lnTo>
                <a:lnTo>
                  <a:pt x="0" y="6097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25" name="Freeform 325"/>
          <p:cNvSpPr/>
          <p:nvPr/>
        </p:nvSpPr>
        <p:spPr>
          <a:xfrm rot="0" flipH="0" flipV="0">
            <a:off x="5856096" y="5465953"/>
            <a:ext cx="6096" cy="6097"/>
          </a:xfrm>
          <a:custGeom>
            <a:pathLst>
              <a:path w="6096" h="6097">
                <a:moveTo>
                  <a:pt x="0" y="6097"/>
                </a:moveTo>
                <a:lnTo>
                  <a:pt x="6096" y="6097"/>
                </a:lnTo>
                <a:lnTo>
                  <a:pt x="6096" y="0"/>
                </a:lnTo>
                <a:lnTo>
                  <a:pt x="0" y="0"/>
                </a:lnTo>
                <a:lnTo>
                  <a:pt x="0" y="6097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26" name="Freeform 326"/>
          <p:cNvSpPr/>
          <p:nvPr/>
        </p:nvSpPr>
        <p:spPr>
          <a:xfrm rot="0" flipH="0" flipV="0">
            <a:off x="5862192" y="5465953"/>
            <a:ext cx="1164641" cy="6097"/>
          </a:xfrm>
          <a:custGeom>
            <a:pathLst>
              <a:path w="1164641" h="6097">
                <a:moveTo>
                  <a:pt x="0" y="6097"/>
                </a:moveTo>
                <a:lnTo>
                  <a:pt x="1164641" y="6097"/>
                </a:lnTo>
                <a:lnTo>
                  <a:pt x="1164641" y="0"/>
                </a:lnTo>
                <a:lnTo>
                  <a:pt x="0" y="0"/>
                </a:lnTo>
                <a:lnTo>
                  <a:pt x="0" y="6097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27" name="Freeform 327"/>
          <p:cNvSpPr/>
          <p:nvPr/>
        </p:nvSpPr>
        <p:spPr>
          <a:xfrm rot="0" flipH="0" flipV="0">
            <a:off x="7026909" y="5465953"/>
            <a:ext cx="6096" cy="6097"/>
          </a:xfrm>
          <a:custGeom>
            <a:pathLst>
              <a:path w="6096" h="6097">
                <a:moveTo>
                  <a:pt x="0" y="6097"/>
                </a:moveTo>
                <a:lnTo>
                  <a:pt x="6096" y="6097"/>
                </a:lnTo>
                <a:lnTo>
                  <a:pt x="6096" y="0"/>
                </a:lnTo>
                <a:lnTo>
                  <a:pt x="0" y="0"/>
                </a:lnTo>
                <a:lnTo>
                  <a:pt x="0" y="6097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28" name="Freeform 328"/>
          <p:cNvSpPr/>
          <p:nvPr/>
        </p:nvSpPr>
        <p:spPr>
          <a:xfrm rot="0" flipH="0" flipV="0">
            <a:off x="633983" y="5472050"/>
            <a:ext cx="6096" cy="455676"/>
          </a:xfrm>
          <a:custGeom>
            <a:pathLst>
              <a:path w="6096" h="455676">
                <a:moveTo>
                  <a:pt x="0" y="455676"/>
                </a:moveTo>
                <a:lnTo>
                  <a:pt x="6096" y="455676"/>
                </a:lnTo>
                <a:lnTo>
                  <a:pt x="6096" y="0"/>
                </a:lnTo>
                <a:lnTo>
                  <a:pt x="0" y="0"/>
                </a:lnTo>
                <a:lnTo>
                  <a:pt x="0" y="45567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29" name="Freeform 329"/>
          <p:cNvSpPr/>
          <p:nvPr/>
        </p:nvSpPr>
        <p:spPr>
          <a:xfrm rot="0" flipH="0" flipV="0">
            <a:off x="5856096" y="5472050"/>
            <a:ext cx="6096" cy="455676"/>
          </a:xfrm>
          <a:custGeom>
            <a:pathLst>
              <a:path w="6096" h="455676">
                <a:moveTo>
                  <a:pt x="0" y="455676"/>
                </a:moveTo>
                <a:lnTo>
                  <a:pt x="6096" y="455676"/>
                </a:lnTo>
                <a:lnTo>
                  <a:pt x="6096" y="0"/>
                </a:lnTo>
                <a:lnTo>
                  <a:pt x="0" y="0"/>
                </a:lnTo>
                <a:lnTo>
                  <a:pt x="0" y="45567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30" name="Freeform 330"/>
          <p:cNvSpPr/>
          <p:nvPr/>
        </p:nvSpPr>
        <p:spPr>
          <a:xfrm rot="0" flipH="0" flipV="0">
            <a:off x="7026909" y="5472050"/>
            <a:ext cx="6096" cy="455676"/>
          </a:xfrm>
          <a:custGeom>
            <a:pathLst>
              <a:path w="6096" h="455676">
                <a:moveTo>
                  <a:pt x="0" y="455676"/>
                </a:moveTo>
                <a:lnTo>
                  <a:pt x="6096" y="455676"/>
                </a:lnTo>
                <a:lnTo>
                  <a:pt x="6096" y="0"/>
                </a:lnTo>
                <a:lnTo>
                  <a:pt x="0" y="0"/>
                </a:lnTo>
                <a:lnTo>
                  <a:pt x="0" y="45567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31" name="Freeform 331"/>
          <p:cNvSpPr/>
          <p:nvPr/>
        </p:nvSpPr>
        <p:spPr>
          <a:xfrm rot="0" flipH="0" flipV="0">
            <a:off x="633983" y="5927726"/>
            <a:ext cx="6096" cy="6095"/>
          </a:xfrm>
          <a:custGeom>
            <a:pathLst>
              <a:path w="6096" h="6095">
                <a:moveTo>
                  <a:pt x="0" y="6095"/>
                </a:moveTo>
                <a:lnTo>
                  <a:pt x="6096" y="6095"/>
                </a:lnTo>
                <a:lnTo>
                  <a:pt x="6096" y="0"/>
                </a:lnTo>
                <a:lnTo>
                  <a:pt x="0" y="0"/>
                </a:lnTo>
                <a:lnTo>
                  <a:pt x="0" y="6095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32" name="Freeform 332"/>
          <p:cNvSpPr/>
          <p:nvPr/>
        </p:nvSpPr>
        <p:spPr>
          <a:xfrm rot="0" flipH="0" flipV="0">
            <a:off x="640080" y="5927726"/>
            <a:ext cx="5216016" cy="6095"/>
          </a:xfrm>
          <a:custGeom>
            <a:pathLst>
              <a:path w="5216016" h="6095">
                <a:moveTo>
                  <a:pt x="0" y="6095"/>
                </a:moveTo>
                <a:lnTo>
                  <a:pt x="5216016" y="6095"/>
                </a:lnTo>
                <a:lnTo>
                  <a:pt x="5216016" y="0"/>
                </a:lnTo>
                <a:lnTo>
                  <a:pt x="0" y="0"/>
                </a:lnTo>
                <a:lnTo>
                  <a:pt x="0" y="6095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33" name="Freeform 333"/>
          <p:cNvSpPr/>
          <p:nvPr/>
        </p:nvSpPr>
        <p:spPr>
          <a:xfrm rot="0" flipH="0" flipV="0">
            <a:off x="5856096" y="5927726"/>
            <a:ext cx="6096" cy="6095"/>
          </a:xfrm>
          <a:custGeom>
            <a:pathLst>
              <a:path w="6096" h="6095">
                <a:moveTo>
                  <a:pt x="0" y="6095"/>
                </a:moveTo>
                <a:lnTo>
                  <a:pt x="6096" y="6095"/>
                </a:lnTo>
                <a:lnTo>
                  <a:pt x="6096" y="0"/>
                </a:lnTo>
                <a:lnTo>
                  <a:pt x="0" y="0"/>
                </a:lnTo>
                <a:lnTo>
                  <a:pt x="0" y="6095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34" name="Freeform 334"/>
          <p:cNvSpPr/>
          <p:nvPr/>
        </p:nvSpPr>
        <p:spPr>
          <a:xfrm rot="0" flipH="0" flipV="0">
            <a:off x="5862192" y="5927726"/>
            <a:ext cx="1164641" cy="6095"/>
          </a:xfrm>
          <a:custGeom>
            <a:pathLst>
              <a:path w="1164641" h="6095">
                <a:moveTo>
                  <a:pt x="0" y="6095"/>
                </a:moveTo>
                <a:lnTo>
                  <a:pt x="1164641" y="6095"/>
                </a:lnTo>
                <a:lnTo>
                  <a:pt x="1164641" y="0"/>
                </a:lnTo>
                <a:lnTo>
                  <a:pt x="0" y="0"/>
                </a:lnTo>
                <a:lnTo>
                  <a:pt x="0" y="6095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35" name="Freeform 335"/>
          <p:cNvSpPr/>
          <p:nvPr/>
        </p:nvSpPr>
        <p:spPr>
          <a:xfrm rot="0" flipH="0" flipV="0">
            <a:off x="7026909" y="5927726"/>
            <a:ext cx="6096" cy="6095"/>
          </a:xfrm>
          <a:custGeom>
            <a:pathLst>
              <a:path w="6096" h="6095">
                <a:moveTo>
                  <a:pt x="0" y="6095"/>
                </a:moveTo>
                <a:lnTo>
                  <a:pt x="6096" y="6095"/>
                </a:lnTo>
                <a:lnTo>
                  <a:pt x="6096" y="0"/>
                </a:lnTo>
                <a:lnTo>
                  <a:pt x="0" y="0"/>
                </a:lnTo>
                <a:lnTo>
                  <a:pt x="0" y="6095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36" name="Freeform 336"/>
          <p:cNvSpPr/>
          <p:nvPr/>
        </p:nvSpPr>
        <p:spPr>
          <a:xfrm rot="0" flipH="0" flipV="0">
            <a:off x="633983" y="5933822"/>
            <a:ext cx="6096" cy="452628"/>
          </a:xfrm>
          <a:custGeom>
            <a:pathLst>
              <a:path w="6096" h="452628">
                <a:moveTo>
                  <a:pt x="0" y="452628"/>
                </a:moveTo>
                <a:lnTo>
                  <a:pt x="6096" y="452628"/>
                </a:lnTo>
                <a:lnTo>
                  <a:pt x="6096" y="0"/>
                </a:lnTo>
                <a:lnTo>
                  <a:pt x="0" y="0"/>
                </a:lnTo>
                <a:lnTo>
                  <a:pt x="0" y="452628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37" name="Freeform 337"/>
          <p:cNvSpPr/>
          <p:nvPr/>
        </p:nvSpPr>
        <p:spPr>
          <a:xfrm rot="0" flipH="0" flipV="0">
            <a:off x="5856096" y="5933822"/>
            <a:ext cx="6096" cy="452628"/>
          </a:xfrm>
          <a:custGeom>
            <a:pathLst>
              <a:path w="6096" h="452628">
                <a:moveTo>
                  <a:pt x="0" y="452628"/>
                </a:moveTo>
                <a:lnTo>
                  <a:pt x="6096" y="452628"/>
                </a:lnTo>
                <a:lnTo>
                  <a:pt x="6096" y="0"/>
                </a:lnTo>
                <a:lnTo>
                  <a:pt x="0" y="0"/>
                </a:lnTo>
                <a:lnTo>
                  <a:pt x="0" y="452628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38" name="Freeform 338"/>
          <p:cNvSpPr/>
          <p:nvPr/>
        </p:nvSpPr>
        <p:spPr>
          <a:xfrm rot="0" flipH="0" flipV="0">
            <a:off x="7026909" y="5933822"/>
            <a:ext cx="6096" cy="452628"/>
          </a:xfrm>
          <a:custGeom>
            <a:pathLst>
              <a:path w="6096" h="452628">
                <a:moveTo>
                  <a:pt x="0" y="452628"/>
                </a:moveTo>
                <a:lnTo>
                  <a:pt x="6096" y="452628"/>
                </a:lnTo>
                <a:lnTo>
                  <a:pt x="6096" y="0"/>
                </a:lnTo>
                <a:lnTo>
                  <a:pt x="0" y="0"/>
                </a:lnTo>
                <a:lnTo>
                  <a:pt x="0" y="452628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39" name="Freeform 339"/>
          <p:cNvSpPr/>
          <p:nvPr/>
        </p:nvSpPr>
        <p:spPr>
          <a:xfrm rot="0" flipH="0" flipV="0">
            <a:off x="633983" y="6386450"/>
            <a:ext cx="6096" cy="6095"/>
          </a:xfrm>
          <a:custGeom>
            <a:pathLst>
              <a:path w="6096" h="6095">
                <a:moveTo>
                  <a:pt x="0" y="6095"/>
                </a:moveTo>
                <a:lnTo>
                  <a:pt x="6096" y="6095"/>
                </a:lnTo>
                <a:lnTo>
                  <a:pt x="6096" y="0"/>
                </a:lnTo>
                <a:lnTo>
                  <a:pt x="0" y="0"/>
                </a:lnTo>
                <a:lnTo>
                  <a:pt x="0" y="6095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40" name="Freeform 340"/>
          <p:cNvSpPr/>
          <p:nvPr/>
        </p:nvSpPr>
        <p:spPr>
          <a:xfrm rot="0" flipH="0" flipV="0">
            <a:off x="640080" y="6386450"/>
            <a:ext cx="5216016" cy="6095"/>
          </a:xfrm>
          <a:custGeom>
            <a:pathLst>
              <a:path w="5216016" h="6095">
                <a:moveTo>
                  <a:pt x="0" y="6095"/>
                </a:moveTo>
                <a:lnTo>
                  <a:pt x="5216016" y="6095"/>
                </a:lnTo>
                <a:lnTo>
                  <a:pt x="5216016" y="0"/>
                </a:lnTo>
                <a:lnTo>
                  <a:pt x="0" y="0"/>
                </a:lnTo>
                <a:lnTo>
                  <a:pt x="0" y="6095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41" name="Freeform 341"/>
          <p:cNvSpPr/>
          <p:nvPr/>
        </p:nvSpPr>
        <p:spPr>
          <a:xfrm rot="0" flipH="0" flipV="0">
            <a:off x="5856096" y="6386450"/>
            <a:ext cx="6096" cy="6095"/>
          </a:xfrm>
          <a:custGeom>
            <a:pathLst>
              <a:path w="6096" h="6095">
                <a:moveTo>
                  <a:pt x="0" y="6095"/>
                </a:moveTo>
                <a:lnTo>
                  <a:pt x="6096" y="6095"/>
                </a:lnTo>
                <a:lnTo>
                  <a:pt x="6096" y="0"/>
                </a:lnTo>
                <a:lnTo>
                  <a:pt x="0" y="0"/>
                </a:lnTo>
                <a:lnTo>
                  <a:pt x="0" y="6095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42" name="Freeform 342"/>
          <p:cNvSpPr/>
          <p:nvPr/>
        </p:nvSpPr>
        <p:spPr>
          <a:xfrm rot="0" flipH="0" flipV="0">
            <a:off x="5862192" y="6386450"/>
            <a:ext cx="1164641" cy="6095"/>
          </a:xfrm>
          <a:custGeom>
            <a:pathLst>
              <a:path w="1164641" h="6095">
                <a:moveTo>
                  <a:pt x="0" y="6095"/>
                </a:moveTo>
                <a:lnTo>
                  <a:pt x="1164641" y="6095"/>
                </a:lnTo>
                <a:lnTo>
                  <a:pt x="1164641" y="0"/>
                </a:lnTo>
                <a:lnTo>
                  <a:pt x="0" y="0"/>
                </a:lnTo>
                <a:lnTo>
                  <a:pt x="0" y="6095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43" name="Freeform 343"/>
          <p:cNvSpPr/>
          <p:nvPr/>
        </p:nvSpPr>
        <p:spPr>
          <a:xfrm rot="0" flipH="0" flipV="0">
            <a:off x="7026909" y="6386450"/>
            <a:ext cx="6096" cy="6095"/>
          </a:xfrm>
          <a:custGeom>
            <a:pathLst>
              <a:path w="6096" h="6095">
                <a:moveTo>
                  <a:pt x="0" y="6095"/>
                </a:moveTo>
                <a:lnTo>
                  <a:pt x="6096" y="6095"/>
                </a:lnTo>
                <a:lnTo>
                  <a:pt x="6096" y="0"/>
                </a:lnTo>
                <a:lnTo>
                  <a:pt x="0" y="0"/>
                </a:lnTo>
                <a:lnTo>
                  <a:pt x="0" y="6095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44" name="Freeform 344"/>
          <p:cNvSpPr/>
          <p:nvPr/>
        </p:nvSpPr>
        <p:spPr>
          <a:xfrm rot="0" flipH="0" flipV="0">
            <a:off x="633983" y="6392622"/>
            <a:ext cx="6096" cy="455980"/>
          </a:xfrm>
          <a:custGeom>
            <a:pathLst>
              <a:path w="6096" h="455980">
                <a:moveTo>
                  <a:pt x="0" y="455980"/>
                </a:moveTo>
                <a:lnTo>
                  <a:pt x="6096" y="455980"/>
                </a:lnTo>
                <a:lnTo>
                  <a:pt x="6096" y="0"/>
                </a:lnTo>
                <a:lnTo>
                  <a:pt x="0" y="0"/>
                </a:lnTo>
                <a:lnTo>
                  <a:pt x="0" y="455980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45" name="Freeform 345"/>
          <p:cNvSpPr/>
          <p:nvPr/>
        </p:nvSpPr>
        <p:spPr>
          <a:xfrm rot="0" flipH="0" flipV="0">
            <a:off x="5856096" y="6392622"/>
            <a:ext cx="6096" cy="455980"/>
          </a:xfrm>
          <a:custGeom>
            <a:pathLst>
              <a:path w="6096" h="455980">
                <a:moveTo>
                  <a:pt x="0" y="455980"/>
                </a:moveTo>
                <a:lnTo>
                  <a:pt x="6096" y="455980"/>
                </a:lnTo>
                <a:lnTo>
                  <a:pt x="6096" y="0"/>
                </a:lnTo>
                <a:lnTo>
                  <a:pt x="0" y="0"/>
                </a:lnTo>
                <a:lnTo>
                  <a:pt x="0" y="455980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46" name="Freeform 346"/>
          <p:cNvSpPr/>
          <p:nvPr/>
        </p:nvSpPr>
        <p:spPr>
          <a:xfrm rot="0" flipH="0" flipV="0">
            <a:off x="7026909" y="6392622"/>
            <a:ext cx="6096" cy="455980"/>
          </a:xfrm>
          <a:custGeom>
            <a:pathLst>
              <a:path w="6096" h="455980">
                <a:moveTo>
                  <a:pt x="0" y="455980"/>
                </a:moveTo>
                <a:lnTo>
                  <a:pt x="6096" y="455980"/>
                </a:lnTo>
                <a:lnTo>
                  <a:pt x="6096" y="0"/>
                </a:lnTo>
                <a:lnTo>
                  <a:pt x="0" y="0"/>
                </a:lnTo>
                <a:lnTo>
                  <a:pt x="0" y="455980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47" name="Freeform 347"/>
          <p:cNvSpPr/>
          <p:nvPr/>
        </p:nvSpPr>
        <p:spPr>
          <a:xfrm rot="0" flipH="0" flipV="0">
            <a:off x="633983" y="6848602"/>
            <a:ext cx="6096" cy="6097"/>
          </a:xfrm>
          <a:custGeom>
            <a:pathLst>
              <a:path w="6096" h="6097">
                <a:moveTo>
                  <a:pt x="0" y="6097"/>
                </a:moveTo>
                <a:lnTo>
                  <a:pt x="6096" y="6097"/>
                </a:lnTo>
                <a:lnTo>
                  <a:pt x="6096" y="0"/>
                </a:lnTo>
                <a:lnTo>
                  <a:pt x="0" y="0"/>
                </a:lnTo>
                <a:lnTo>
                  <a:pt x="0" y="6097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48" name="Freeform 348"/>
          <p:cNvSpPr/>
          <p:nvPr/>
        </p:nvSpPr>
        <p:spPr>
          <a:xfrm rot="0" flipH="0" flipV="0">
            <a:off x="640080" y="6848602"/>
            <a:ext cx="5216016" cy="6097"/>
          </a:xfrm>
          <a:custGeom>
            <a:pathLst>
              <a:path w="5216016" h="6097">
                <a:moveTo>
                  <a:pt x="0" y="6097"/>
                </a:moveTo>
                <a:lnTo>
                  <a:pt x="5216016" y="6097"/>
                </a:lnTo>
                <a:lnTo>
                  <a:pt x="5216016" y="0"/>
                </a:lnTo>
                <a:lnTo>
                  <a:pt x="0" y="0"/>
                </a:lnTo>
                <a:lnTo>
                  <a:pt x="0" y="6097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49" name="Freeform 349"/>
          <p:cNvSpPr/>
          <p:nvPr/>
        </p:nvSpPr>
        <p:spPr>
          <a:xfrm rot="0" flipH="0" flipV="0">
            <a:off x="5856096" y="6848602"/>
            <a:ext cx="6096" cy="6097"/>
          </a:xfrm>
          <a:custGeom>
            <a:pathLst>
              <a:path w="6096" h="6097">
                <a:moveTo>
                  <a:pt x="0" y="6097"/>
                </a:moveTo>
                <a:lnTo>
                  <a:pt x="6096" y="6097"/>
                </a:lnTo>
                <a:lnTo>
                  <a:pt x="6096" y="0"/>
                </a:lnTo>
                <a:lnTo>
                  <a:pt x="0" y="0"/>
                </a:lnTo>
                <a:lnTo>
                  <a:pt x="0" y="6097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50" name="Freeform 350"/>
          <p:cNvSpPr/>
          <p:nvPr/>
        </p:nvSpPr>
        <p:spPr>
          <a:xfrm rot="0" flipH="0" flipV="0">
            <a:off x="5862192" y="6848602"/>
            <a:ext cx="1164641" cy="6097"/>
          </a:xfrm>
          <a:custGeom>
            <a:pathLst>
              <a:path w="1164641" h="6097">
                <a:moveTo>
                  <a:pt x="0" y="6097"/>
                </a:moveTo>
                <a:lnTo>
                  <a:pt x="1164641" y="6097"/>
                </a:lnTo>
                <a:lnTo>
                  <a:pt x="1164641" y="0"/>
                </a:lnTo>
                <a:lnTo>
                  <a:pt x="0" y="0"/>
                </a:lnTo>
                <a:lnTo>
                  <a:pt x="0" y="6097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51" name="Freeform 351"/>
          <p:cNvSpPr/>
          <p:nvPr/>
        </p:nvSpPr>
        <p:spPr>
          <a:xfrm rot="0" flipH="0" flipV="0">
            <a:off x="7026909" y="6848602"/>
            <a:ext cx="6096" cy="6097"/>
          </a:xfrm>
          <a:custGeom>
            <a:pathLst>
              <a:path w="6096" h="6097">
                <a:moveTo>
                  <a:pt x="0" y="6097"/>
                </a:moveTo>
                <a:lnTo>
                  <a:pt x="6096" y="6097"/>
                </a:lnTo>
                <a:lnTo>
                  <a:pt x="6096" y="0"/>
                </a:lnTo>
                <a:lnTo>
                  <a:pt x="0" y="0"/>
                </a:lnTo>
                <a:lnTo>
                  <a:pt x="0" y="6097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52" name="Freeform 352"/>
          <p:cNvSpPr/>
          <p:nvPr/>
        </p:nvSpPr>
        <p:spPr>
          <a:xfrm rot="0" flipH="0" flipV="0">
            <a:off x="633983" y="6854699"/>
            <a:ext cx="6096" cy="455676"/>
          </a:xfrm>
          <a:custGeom>
            <a:pathLst>
              <a:path w="6096" h="455676">
                <a:moveTo>
                  <a:pt x="0" y="455676"/>
                </a:moveTo>
                <a:lnTo>
                  <a:pt x="6096" y="455676"/>
                </a:lnTo>
                <a:lnTo>
                  <a:pt x="6096" y="0"/>
                </a:lnTo>
                <a:lnTo>
                  <a:pt x="0" y="0"/>
                </a:lnTo>
                <a:lnTo>
                  <a:pt x="0" y="45567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53" name="Freeform 353"/>
          <p:cNvSpPr/>
          <p:nvPr/>
        </p:nvSpPr>
        <p:spPr>
          <a:xfrm rot="0" flipH="0" flipV="0">
            <a:off x="5856096" y="6854699"/>
            <a:ext cx="6096" cy="455676"/>
          </a:xfrm>
          <a:custGeom>
            <a:pathLst>
              <a:path w="6096" h="455676">
                <a:moveTo>
                  <a:pt x="0" y="455676"/>
                </a:moveTo>
                <a:lnTo>
                  <a:pt x="6096" y="455676"/>
                </a:lnTo>
                <a:lnTo>
                  <a:pt x="6096" y="0"/>
                </a:lnTo>
                <a:lnTo>
                  <a:pt x="0" y="0"/>
                </a:lnTo>
                <a:lnTo>
                  <a:pt x="0" y="45567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54" name="Freeform 354"/>
          <p:cNvSpPr/>
          <p:nvPr/>
        </p:nvSpPr>
        <p:spPr>
          <a:xfrm rot="0" flipH="0" flipV="0">
            <a:off x="7026909" y="6854699"/>
            <a:ext cx="6096" cy="455676"/>
          </a:xfrm>
          <a:custGeom>
            <a:pathLst>
              <a:path w="6096" h="455676">
                <a:moveTo>
                  <a:pt x="0" y="455676"/>
                </a:moveTo>
                <a:lnTo>
                  <a:pt x="6096" y="455676"/>
                </a:lnTo>
                <a:lnTo>
                  <a:pt x="6096" y="0"/>
                </a:lnTo>
                <a:lnTo>
                  <a:pt x="0" y="0"/>
                </a:lnTo>
                <a:lnTo>
                  <a:pt x="0" y="45567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55" name="Freeform 355"/>
          <p:cNvSpPr/>
          <p:nvPr/>
        </p:nvSpPr>
        <p:spPr>
          <a:xfrm rot="0" flipH="0" flipV="0">
            <a:off x="633983" y="7310375"/>
            <a:ext cx="6096" cy="6095"/>
          </a:xfrm>
          <a:custGeom>
            <a:pathLst>
              <a:path w="6096" h="6095">
                <a:moveTo>
                  <a:pt x="0" y="6095"/>
                </a:moveTo>
                <a:lnTo>
                  <a:pt x="6096" y="6095"/>
                </a:lnTo>
                <a:lnTo>
                  <a:pt x="6096" y="0"/>
                </a:lnTo>
                <a:lnTo>
                  <a:pt x="0" y="0"/>
                </a:lnTo>
                <a:lnTo>
                  <a:pt x="0" y="6095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56" name="Freeform 356"/>
          <p:cNvSpPr/>
          <p:nvPr/>
        </p:nvSpPr>
        <p:spPr>
          <a:xfrm rot="0" flipH="0" flipV="0">
            <a:off x="640080" y="7310375"/>
            <a:ext cx="5216016" cy="6095"/>
          </a:xfrm>
          <a:custGeom>
            <a:pathLst>
              <a:path w="5216016" h="6095">
                <a:moveTo>
                  <a:pt x="0" y="6095"/>
                </a:moveTo>
                <a:lnTo>
                  <a:pt x="5216016" y="6095"/>
                </a:lnTo>
                <a:lnTo>
                  <a:pt x="5216016" y="0"/>
                </a:lnTo>
                <a:lnTo>
                  <a:pt x="0" y="0"/>
                </a:lnTo>
                <a:lnTo>
                  <a:pt x="0" y="6095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57" name="Freeform 357"/>
          <p:cNvSpPr/>
          <p:nvPr/>
        </p:nvSpPr>
        <p:spPr>
          <a:xfrm rot="0" flipH="0" flipV="0">
            <a:off x="5856096" y="7310375"/>
            <a:ext cx="6096" cy="6095"/>
          </a:xfrm>
          <a:custGeom>
            <a:pathLst>
              <a:path w="6096" h="6095">
                <a:moveTo>
                  <a:pt x="0" y="6095"/>
                </a:moveTo>
                <a:lnTo>
                  <a:pt x="6096" y="6095"/>
                </a:lnTo>
                <a:lnTo>
                  <a:pt x="6096" y="0"/>
                </a:lnTo>
                <a:lnTo>
                  <a:pt x="0" y="0"/>
                </a:lnTo>
                <a:lnTo>
                  <a:pt x="0" y="6095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58" name="Freeform 358"/>
          <p:cNvSpPr/>
          <p:nvPr/>
        </p:nvSpPr>
        <p:spPr>
          <a:xfrm rot="0" flipH="0" flipV="0">
            <a:off x="5862192" y="7310375"/>
            <a:ext cx="1164641" cy="6095"/>
          </a:xfrm>
          <a:custGeom>
            <a:pathLst>
              <a:path w="1164641" h="6095">
                <a:moveTo>
                  <a:pt x="0" y="6095"/>
                </a:moveTo>
                <a:lnTo>
                  <a:pt x="1164641" y="6095"/>
                </a:lnTo>
                <a:lnTo>
                  <a:pt x="1164641" y="0"/>
                </a:lnTo>
                <a:lnTo>
                  <a:pt x="0" y="0"/>
                </a:lnTo>
                <a:lnTo>
                  <a:pt x="0" y="6095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59" name="Freeform 359"/>
          <p:cNvSpPr/>
          <p:nvPr/>
        </p:nvSpPr>
        <p:spPr>
          <a:xfrm rot="0" flipH="0" flipV="0">
            <a:off x="7026909" y="7310375"/>
            <a:ext cx="6096" cy="6095"/>
          </a:xfrm>
          <a:custGeom>
            <a:pathLst>
              <a:path w="6096" h="6095">
                <a:moveTo>
                  <a:pt x="0" y="6095"/>
                </a:moveTo>
                <a:lnTo>
                  <a:pt x="6096" y="6095"/>
                </a:lnTo>
                <a:lnTo>
                  <a:pt x="6096" y="0"/>
                </a:lnTo>
                <a:lnTo>
                  <a:pt x="0" y="0"/>
                </a:lnTo>
                <a:lnTo>
                  <a:pt x="0" y="6095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60" name="Freeform 360"/>
          <p:cNvSpPr/>
          <p:nvPr/>
        </p:nvSpPr>
        <p:spPr>
          <a:xfrm rot="0" flipH="0" flipV="0">
            <a:off x="633983" y="7316471"/>
            <a:ext cx="6096" cy="455676"/>
          </a:xfrm>
          <a:custGeom>
            <a:pathLst>
              <a:path w="6096" h="455676">
                <a:moveTo>
                  <a:pt x="0" y="455676"/>
                </a:moveTo>
                <a:lnTo>
                  <a:pt x="6096" y="455676"/>
                </a:lnTo>
                <a:lnTo>
                  <a:pt x="6096" y="0"/>
                </a:lnTo>
                <a:lnTo>
                  <a:pt x="0" y="0"/>
                </a:lnTo>
                <a:lnTo>
                  <a:pt x="0" y="45567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61" name="Freeform 361"/>
          <p:cNvSpPr/>
          <p:nvPr/>
        </p:nvSpPr>
        <p:spPr>
          <a:xfrm rot="0" flipH="0" flipV="0">
            <a:off x="633983" y="7772147"/>
            <a:ext cx="6096" cy="6096"/>
          </a:xfrm>
          <a:custGeom>
            <a:pathLst>
              <a:path w="6096" h="6096">
                <a:moveTo>
                  <a:pt x="0" y="6096"/>
                </a:moveTo>
                <a:lnTo>
                  <a:pt x="6096" y="6096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62" name="Freeform 362"/>
          <p:cNvSpPr/>
          <p:nvPr/>
        </p:nvSpPr>
        <p:spPr>
          <a:xfrm rot="0" flipH="0" flipV="0">
            <a:off x="633983" y="7772147"/>
            <a:ext cx="6096" cy="6096"/>
          </a:xfrm>
          <a:custGeom>
            <a:pathLst>
              <a:path w="6096" h="6096">
                <a:moveTo>
                  <a:pt x="0" y="6096"/>
                </a:moveTo>
                <a:lnTo>
                  <a:pt x="6096" y="6096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63" name="Freeform 363"/>
          <p:cNvSpPr/>
          <p:nvPr/>
        </p:nvSpPr>
        <p:spPr>
          <a:xfrm rot="0" flipH="0" flipV="0">
            <a:off x="640080" y="7772147"/>
            <a:ext cx="5216016" cy="6096"/>
          </a:xfrm>
          <a:custGeom>
            <a:pathLst>
              <a:path w="5216016" h="6096">
                <a:moveTo>
                  <a:pt x="0" y="6096"/>
                </a:moveTo>
                <a:lnTo>
                  <a:pt x="5216016" y="6096"/>
                </a:lnTo>
                <a:lnTo>
                  <a:pt x="5216016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64" name="Freeform 364"/>
          <p:cNvSpPr/>
          <p:nvPr/>
        </p:nvSpPr>
        <p:spPr>
          <a:xfrm rot="0" flipH="0" flipV="0">
            <a:off x="5856096" y="7316471"/>
            <a:ext cx="6096" cy="455676"/>
          </a:xfrm>
          <a:custGeom>
            <a:pathLst>
              <a:path w="6096" h="455676">
                <a:moveTo>
                  <a:pt x="0" y="455676"/>
                </a:moveTo>
                <a:lnTo>
                  <a:pt x="6096" y="455676"/>
                </a:lnTo>
                <a:lnTo>
                  <a:pt x="6096" y="0"/>
                </a:lnTo>
                <a:lnTo>
                  <a:pt x="0" y="0"/>
                </a:lnTo>
                <a:lnTo>
                  <a:pt x="0" y="45567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65" name="Freeform 365"/>
          <p:cNvSpPr/>
          <p:nvPr/>
        </p:nvSpPr>
        <p:spPr>
          <a:xfrm rot="0" flipH="0" flipV="0">
            <a:off x="5856096" y="7772147"/>
            <a:ext cx="6096" cy="6096"/>
          </a:xfrm>
          <a:custGeom>
            <a:pathLst>
              <a:path w="6096" h="6096">
                <a:moveTo>
                  <a:pt x="0" y="6096"/>
                </a:moveTo>
                <a:lnTo>
                  <a:pt x="6096" y="6096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66" name="Freeform 366"/>
          <p:cNvSpPr/>
          <p:nvPr/>
        </p:nvSpPr>
        <p:spPr>
          <a:xfrm rot="0" flipH="0" flipV="0">
            <a:off x="5862192" y="7772147"/>
            <a:ext cx="1164641" cy="6096"/>
          </a:xfrm>
          <a:custGeom>
            <a:pathLst>
              <a:path w="1164641" h="6096">
                <a:moveTo>
                  <a:pt x="0" y="6096"/>
                </a:moveTo>
                <a:lnTo>
                  <a:pt x="1164641" y="6096"/>
                </a:lnTo>
                <a:lnTo>
                  <a:pt x="1164641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67" name="Freeform 367"/>
          <p:cNvSpPr/>
          <p:nvPr/>
        </p:nvSpPr>
        <p:spPr>
          <a:xfrm rot="0" flipH="0" flipV="0">
            <a:off x="7026909" y="7316471"/>
            <a:ext cx="6096" cy="455676"/>
          </a:xfrm>
          <a:custGeom>
            <a:pathLst>
              <a:path w="6096" h="455676">
                <a:moveTo>
                  <a:pt x="0" y="455676"/>
                </a:moveTo>
                <a:lnTo>
                  <a:pt x="6096" y="455676"/>
                </a:lnTo>
                <a:lnTo>
                  <a:pt x="6096" y="0"/>
                </a:lnTo>
                <a:lnTo>
                  <a:pt x="0" y="0"/>
                </a:lnTo>
                <a:lnTo>
                  <a:pt x="0" y="45567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68" name="Freeform 368"/>
          <p:cNvSpPr/>
          <p:nvPr/>
        </p:nvSpPr>
        <p:spPr>
          <a:xfrm rot="0" flipH="0" flipV="0">
            <a:off x="7026909" y="7772147"/>
            <a:ext cx="6096" cy="6096"/>
          </a:xfrm>
          <a:custGeom>
            <a:pathLst>
              <a:path w="6096" h="6096">
                <a:moveTo>
                  <a:pt x="0" y="6096"/>
                </a:moveTo>
                <a:lnTo>
                  <a:pt x="6096" y="6096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69" name="Freeform 369"/>
          <p:cNvSpPr/>
          <p:nvPr/>
        </p:nvSpPr>
        <p:spPr>
          <a:xfrm rot="0" flipH="0" flipV="0">
            <a:off x="7026909" y="7772147"/>
            <a:ext cx="6096" cy="6096"/>
          </a:xfrm>
          <a:custGeom>
            <a:pathLst>
              <a:path w="6096" h="6096">
                <a:moveTo>
                  <a:pt x="0" y="6096"/>
                </a:moveTo>
                <a:lnTo>
                  <a:pt x="6096" y="6096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70" name="Rectangle 370"/>
          <p:cNvSpPr/>
          <p:nvPr/>
        </p:nvSpPr>
        <p:spPr>
          <a:xfrm rot="0" flipH="0" flipV="0">
            <a:off x="216408" y="9969041"/>
            <a:ext cx="6881559" cy="158594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>
              <a:tabLst>
                <a:tab pos="143255" algn="l"/>
                <a:tab pos="2844419" algn="l"/>
                <a:tab pos="5645784" algn="l"/>
              </a:tabLst>
            </a:pPr>
            <a:r>
              <a:rPr lang="it-IT" sz="1509" baseline="-31325" b="0" i="0" dirty="0" spc="0">
                <a:solidFill>
                  <a:srgbClr val="000000"/>
                </a:solidFill>
                <a:latin typeface="Arial" pitchFamily="0" charset="1"/>
              </a:rPr>
              <a:t> 	</a:t>
            </a:r>
            <a:r>
              <a:rPr lang="it-IT" sz="803" baseline="0" b="1" i="0" dirty="0" spc="0">
                <a:solidFill>
                  <a:srgbClr val="000000"/>
                </a:solidFill>
                <a:latin typeface="Arial" pitchFamily="0" charset="1"/>
              </a:rPr>
              <a:t>GENERASalute RSM 	</a:t>
            </a:r>
            <a:r>
              <a:rPr lang="it-IT" sz="803" baseline="0" b="0" i="0" dirty="0" spc="0">
                <a:solidFill>
                  <a:srgbClr val="000000"/>
                </a:solidFill>
                <a:latin typeface="Arial" pitchFamily="0" charset="1"/>
              </a:rPr>
              <a:t>Edizione 05.2022 	Condizioni di assicurazione </a:t>
            </a:r>
          </a:p>
        </p:txBody>
      </p:sp>
      <p:sp>
        <p:nvSpPr>
          <p:cNvPr id="371" name="Rectangle 371"/>
          <p:cNvSpPr/>
          <p:nvPr/>
        </p:nvSpPr>
        <p:spPr>
          <a:xfrm rot="0" flipH="0" flipV="0">
            <a:off x="586740" y="664289"/>
            <a:ext cx="6420470" cy="580204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>
              <a:tabLst>
                <a:tab pos="225551" algn="l"/>
              </a:tabLst>
            </a:pPr>
            <a:r>
              <a:rPr lang="it-IT" sz="996" baseline="0" b="0" i="0" dirty="0" spc="-8">
                <a:solidFill>
                  <a:srgbClr val="000000"/>
                </a:solidFill>
                <a:latin typeface="Arial" pitchFamily="0" charset="1"/>
              </a:rPr>
              <a:t>-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	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trasporto dell’Assicurato e di un eventuale accompagnatore all’estero e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successivo ritorno, in treno o in aereo </a:t>
            </a:r>
          </a:p>
          <a:p>
            <a:pPr marL="225551">
              <a:lnSpc>
                <a:spcPts val="115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di linea (esclusa auto privata), 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col massimo di € 2.000 per intervento o ricovero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; </a:t>
            </a:r>
          </a:p>
          <a:p>
            <a:pPr marL="0">
              <a:lnSpc>
                <a:spcPts val="1153"/>
              </a:lnSpc>
              <a:tabLst>
                <a:tab pos="225551" algn="l"/>
              </a:tabLst>
            </a:pPr>
            <a:r>
              <a:rPr lang="it-IT" sz="996" baseline="0" b="0" i="0" dirty="0" spc="-8">
                <a:solidFill>
                  <a:srgbClr val="000000"/>
                </a:solidFill>
                <a:latin typeface="Arial" pitchFamily="0" charset="1"/>
              </a:rPr>
              <a:t>-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	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in</a:t>
            </a:r>
            <a:r>
              <a:rPr lang="it-IT" sz="996" baseline="0" b="0" i="0" dirty="0" spc="203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caso</a:t>
            </a:r>
            <a:r>
              <a:rPr lang="it-IT" sz="996" baseline="0" b="0" i="0" dirty="0" spc="226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di</a:t>
            </a:r>
            <a:r>
              <a:rPr lang="it-IT" sz="996" baseline="0" b="0" i="0" dirty="0" spc="191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decesso</a:t>
            </a:r>
            <a:r>
              <a:rPr lang="it-IT" sz="996" baseline="0" b="0" i="0" dirty="0" spc="203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conseguente</a:t>
            </a:r>
            <a:r>
              <a:rPr lang="it-IT" sz="996" baseline="0" b="0" i="0" dirty="0" spc="227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ad</a:t>
            </a:r>
            <a:r>
              <a:rPr lang="it-IT" sz="996" baseline="0" b="0" i="0" dirty="0" spc="227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intervento</a:t>
            </a:r>
            <a:r>
              <a:rPr lang="it-IT" sz="996" baseline="0" b="0" i="0" dirty="0" spc="203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chirurgico</a:t>
            </a:r>
            <a:r>
              <a:rPr lang="it-IT" sz="996" baseline="0" b="0" i="0" dirty="0" spc="203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avvenuto</a:t>
            </a:r>
            <a:r>
              <a:rPr lang="it-IT" sz="996" baseline="0" b="0" i="0" dirty="0" spc="227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all’estero,</a:t>
            </a:r>
            <a:r>
              <a:rPr lang="it-IT" sz="996" baseline="0" b="0" i="0" dirty="0" spc="227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l’assicurazione</a:t>
            </a:r>
            <a:r>
              <a:rPr lang="it-IT" sz="996" baseline="0" b="0" i="0" dirty="0" spc="227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è</a:t>
            </a:r>
            <a:r>
              <a:rPr lang="it-IT" sz="996" baseline="0" b="0" i="0" dirty="0" spc="215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estesa</a:t>
            </a:r>
            <a:r>
              <a:rPr lang="it-IT" sz="996" baseline="0" b="0" i="0" dirty="0" spc="215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al </a:t>
            </a:r>
          </a:p>
          <a:p>
            <a:pPr marL="225551">
              <a:lnSpc>
                <a:spcPts val="115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rimborso delle spese per il rimpatrio della salma 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fino ad un massimo di € 1.600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. </a:t>
            </a:r>
          </a:p>
        </p:txBody>
      </p:sp>
      <p:sp>
        <p:nvSpPr>
          <p:cNvPr id="372" name="Rectangle 372"/>
          <p:cNvSpPr/>
          <p:nvPr/>
        </p:nvSpPr>
        <p:spPr>
          <a:xfrm rot="0" flipH="0" flipV="0">
            <a:off x="216408" y="1248236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373" name="Rectangle 373"/>
          <p:cNvSpPr/>
          <p:nvPr/>
        </p:nvSpPr>
        <p:spPr>
          <a:xfrm rot="0" flipH="0" flipV="0">
            <a:off x="539495" y="1389533"/>
            <a:ext cx="6469238" cy="60172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1103" baseline="0" b="1" i="1" dirty="0" spc="0">
                <a:solidFill>
                  <a:srgbClr val="C00000"/>
                </a:solidFill>
                <a:latin typeface="Cambria-BoldItalic" pitchFamily="0" charset="1"/>
              </a:rPr>
              <a:t>Ci sono limiti di copertura</a:t>
            </a:r>
            <a:r>
              <a:rPr lang="it-IT" sz="1103" baseline="0" b="1" i="1" dirty="0" spc="0">
                <a:solidFill>
                  <a:srgbClr val="000000"/>
                </a:solidFill>
                <a:latin typeface="Cambria-BoldItalic" pitchFamily="0" charset="1"/>
              </a:rPr>
              <a:t> </a:t>
            </a:r>
          </a:p>
          <a:p>
            <a:pPr marL="0">
              <a:lnSpc>
                <a:spcPts val="115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Le spese mediche sostenute per gli interventi chirurgici indicati nella tabella seguente vengono rimborsate entro il </a:t>
            </a:r>
          </a:p>
          <a:p>
            <a:pPr marL="0">
              <a:lnSpc>
                <a:spcPts val="115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limite di indennizzo indicato A questi interventi chirurgici verrà sempre applicato lo scoperto e franchigia previsti per </a:t>
            </a:r>
          </a:p>
          <a:p>
            <a:pPr marL="0">
              <a:lnSpc>
                <a:spcPts val="1139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gli interventi chirurgici in rete (v. art. 10). </a:t>
            </a:r>
          </a:p>
        </p:txBody>
      </p:sp>
      <p:sp>
        <p:nvSpPr>
          <p:cNvPr id="374" name="Rectangle 374"/>
          <p:cNvSpPr/>
          <p:nvPr/>
        </p:nvSpPr>
        <p:spPr>
          <a:xfrm rot="0" flipH="0" flipV="0">
            <a:off x="216408" y="1996519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375" name="Rectangle 375"/>
          <p:cNvSpPr/>
          <p:nvPr/>
        </p:nvSpPr>
        <p:spPr>
          <a:xfrm rot="0" flipH="0" flipV="0">
            <a:off x="708659" y="2148919"/>
            <a:ext cx="6317700" cy="879035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>
              <a:tabLst>
                <a:tab pos="5257165" algn="l"/>
              </a:tabLst>
            </a:pP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Descrizione pacchetto 	Limite</a:t>
            </a:r>
            <a:r>
              <a:rPr lang="it-IT" sz="996" baseline="0" b="1" i="0" dirty="0" spc="479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di</a:t>
            </a:r>
            <a:r>
              <a:rPr lang="it-IT" sz="996" baseline="0" b="1" i="0" dirty="0" spc="479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inden-</a:t>
            </a:r>
          </a:p>
          <a:p>
            <a:pPr marL="5222113">
              <a:lnSpc>
                <a:spcPts val="1151"/>
              </a:lnSpc>
            </a:pP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nizzo fuori rete </a:t>
            </a:r>
          </a:p>
          <a:p>
            <a:pPr marL="0">
              <a:lnSpc>
                <a:spcPts val="1200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Facoemulsificazione</a:t>
            </a:r>
            <a:r>
              <a:rPr lang="it-IT" sz="996" baseline="0" b="0" i="0" dirty="0" spc="202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ed</a:t>
            </a:r>
            <a:r>
              <a:rPr lang="it-IT" sz="996" baseline="0" b="0" i="0" dirty="0" spc="204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Asportazione</a:t>
            </a:r>
            <a:r>
              <a:rPr lang="it-IT" sz="996" baseline="0" b="1" i="0" dirty="0" spc="188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di</a:t>
            </a:r>
            <a:r>
              <a:rPr lang="it-IT" sz="996" baseline="0" b="1" i="0" dirty="0" spc="190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cataratta</a:t>
            </a:r>
            <a:r>
              <a:rPr lang="it-IT" sz="996" baseline="0" b="1" i="0" dirty="0" spc="217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ed</a:t>
            </a:r>
            <a:r>
              <a:rPr lang="it-IT" sz="996" baseline="0" b="0" i="0" dirty="0" spc="202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impianto</a:t>
            </a:r>
            <a:r>
              <a:rPr lang="it-IT" sz="996" baseline="0" b="0" i="0" dirty="0" spc="190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di</a:t>
            </a:r>
            <a:r>
              <a:rPr lang="it-IT" sz="996" baseline="0" b="0" i="0" dirty="0" spc="190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cristallino</a:t>
            </a:r>
            <a:r>
              <a:rPr lang="it-IT" sz="996" baseline="0" b="0" i="0" dirty="0" spc="202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artificiale </a:t>
            </a:r>
          </a:p>
          <a:p>
            <a:pPr marL="0">
              <a:lnSpc>
                <a:spcPts val="115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(IOL- neutra) in camera anteriore o posteriore (qualsiasi tecnica- ad occhio). Tariffa com- </a:t>
            </a:r>
          </a:p>
          <a:p>
            <a:pPr marL="0">
              <a:lnSpc>
                <a:spcPts val="115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prensiva di: equipe medica, sala operatoria, permanenza nella struttura, materiali, medici- </a:t>
            </a:r>
          </a:p>
          <a:p>
            <a:pPr marL="0">
              <a:lnSpc>
                <a:spcPts val="1154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nali, protesi, analisi ed accertamenti relativi all'intervento. </a:t>
            </a:r>
          </a:p>
        </p:txBody>
      </p:sp>
      <p:sp>
        <p:nvSpPr>
          <p:cNvPr id="376" name="Rectangle 376"/>
          <p:cNvSpPr/>
          <p:nvPr/>
        </p:nvSpPr>
        <p:spPr>
          <a:xfrm rot="0" flipH="0" flipV="0">
            <a:off x="6203950" y="2447623"/>
            <a:ext cx="519796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2.000,00 </a:t>
            </a:r>
          </a:p>
        </p:txBody>
      </p:sp>
      <p:sp>
        <p:nvSpPr>
          <p:cNvPr id="377" name="Rectangle 377"/>
          <p:cNvSpPr/>
          <p:nvPr/>
        </p:nvSpPr>
        <p:spPr>
          <a:xfrm rot="0" flipH="0" flipV="0">
            <a:off x="708659" y="3222197"/>
            <a:ext cx="5180655" cy="578426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Riparazione</a:t>
            </a:r>
            <a:r>
              <a:rPr lang="it-IT" sz="996" baseline="0" b="0" i="0" dirty="0" spc="140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di</a:t>
            </a:r>
            <a:r>
              <a:rPr lang="it-IT" sz="996" baseline="0" b="0" i="0" dirty="0" spc="162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ernia</a:t>
            </a:r>
            <a:r>
              <a:rPr lang="it-IT" sz="996" baseline="0" b="1" i="0" dirty="0" spc="139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ombelicale</a:t>
            </a:r>
            <a:r>
              <a:rPr lang="it-IT" sz="996" baseline="0" b="1" i="0" dirty="0" spc="150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o</a:t>
            </a:r>
            <a:r>
              <a:rPr lang="it-IT" sz="996" baseline="0" b="0" i="0" dirty="0" spc="143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inguinale</a:t>
            </a:r>
            <a:r>
              <a:rPr lang="it-IT" sz="996" baseline="0" b="1" i="0" dirty="0" spc="144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semplice</a:t>
            </a:r>
            <a:r>
              <a:rPr lang="it-IT" sz="996" baseline="0" b="0" i="0" dirty="0" spc="144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comprensiva</a:t>
            </a:r>
            <a:r>
              <a:rPr lang="it-IT" sz="996" baseline="0" b="0" i="0" dirty="0" spc="140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di</a:t>
            </a:r>
            <a:r>
              <a:rPr lang="it-IT" sz="996" baseline="0" b="0" i="0" dirty="0" spc="142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eventuale</a:t>
            </a:r>
            <a:r>
              <a:rPr lang="it-IT" sz="996" baseline="0" b="0" i="0" dirty="0" spc="140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protesi </a:t>
            </a:r>
          </a:p>
          <a:p>
            <a:pPr marL="0">
              <a:lnSpc>
                <a:spcPts val="1151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(qualsiasi tecnica chirurgica). Tariffa comprensiva di: equipe medica, sala operatoria, per- </a:t>
            </a:r>
          </a:p>
          <a:p>
            <a:pPr marL="0">
              <a:lnSpc>
                <a:spcPts val="115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manenza nella struttura, materiali, medicinali, protesi, analisi ed accertamenti relativi all'in-</a:t>
            </a:r>
          </a:p>
          <a:p>
            <a:pPr marL="0">
              <a:lnSpc>
                <a:spcPts val="1140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tervento. </a:t>
            </a:r>
          </a:p>
        </p:txBody>
      </p:sp>
      <p:sp>
        <p:nvSpPr>
          <p:cNvPr id="378" name="Rectangle 378"/>
          <p:cNvSpPr/>
          <p:nvPr/>
        </p:nvSpPr>
        <p:spPr>
          <a:xfrm rot="0" flipH="0" flipV="0">
            <a:off x="6203950" y="3222197"/>
            <a:ext cx="519796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2.700,00 </a:t>
            </a:r>
          </a:p>
        </p:txBody>
      </p:sp>
      <p:sp>
        <p:nvSpPr>
          <p:cNvPr id="379" name="Rectangle 379"/>
          <p:cNvSpPr/>
          <p:nvPr/>
        </p:nvSpPr>
        <p:spPr>
          <a:xfrm rot="0" flipH="0" flipV="0">
            <a:off x="708659" y="3811985"/>
            <a:ext cx="5005523" cy="57994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Sindromi canalicolari, trattamento completo (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tunnel carpale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, S. di Guyon, compressione </a:t>
            </a:r>
          </a:p>
          <a:p>
            <a:pPr marL="0">
              <a:lnSpc>
                <a:spcPts val="1151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del nervo ulnare alla doccia epitroclea-oleocranico, ecc.). Tariffa comprensiva di: equipe </a:t>
            </a:r>
          </a:p>
          <a:p>
            <a:pPr marL="0">
              <a:lnSpc>
                <a:spcPts val="115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medica, sala operatoria, permanenza nella struttura, materiali, medicinali, protesi, analisi </a:t>
            </a:r>
          </a:p>
          <a:p>
            <a:pPr marL="0">
              <a:lnSpc>
                <a:spcPts val="1151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ed accertamenti relativi all'intervento. </a:t>
            </a:r>
          </a:p>
        </p:txBody>
      </p:sp>
      <p:sp>
        <p:nvSpPr>
          <p:cNvPr id="380" name="Rectangle 380"/>
          <p:cNvSpPr/>
          <p:nvPr/>
        </p:nvSpPr>
        <p:spPr>
          <a:xfrm rot="0" flipH="0" flipV="0">
            <a:off x="6203950" y="3811985"/>
            <a:ext cx="519796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1.540,00 </a:t>
            </a:r>
          </a:p>
        </p:txBody>
      </p:sp>
      <p:sp>
        <p:nvSpPr>
          <p:cNvPr id="381" name="Rectangle 381"/>
          <p:cNvSpPr/>
          <p:nvPr/>
        </p:nvSpPr>
        <p:spPr>
          <a:xfrm rot="0" flipH="0" flipV="0">
            <a:off x="708659" y="4403296"/>
            <a:ext cx="5176685" cy="433646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Trattamento chirurgico dito a martello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Tariffa comprensiva di: equipe medica, sala ope-</a:t>
            </a:r>
          </a:p>
          <a:p>
            <a:pPr marL="0">
              <a:lnSpc>
                <a:spcPts val="115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ratoria,</a:t>
            </a:r>
            <a:r>
              <a:rPr lang="it-IT" sz="996" baseline="0" b="0" i="0" dirty="0" spc="166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permanenza</a:t>
            </a:r>
            <a:r>
              <a:rPr lang="it-IT" sz="996" baseline="0" b="0" i="0" dirty="0" spc="166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nella</a:t>
            </a:r>
            <a:r>
              <a:rPr lang="it-IT" sz="996" baseline="0" b="0" i="0" dirty="0" spc="178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struttura,</a:t>
            </a:r>
            <a:r>
              <a:rPr lang="it-IT" sz="996" baseline="0" b="0" i="0" dirty="0" spc="178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materiali,</a:t>
            </a:r>
            <a:r>
              <a:rPr lang="it-IT" sz="996" baseline="0" b="0" i="0" dirty="0" spc="177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medicinali,</a:t>
            </a:r>
            <a:r>
              <a:rPr lang="it-IT" sz="996" baseline="0" b="0" i="0" dirty="0" spc="166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protesi,</a:t>
            </a:r>
            <a:r>
              <a:rPr lang="it-IT" sz="996" baseline="0" b="0" i="0" dirty="0" spc="177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analisi</a:t>
            </a:r>
            <a:r>
              <a:rPr lang="it-IT" sz="996" baseline="0" b="0" i="0" dirty="0" spc="178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ed</a:t>
            </a:r>
            <a:r>
              <a:rPr lang="it-IT" sz="996" baseline="0" b="0" i="0" dirty="0" spc="166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accertamenti </a:t>
            </a:r>
          </a:p>
          <a:p>
            <a:pPr marL="0">
              <a:lnSpc>
                <a:spcPts val="1151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relativi all'intervento. </a:t>
            </a:r>
          </a:p>
        </p:txBody>
      </p:sp>
      <p:sp>
        <p:nvSpPr>
          <p:cNvPr id="382" name="Rectangle 382"/>
          <p:cNvSpPr/>
          <p:nvPr/>
        </p:nvSpPr>
        <p:spPr>
          <a:xfrm rot="0" flipH="0" flipV="0">
            <a:off x="6203950" y="4403296"/>
            <a:ext cx="519796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1.300,00 </a:t>
            </a:r>
          </a:p>
        </p:txBody>
      </p:sp>
      <p:sp>
        <p:nvSpPr>
          <p:cNvPr id="383" name="Rectangle 383"/>
          <p:cNvSpPr/>
          <p:nvPr/>
        </p:nvSpPr>
        <p:spPr>
          <a:xfrm rot="0" flipH="0" flipV="0">
            <a:off x="708659" y="4863798"/>
            <a:ext cx="5092686" cy="433646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Trattamento chirurgico dito a scatto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Tariffa comprensiva di: equipe medica, sala opera- </a:t>
            </a:r>
          </a:p>
          <a:p>
            <a:pPr marL="0">
              <a:lnSpc>
                <a:spcPts val="1151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toria, permanenza nella struttura, materiali, medicinali, protesi, analisi ed accertamenti re- </a:t>
            </a:r>
          </a:p>
          <a:p>
            <a:pPr marL="0">
              <a:lnSpc>
                <a:spcPts val="115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lativi all'intervento. </a:t>
            </a:r>
          </a:p>
        </p:txBody>
      </p:sp>
      <p:sp>
        <p:nvSpPr>
          <p:cNvPr id="384" name="Rectangle 384"/>
          <p:cNvSpPr/>
          <p:nvPr/>
        </p:nvSpPr>
        <p:spPr>
          <a:xfrm rot="0" flipH="0" flipV="0">
            <a:off x="6203950" y="4863798"/>
            <a:ext cx="519796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1.200,00 </a:t>
            </a:r>
          </a:p>
        </p:txBody>
      </p:sp>
      <p:sp>
        <p:nvSpPr>
          <p:cNvPr id="385" name="Rectangle 385"/>
          <p:cNvSpPr/>
          <p:nvPr/>
        </p:nvSpPr>
        <p:spPr>
          <a:xfrm rot="0" flipH="0" flipV="0">
            <a:off x="708659" y="5476446"/>
            <a:ext cx="5181923" cy="28581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Legatura</a:t>
            </a:r>
            <a:r>
              <a:rPr lang="it-IT" sz="996" baseline="0" b="1" i="0" dirty="0" spc="106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emorroidi</a:t>
            </a:r>
            <a:r>
              <a:rPr lang="it-IT" sz="996" baseline="0" b="1" i="0" dirty="0" spc="131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Tariffa</a:t>
            </a:r>
            <a:r>
              <a:rPr lang="it-IT" sz="996" baseline="0" b="0" i="0" dirty="0" spc="107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comprensiva di: equipe</a:t>
            </a:r>
            <a:r>
              <a:rPr lang="it-IT" sz="996" baseline="0" b="0" i="0" dirty="0" spc="119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medica, sala</a:t>
            </a:r>
            <a:r>
              <a:rPr lang="it-IT" sz="996" baseline="0" b="0" i="0" dirty="0" spc="107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operatoria,</a:t>
            </a:r>
            <a:r>
              <a:rPr lang="it-IT" sz="996" baseline="0" b="0" i="0" dirty="0" spc="107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permanenza </a:t>
            </a:r>
          </a:p>
          <a:p>
            <a:pPr marL="0">
              <a:lnSpc>
                <a:spcPts val="1139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nella struttura, materiali, medicinali, protesi, analisi ed accertamenti relativi all'intervento. </a:t>
            </a:r>
          </a:p>
        </p:txBody>
      </p:sp>
      <p:sp>
        <p:nvSpPr>
          <p:cNvPr id="386" name="Rectangle 386"/>
          <p:cNvSpPr/>
          <p:nvPr/>
        </p:nvSpPr>
        <p:spPr>
          <a:xfrm rot="0" flipH="0" flipV="0">
            <a:off x="6255765" y="5476446"/>
            <a:ext cx="416165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300,00 </a:t>
            </a:r>
          </a:p>
        </p:txBody>
      </p:sp>
      <p:sp>
        <p:nvSpPr>
          <p:cNvPr id="387" name="Rectangle 387"/>
          <p:cNvSpPr/>
          <p:nvPr/>
        </p:nvSpPr>
        <p:spPr>
          <a:xfrm rot="0" flipH="0" flipV="0">
            <a:off x="708659" y="5938218"/>
            <a:ext cx="5146887" cy="28581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Biopsia</a:t>
            </a:r>
            <a:r>
              <a:rPr lang="it-IT" sz="996" baseline="0" b="1" i="0" dirty="0" spc="191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della</a:t>
            </a:r>
            <a:r>
              <a:rPr lang="it-IT" sz="996" baseline="0" b="1" i="0" dirty="0" spc="191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prostata</a:t>
            </a:r>
            <a:r>
              <a:rPr lang="it-IT" sz="996" baseline="0" b="1" i="0" dirty="0" spc="215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Tariffa</a:t>
            </a:r>
            <a:r>
              <a:rPr lang="it-IT" sz="996" baseline="0" b="0" i="0" dirty="0" spc="194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comprensiva</a:t>
            </a:r>
            <a:r>
              <a:rPr lang="it-IT" sz="996" baseline="0" b="0" i="0" dirty="0" spc="215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di:</a:t>
            </a:r>
            <a:r>
              <a:rPr lang="it-IT" sz="996" baseline="0" b="0" i="0" dirty="0" spc="215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equipe</a:t>
            </a:r>
            <a:r>
              <a:rPr lang="it-IT" sz="996" baseline="0" b="0" i="0" dirty="0" spc="239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medica,</a:t>
            </a:r>
            <a:r>
              <a:rPr lang="it-IT" sz="996" baseline="0" b="0" i="0" dirty="0" spc="203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sala</a:t>
            </a:r>
            <a:r>
              <a:rPr lang="it-IT" sz="996" baseline="0" b="0" i="0" dirty="0" spc="203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operatoria,</a:t>
            </a:r>
            <a:r>
              <a:rPr lang="it-IT" sz="996" baseline="0" b="0" i="0" dirty="0" spc="215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perma-</a:t>
            </a:r>
          </a:p>
          <a:p>
            <a:pPr marL="0">
              <a:lnSpc>
                <a:spcPts val="1139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nenza nella struttura (escluso esame istologico). </a:t>
            </a:r>
          </a:p>
        </p:txBody>
      </p:sp>
      <p:sp>
        <p:nvSpPr>
          <p:cNvPr id="388" name="Rectangle 388"/>
          <p:cNvSpPr/>
          <p:nvPr/>
        </p:nvSpPr>
        <p:spPr>
          <a:xfrm rot="0" flipH="0" flipV="0">
            <a:off x="6255765" y="5938218"/>
            <a:ext cx="416165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415,00 </a:t>
            </a:r>
          </a:p>
        </p:txBody>
      </p:sp>
      <p:sp>
        <p:nvSpPr>
          <p:cNvPr id="389" name="Rectangle 389"/>
          <p:cNvSpPr/>
          <p:nvPr/>
        </p:nvSpPr>
        <p:spPr>
          <a:xfrm rot="0" flipH="0" flipV="0">
            <a:off x="708659" y="6396942"/>
            <a:ext cx="5146887" cy="28734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Agobiopsia</a:t>
            </a:r>
            <a:r>
              <a:rPr lang="it-IT" sz="996" baseline="0" b="1" i="0" dirty="0" spc="191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mammella</a:t>
            </a:r>
            <a:r>
              <a:rPr lang="it-IT" sz="996" baseline="0" b="1" i="0" dirty="0" spc="215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Tariffa</a:t>
            </a:r>
            <a:r>
              <a:rPr lang="it-IT" sz="996" baseline="0" b="0" i="0" dirty="0" spc="194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comprensiva</a:t>
            </a:r>
            <a:r>
              <a:rPr lang="it-IT" sz="996" baseline="0" b="0" i="0" dirty="0" spc="191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di:</a:t>
            </a:r>
            <a:r>
              <a:rPr lang="it-IT" sz="996" baseline="0" b="0" i="0" dirty="0" spc="191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equipe</a:t>
            </a:r>
            <a:r>
              <a:rPr lang="it-IT" sz="996" baseline="0" b="0" i="0" dirty="0" spc="215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medica,</a:t>
            </a:r>
            <a:r>
              <a:rPr lang="it-IT" sz="996" baseline="0" b="0" i="0" dirty="0" spc="191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sala</a:t>
            </a:r>
            <a:r>
              <a:rPr lang="it-IT" sz="996" baseline="0" b="0" i="0" dirty="0" spc="215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operatoria,</a:t>
            </a:r>
            <a:r>
              <a:rPr lang="it-IT" sz="996" baseline="0" b="0" i="0" dirty="0" spc="191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perma-</a:t>
            </a:r>
          </a:p>
          <a:p>
            <a:pPr marL="0">
              <a:lnSpc>
                <a:spcPts val="1151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nenza nella struttura (escluso esame istologico). </a:t>
            </a:r>
          </a:p>
        </p:txBody>
      </p:sp>
      <p:sp>
        <p:nvSpPr>
          <p:cNvPr id="390" name="Rectangle 390"/>
          <p:cNvSpPr/>
          <p:nvPr/>
        </p:nvSpPr>
        <p:spPr>
          <a:xfrm rot="0" flipH="0" flipV="0">
            <a:off x="6255765" y="6396942"/>
            <a:ext cx="416165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250,00 </a:t>
            </a:r>
          </a:p>
        </p:txBody>
      </p:sp>
      <p:sp>
        <p:nvSpPr>
          <p:cNvPr id="391" name="Rectangle 391"/>
          <p:cNvSpPr/>
          <p:nvPr/>
        </p:nvSpPr>
        <p:spPr>
          <a:xfrm rot="0" flipH="0" flipV="0">
            <a:off x="708659" y="6859095"/>
            <a:ext cx="5181530" cy="433646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Laser ad eccimeri - Lasik, Lasek, PRK, Epilasik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e consimili. Tariffa comprensiva di: equipe</a:t>
            </a:r>
          </a:p>
          <a:p>
            <a:pPr marL="0">
              <a:lnSpc>
                <a:spcPts val="115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medica, sala operatoria, permanenza nella struttura, materiali, medicinali, protesi, analisi ed </a:t>
            </a:r>
          </a:p>
          <a:p>
            <a:pPr marL="0">
              <a:lnSpc>
                <a:spcPts val="1151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accertamenti relativi all'intervento.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392" name="Rectangle 392"/>
          <p:cNvSpPr/>
          <p:nvPr/>
        </p:nvSpPr>
        <p:spPr>
          <a:xfrm rot="0" flipH="0" flipV="0">
            <a:off x="6203950" y="6859095"/>
            <a:ext cx="519796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1.200,00 </a:t>
            </a:r>
          </a:p>
        </p:txBody>
      </p:sp>
      <p:sp>
        <p:nvSpPr>
          <p:cNvPr id="393" name="Rectangle 393"/>
          <p:cNvSpPr/>
          <p:nvPr/>
        </p:nvSpPr>
        <p:spPr>
          <a:xfrm rot="0" flipH="0" flipV="0">
            <a:off x="708659" y="7320867"/>
            <a:ext cx="5182329" cy="433646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1" i="1" dirty="0" spc="0">
                <a:solidFill>
                  <a:srgbClr val="000000"/>
                </a:solidFill>
                <a:latin typeface="Arial" pitchFamily="0" charset="1"/>
              </a:rPr>
              <a:t>Lesioni cutanee</a:t>
            </a:r>
            <a:r>
              <a:rPr lang="it-IT" sz="996" baseline="0" b="0" i="1" dirty="0" spc="0">
                <a:solidFill>
                  <a:srgbClr val="000000"/>
                </a:solidFill>
                <a:latin typeface="Arial" pitchFamily="0" charset="1"/>
              </a:rPr>
              <a:t>,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trattamento e /o asportazione. Tariffa comprensiva di: equipe medica, sala</a:t>
            </a:r>
          </a:p>
          <a:p>
            <a:pPr marL="0">
              <a:lnSpc>
                <a:spcPts val="115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operatoria, permanenza nella struttura, materiali, medicinali, protesi, analisi ed accer- tamenti </a:t>
            </a:r>
          </a:p>
          <a:p>
            <a:pPr marL="0">
              <a:lnSpc>
                <a:spcPts val="1151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relativi all'intervento.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394" name="Rectangle 394"/>
          <p:cNvSpPr/>
          <p:nvPr/>
        </p:nvSpPr>
        <p:spPr>
          <a:xfrm rot="0" flipH="0" flipV="0">
            <a:off x="6255765" y="7320867"/>
            <a:ext cx="416165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350,00 </a:t>
            </a:r>
          </a:p>
        </p:txBody>
      </p:sp>
      <p:sp>
        <p:nvSpPr>
          <p:cNvPr id="395" name="Rectangle 395"/>
          <p:cNvSpPr/>
          <p:nvPr/>
        </p:nvSpPr>
        <p:spPr>
          <a:xfrm rot="0" flipH="0" flipV="0">
            <a:off x="216408" y="7779401"/>
            <a:ext cx="3389" cy="1359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</a:p>
        </p:txBody>
      </p:sp>
      <p:sp>
        <p:nvSpPr>
          <p:cNvPr id="396" name="Rectangle 396"/>
          <p:cNvSpPr/>
          <p:nvPr/>
        </p:nvSpPr>
        <p:spPr>
          <a:xfrm rot="0" flipH="0" flipV="0">
            <a:off x="216408" y="7798816"/>
            <a:ext cx="42367" cy="169924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1200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397" name="Rectangle 397"/>
          <p:cNvSpPr/>
          <p:nvPr/>
        </p:nvSpPr>
        <p:spPr>
          <a:xfrm rot="0" flipH="0" flipV="0">
            <a:off x="446531" y="7999222"/>
            <a:ext cx="6652118" cy="194705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1200" baseline="0" b="1" i="1" dirty="0" spc="0">
                <a:solidFill>
                  <a:srgbClr val="000000"/>
                </a:solidFill>
                <a:latin typeface="Calibri-BoldItalic" pitchFamily="0" charset="1"/>
              </a:rPr>
              <a:t>Art. 4.2 Ricovero in istituto di cura od in regime di Day Hospital, o prestazioni in regime ambulatoriale </a:t>
            </a:r>
          </a:p>
          <a:p>
            <a:pPr marL="0">
              <a:lnSpc>
                <a:spcPts val="1464"/>
              </a:lnSpc>
            </a:pPr>
            <a:r>
              <a:rPr lang="it-IT" sz="1200" baseline="0" b="1" i="1" dirty="0" spc="0">
                <a:solidFill>
                  <a:srgbClr val="000000"/>
                </a:solidFill>
                <a:latin typeface="Calibri-BoldItalic" pitchFamily="0" charset="1"/>
              </a:rPr>
              <a:t>che non comporti intervento chirurgico: </a:t>
            </a:r>
          </a:p>
          <a:p>
            <a:pPr marL="227076">
              <a:lnSpc>
                <a:spcPts val="1169"/>
              </a:lnSpc>
              <a:tabLst>
                <a:tab pos="452932" algn="l"/>
              </a:tabLst>
            </a:pPr>
            <a:r>
              <a:rPr lang="it-IT" sz="996" baseline="0" b="0" i="0" dirty="0" spc="-8">
                <a:solidFill>
                  <a:srgbClr val="000000"/>
                </a:solidFill>
                <a:latin typeface="Arial" pitchFamily="0" charset="1"/>
              </a:rPr>
              <a:t>-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	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assistenza</a:t>
            </a:r>
            <a:r>
              <a:rPr lang="it-IT" sz="996" baseline="0" b="0" i="0" dirty="0" spc="299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medica</a:t>
            </a:r>
            <a:r>
              <a:rPr lang="it-IT" sz="996" baseline="0" b="0" i="0" dirty="0" spc="311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ed</a:t>
            </a:r>
            <a:r>
              <a:rPr lang="it-IT" sz="996" baseline="0" b="0" i="0" dirty="0" spc="323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infermieristica,</a:t>
            </a:r>
            <a:r>
              <a:rPr lang="it-IT" sz="996" baseline="0" b="0" i="0" dirty="0" spc="287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cure</a:t>
            </a:r>
            <a:r>
              <a:rPr lang="it-IT" sz="996" baseline="0" b="0" i="0" dirty="0" spc="287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trattamenti</a:t>
            </a:r>
            <a:r>
              <a:rPr lang="it-IT" sz="996" baseline="0" b="0" i="0" dirty="0" spc="299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fisioterapici</a:t>
            </a:r>
            <a:r>
              <a:rPr lang="it-IT" sz="996" baseline="0" b="0" i="0" dirty="0" spc="287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e</a:t>
            </a:r>
            <a:r>
              <a:rPr lang="it-IT" sz="996" baseline="0" b="0" i="0" dirty="0" spc="287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rieducativi,</a:t>
            </a:r>
            <a:r>
              <a:rPr lang="it-IT" sz="996" baseline="0" b="0" i="0" dirty="0" spc="311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medicinali,</a:t>
            </a:r>
            <a:r>
              <a:rPr lang="it-IT" sz="996" baseline="0" b="0" i="0" dirty="0" spc="299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esami</a:t>
            </a:r>
            <a:r>
              <a:rPr lang="it-IT" sz="996" baseline="0" b="0" i="0" dirty="0" spc="299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ed </a:t>
            </a:r>
          </a:p>
          <a:p>
            <a:pPr marL="452932">
              <a:lnSpc>
                <a:spcPts val="115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accertamenti diagnostici riguardanti il periodo di ricovero o sostenuti durante il Day Hospital; </a:t>
            </a:r>
          </a:p>
          <a:p>
            <a:pPr marL="227076">
              <a:lnSpc>
                <a:spcPts val="1141"/>
              </a:lnSpc>
              <a:tabLst>
                <a:tab pos="452932" algn="l"/>
              </a:tabLst>
            </a:pPr>
            <a:r>
              <a:rPr lang="it-IT" sz="996" baseline="0" b="0" i="0" dirty="0" spc="-8">
                <a:solidFill>
                  <a:srgbClr val="000000"/>
                </a:solidFill>
                <a:latin typeface="Arial" pitchFamily="0" charset="1"/>
              </a:rPr>
              <a:t>-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	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esami,</a:t>
            </a:r>
            <a:r>
              <a:rPr lang="it-IT" sz="996" baseline="0" b="0" i="0" dirty="0" spc="154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accertamenti</a:t>
            </a:r>
            <a:r>
              <a:rPr lang="it-IT" sz="996" baseline="0" b="0" i="0" dirty="0" spc="154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diagnostici</a:t>
            </a:r>
            <a:r>
              <a:rPr lang="it-IT" sz="996" baseline="0" b="0" i="0" dirty="0" spc="166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e</a:t>
            </a:r>
            <a:r>
              <a:rPr lang="it-IT" sz="996" baseline="0" b="0" i="0" dirty="0" spc="152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visite</a:t>
            </a:r>
            <a:r>
              <a:rPr lang="it-IT" sz="996" baseline="0" b="0" i="0" dirty="0" spc="154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specialistiche,</a:t>
            </a:r>
            <a:r>
              <a:rPr lang="it-IT" sz="996" baseline="0" b="0" i="0" dirty="0" spc="181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effettuati</a:t>
            </a:r>
            <a:r>
              <a:rPr lang="it-IT" sz="996" baseline="0" b="1" i="0" dirty="0" spc="155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nei</a:t>
            </a:r>
            <a:r>
              <a:rPr lang="it-IT" sz="996" baseline="0" b="1" i="0" dirty="0" spc="163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90</a:t>
            </a:r>
            <a:r>
              <a:rPr lang="it-IT" sz="996" baseline="0" b="1" i="0" dirty="0" spc="154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giorni</a:t>
            </a:r>
            <a:r>
              <a:rPr lang="it-IT" sz="996" baseline="0" b="1" i="0" dirty="0" spc="154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precedenti</a:t>
            </a:r>
            <a:r>
              <a:rPr lang="it-IT" sz="996" baseline="0" b="1" i="0" dirty="0" spc="165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il</a:t>
            </a:r>
            <a:r>
              <a:rPr lang="it-IT" sz="996" baseline="0" b="1" i="0" dirty="0" spc="164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ricovero</a:t>
            </a:r>
            <a:r>
              <a:rPr lang="it-IT" sz="996" baseline="0" b="1" i="0" dirty="0" spc="179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in </a:t>
            </a:r>
          </a:p>
          <a:p>
            <a:pPr marL="452932">
              <a:lnSpc>
                <a:spcPts val="1151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istituto</a:t>
            </a:r>
            <a:r>
              <a:rPr lang="it-IT" sz="996" baseline="0" b="0" i="0" dirty="0" spc="139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di</a:t>
            </a:r>
            <a:r>
              <a:rPr lang="it-IT" sz="996" baseline="0" b="0" i="0" dirty="0" spc="142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cura,</a:t>
            </a:r>
            <a:r>
              <a:rPr lang="it-IT" sz="996" baseline="0" b="0" i="0" dirty="0" spc="142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purché</a:t>
            </a:r>
            <a:r>
              <a:rPr lang="it-IT" sz="996" baseline="0" b="0" i="0" dirty="0" spc="142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direttamente</a:t>
            </a:r>
            <a:r>
              <a:rPr lang="it-IT" sz="996" baseline="0" b="0" i="0" dirty="0" spc="158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inerenti</a:t>
            </a:r>
            <a:r>
              <a:rPr lang="it-IT" sz="996" baseline="0" b="0" i="0" dirty="0" spc="142">
                <a:solidFill>
                  <a:srgbClr val="000000"/>
                </a:solidFill>
                <a:latin typeface="ArialMT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alla</a:t>
            </a:r>
            <a:r>
              <a:rPr lang="it-IT" sz="996" baseline="0" b="0" i="0" dirty="0" spc="140">
                <a:solidFill>
                  <a:srgbClr val="000000"/>
                </a:solidFill>
                <a:latin typeface="ArialMT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malattia</a:t>
            </a:r>
            <a:r>
              <a:rPr lang="it-IT" sz="996" baseline="0" b="0" i="0" dirty="0" spc="140">
                <a:solidFill>
                  <a:srgbClr val="000000"/>
                </a:solidFill>
                <a:latin typeface="ArialMT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o</a:t>
            </a:r>
            <a:r>
              <a:rPr lang="it-IT" sz="996" baseline="0" b="0" i="0" dirty="0" spc="140">
                <a:solidFill>
                  <a:srgbClr val="000000"/>
                </a:solidFill>
                <a:latin typeface="ArialMT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all’infortunio</a:t>
            </a:r>
            <a:r>
              <a:rPr lang="it-IT" sz="996" baseline="0" b="0" i="0" dirty="0" spc="140">
                <a:solidFill>
                  <a:srgbClr val="000000"/>
                </a:solidFill>
                <a:latin typeface="ArialMT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che</a:t>
            </a:r>
            <a:r>
              <a:rPr lang="it-IT" sz="996" baseline="0" b="0" i="0" dirty="0" spc="142">
                <a:solidFill>
                  <a:srgbClr val="000000"/>
                </a:solidFill>
                <a:latin typeface="ArialMT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ha</a:t>
            </a:r>
            <a:r>
              <a:rPr lang="it-IT" sz="996" baseline="0" b="0" i="0" dirty="0" spc="142">
                <a:solidFill>
                  <a:srgbClr val="000000"/>
                </a:solidFill>
                <a:latin typeface="ArialMT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determinato</a:t>
            </a:r>
            <a:r>
              <a:rPr lang="it-IT" sz="996" baseline="0" b="0" i="0" dirty="0" spc="154">
                <a:solidFill>
                  <a:srgbClr val="000000"/>
                </a:solidFill>
                <a:latin typeface="ArialMT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il</a:t>
            </a:r>
            <a:r>
              <a:rPr lang="it-IT" sz="996" baseline="0" b="0" i="0" dirty="0" spc="142">
                <a:solidFill>
                  <a:srgbClr val="000000"/>
                </a:solidFill>
                <a:latin typeface="ArialMT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ricorso</a:t>
            </a:r>
            <a:r>
              <a:rPr lang="it-IT" sz="996" baseline="0" b="0" i="0" dirty="0" spc="152">
                <a:solidFill>
                  <a:srgbClr val="000000"/>
                </a:solidFill>
                <a:latin typeface="ArialMT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alle </a:t>
            </a:r>
          </a:p>
          <a:p>
            <a:pPr marL="452932">
              <a:lnSpc>
                <a:spcPts val="115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prestazioni; </a:t>
            </a:r>
          </a:p>
          <a:p>
            <a:pPr marL="227076">
              <a:lnSpc>
                <a:spcPts val="1152"/>
              </a:lnSpc>
              <a:tabLst>
                <a:tab pos="452932" algn="l"/>
              </a:tabLst>
            </a:pPr>
            <a:r>
              <a:rPr lang="it-IT" sz="996" baseline="0" b="0" i="0" dirty="0" spc="-8">
                <a:solidFill>
                  <a:srgbClr val="000000"/>
                </a:solidFill>
                <a:latin typeface="Arial" pitchFamily="0" charset="1"/>
              </a:rPr>
              <a:t>-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	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rette di degenza; </a:t>
            </a:r>
          </a:p>
          <a:p>
            <a:pPr marL="227076">
              <a:lnSpc>
                <a:spcPts val="1151"/>
              </a:lnSpc>
              <a:tabLst>
                <a:tab pos="452932" algn="l"/>
              </a:tabLst>
            </a:pPr>
            <a:r>
              <a:rPr lang="it-IT" sz="996" baseline="0" b="0" i="0" dirty="0" spc="-8">
                <a:solidFill>
                  <a:srgbClr val="000000"/>
                </a:solidFill>
                <a:latin typeface="Arial" pitchFamily="0" charset="1"/>
              </a:rPr>
              <a:t>-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	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esami</a:t>
            </a:r>
            <a:r>
              <a:rPr lang="it-IT" sz="996" baseline="0" b="0" i="0" dirty="0" spc="238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e</a:t>
            </a:r>
            <a:r>
              <a:rPr lang="it-IT" sz="996" baseline="0" b="0" i="0" dirty="0" spc="227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visite</a:t>
            </a:r>
            <a:r>
              <a:rPr lang="it-IT" sz="996" baseline="0" b="0" i="0" dirty="0" spc="227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specialistiche,</a:t>
            </a:r>
            <a:r>
              <a:rPr lang="it-IT" sz="996" baseline="0" b="0" i="0" dirty="0" spc="227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medicine,</a:t>
            </a:r>
            <a:r>
              <a:rPr lang="it-IT" sz="996" baseline="0" b="0" i="0" dirty="0" spc="227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prestazioni</a:t>
            </a:r>
            <a:r>
              <a:rPr lang="it-IT" sz="996" baseline="0" b="0" i="0" dirty="0" spc="227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mediche</a:t>
            </a:r>
            <a:r>
              <a:rPr lang="it-IT" sz="996" baseline="0" b="0" i="0" dirty="0" spc="239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ed</a:t>
            </a:r>
            <a:r>
              <a:rPr lang="it-IT" sz="996" baseline="0" b="0" i="0" dirty="0" spc="251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infermieristiche,</a:t>
            </a:r>
            <a:r>
              <a:rPr lang="it-IT" sz="996" baseline="0" b="0" i="0" dirty="0" spc="227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acquisto</a:t>
            </a:r>
            <a:r>
              <a:rPr lang="it-IT" sz="996" baseline="0" b="0" i="0" dirty="0" spc="239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e/o</a:t>
            </a:r>
            <a:r>
              <a:rPr lang="it-IT" sz="996" baseline="0" b="0" i="0" dirty="0" spc="227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noleggio</a:t>
            </a:r>
            <a:r>
              <a:rPr lang="it-IT" sz="996" baseline="0" b="0" i="0" dirty="0" spc="239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di </a:t>
            </a:r>
          </a:p>
          <a:p>
            <a:pPr marL="452932">
              <a:lnSpc>
                <a:spcPts val="1140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apparec- chi protesici e sanitari comprese le carrozzelle ortopediche, trattamenti fisioterapici o rieducativi, cure </a:t>
            </a:r>
          </a:p>
          <a:p>
            <a:pPr marL="452932">
              <a:lnSpc>
                <a:spcPts val="1151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termali</a:t>
            </a:r>
            <a:r>
              <a:rPr lang="it-IT" sz="996" baseline="0" b="0" i="0" dirty="0" spc="226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(escluse</a:t>
            </a:r>
            <a:r>
              <a:rPr lang="it-IT" sz="996" baseline="0" b="0" i="0" dirty="0" spc="224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in</a:t>
            </a:r>
            <a:r>
              <a:rPr lang="it-IT" sz="996" baseline="0" b="0" i="0" dirty="0" spc="224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ogni</a:t>
            </a:r>
            <a:r>
              <a:rPr lang="it-IT" sz="996" baseline="0" b="0" i="0" dirty="0" spc="226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caso</a:t>
            </a:r>
            <a:r>
              <a:rPr lang="it-IT" sz="996" baseline="0" b="0" i="0" dirty="0" spc="224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le</a:t>
            </a:r>
            <a:r>
              <a:rPr lang="it-IT" sz="996" baseline="0" b="0" i="0" dirty="0" spc="224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spese</a:t>
            </a:r>
            <a:r>
              <a:rPr lang="it-IT" sz="996" baseline="0" b="0" i="0" dirty="0" spc="224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di</a:t>
            </a:r>
            <a:r>
              <a:rPr lang="it-IT" sz="996" baseline="0" b="0" i="0" dirty="0" spc="226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natura</a:t>
            </a:r>
            <a:r>
              <a:rPr lang="it-IT" sz="996" baseline="0" b="0" i="0" dirty="0" spc="224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alberghiera),</a:t>
            </a:r>
            <a:r>
              <a:rPr lang="it-IT" sz="996" baseline="0" b="0" i="0" dirty="0" spc="261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effettuati</a:t>
            </a:r>
            <a:r>
              <a:rPr lang="it-IT" sz="996" baseline="0" b="1" i="0" dirty="0" spc="228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nei</a:t>
            </a:r>
            <a:r>
              <a:rPr lang="it-IT" sz="996" baseline="0" b="1" i="0" dirty="0" spc="223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120</a:t>
            </a:r>
            <a:r>
              <a:rPr lang="it-IT" sz="996" baseline="0" b="1" i="0" dirty="0" spc="224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giorni</a:t>
            </a:r>
            <a:r>
              <a:rPr lang="it-IT" sz="996" baseline="0" b="1" i="0" dirty="0" spc="228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successivi</a:t>
            </a:r>
            <a:r>
              <a:rPr lang="it-IT" sz="996" baseline="0" b="1" i="0" dirty="0" spc="225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alla </a:t>
            </a:r>
          </a:p>
          <a:p>
            <a:pPr marL="452932">
              <a:lnSpc>
                <a:spcPts val="1152"/>
              </a:lnSpc>
            </a:pP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dimissione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dal ricovero purché direttamente inerenti alla malattia o all’infortunio che ha determinato il ricorso </a:t>
            </a:r>
          </a:p>
          <a:p>
            <a:pPr marL="452932">
              <a:lnSpc>
                <a:spcPts val="115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alle prestazioni;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/>
      </p:grpSpPr>
      <p:pic>
        <p:nvPicPr>
          <p:cNvPr id="398" name="Picture 398"/>
          <p:cNvPicPr>
            <a:picLocks noChangeAspect="0" noChangeArrowheads="1"/>
          </p:cNvPicPr>
          <p:nvPr/>
        </p:nvPicPr>
        <p:blipFill>
          <a:blip r:embed="rId39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 flipH="0" flipV="0">
            <a:off x="445388" y="3013964"/>
            <a:ext cx="209550" cy="219075"/>
          </a:xfrm>
          <a:prstGeom prst="rect">
            <a:avLst/>
          </a:prstGeom>
          <a:noFill/>
          <a:extLst/>
        </p:spPr>
      </p:pic>
      <p:sp>
        <p:nvSpPr>
          <p:cNvPr id="399" name="Freeform 399"/>
          <p:cNvSpPr/>
          <p:nvPr/>
        </p:nvSpPr>
        <p:spPr>
          <a:xfrm rot="0" flipH="0" flipV="0">
            <a:off x="374522" y="2997962"/>
            <a:ext cx="6896100" cy="1018540"/>
          </a:xfrm>
          <a:custGeom>
            <a:pathLst>
              <a:path w="6896100" h="1018540">
                <a:moveTo>
                  <a:pt x="0" y="1018540"/>
                </a:moveTo>
                <a:lnTo>
                  <a:pt x="6896100" y="1018540"/>
                </a:lnTo>
                <a:lnTo>
                  <a:pt x="6896100" y="0"/>
                </a:lnTo>
                <a:lnTo>
                  <a:pt x="0" y="0"/>
                </a:lnTo>
                <a:lnTo>
                  <a:pt x="0" y="1018540"/>
                </a:lnTo>
                <a:close/>
              </a:path>
            </a:pathLst>
          </a:custGeom>
          <a:noFill/>
          <a:ln w="6095" cap="flat" cmpd="sng">
            <a:solidFill>
              <a:srgbClr val="000000">
                <a:alpha val="10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400" name="Picture 400"/>
          <p:cNvPicPr>
            <a:picLocks noChangeAspect="0" noChangeArrowheads="1"/>
          </p:cNvPicPr>
          <p:nvPr/>
        </p:nvPicPr>
        <p:blipFill>
          <a:blip r:embed="rId40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 flipH="0" flipV="0">
            <a:off x="377952" y="3000757"/>
            <a:ext cx="6890004" cy="1011936"/>
          </a:xfrm>
          <a:prstGeom prst="rect">
            <a:avLst/>
          </a:prstGeom>
          <a:noFill/>
          <a:extLst/>
        </p:spPr>
      </p:pic>
      <p:pic>
        <p:nvPicPr>
          <p:cNvPr id="401" name="Picture 401"/>
          <p:cNvPicPr>
            <a:picLocks noChangeAspect="0" noChangeArrowheads="1"/>
          </p:cNvPicPr>
          <p:nvPr/>
        </p:nvPicPr>
        <p:blipFill>
          <a:blip r:embed="rId40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 flipH="0" flipV="0">
            <a:off x="290702" y="6491097"/>
            <a:ext cx="209550" cy="219075"/>
          </a:xfrm>
          <a:prstGeom prst="rect">
            <a:avLst/>
          </a:prstGeom>
          <a:noFill/>
          <a:extLst/>
        </p:spPr>
      </p:pic>
      <p:sp>
        <p:nvSpPr>
          <p:cNvPr id="402" name="Freeform 402"/>
          <p:cNvSpPr/>
          <p:nvPr/>
        </p:nvSpPr>
        <p:spPr>
          <a:xfrm rot="0" flipH="0" flipV="0">
            <a:off x="218947" y="6475858"/>
            <a:ext cx="6986270" cy="1341120"/>
          </a:xfrm>
          <a:custGeom>
            <a:pathLst>
              <a:path w="6986270" h="1341120">
                <a:moveTo>
                  <a:pt x="0" y="1341120"/>
                </a:moveTo>
                <a:lnTo>
                  <a:pt x="6986270" y="1341120"/>
                </a:lnTo>
                <a:lnTo>
                  <a:pt x="6986270" y="0"/>
                </a:lnTo>
                <a:lnTo>
                  <a:pt x="0" y="0"/>
                </a:lnTo>
                <a:lnTo>
                  <a:pt x="0" y="1341120"/>
                </a:lnTo>
                <a:close/>
              </a:path>
            </a:pathLst>
          </a:custGeom>
          <a:noFill/>
          <a:ln w="6095" cap="flat" cmpd="sng">
            <a:solidFill>
              <a:srgbClr val="000000">
                <a:alpha val="10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403" name="Picture 403"/>
          <p:cNvPicPr>
            <a:picLocks noChangeAspect="0" noChangeArrowheads="1"/>
          </p:cNvPicPr>
          <p:nvPr/>
        </p:nvPicPr>
        <p:blipFill>
          <a:blip r:embed="rId40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 flipH="0" flipV="0">
            <a:off x="222504" y="6478524"/>
            <a:ext cx="6979919" cy="1335024"/>
          </a:xfrm>
          <a:prstGeom prst="rect">
            <a:avLst/>
          </a:prstGeom>
          <a:noFill/>
          <a:extLst/>
        </p:spPr>
      </p:pic>
      <p:sp>
        <p:nvSpPr>
          <p:cNvPr id="404" name="Rectangle 404"/>
          <p:cNvSpPr/>
          <p:nvPr/>
        </p:nvSpPr>
        <p:spPr>
          <a:xfrm rot="0" flipH="0" flipV="0">
            <a:off x="216408" y="9969041"/>
            <a:ext cx="6881559" cy="158594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>
              <a:tabLst>
                <a:tab pos="143255" algn="l"/>
                <a:tab pos="2844419" algn="l"/>
                <a:tab pos="5645784" algn="l"/>
              </a:tabLst>
            </a:pPr>
            <a:r>
              <a:rPr lang="it-IT" sz="1509" baseline="-31325" b="0" i="0" dirty="0" spc="0">
                <a:solidFill>
                  <a:srgbClr val="000000"/>
                </a:solidFill>
                <a:latin typeface="Arial" pitchFamily="0" charset="1"/>
              </a:rPr>
              <a:t> 	</a:t>
            </a:r>
            <a:r>
              <a:rPr lang="it-IT" sz="803" baseline="0" b="1" i="0" dirty="0" spc="0">
                <a:solidFill>
                  <a:srgbClr val="000000"/>
                </a:solidFill>
                <a:latin typeface="Arial" pitchFamily="0" charset="1"/>
              </a:rPr>
              <a:t>GENERASalute RSM 	</a:t>
            </a:r>
            <a:r>
              <a:rPr lang="it-IT" sz="803" baseline="0" b="0" i="0" dirty="0" spc="0">
                <a:solidFill>
                  <a:srgbClr val="000000"/>
                </a:solidFill>
                <a:latin typeface="Arial" pitchFamily="0" charset="1"/>
              </a:rPr>
              <a:t>Edizione 05.2022 	Condizioni di assicurazione </a:t>
            </a:r>
          </a:p>
        </p:txBody>
      </p:sp>
      <p:sp>
        <p:nvSpPr>
          <p:cNvPr id="405" name="Rectangle 405"/>
          <p:cNvSpPr/>
          <p:nvPr/>
        </p:nvSpPr>
        <p:spPr>
          <a:xfrm rot="0" flipH="0" flipV="0">
            <a:off x="673608" y="664289"/>
            <a:ext cx="6464666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>
              <a:tabLst>
                <a:tab pos="225856" algn="l"/>
              </a:tabLst>
            </a:pPr>
            <a:r>
              <a:rPr lang="it-IT" sz="996" baseline="0" b="0" i="0" dirty="0" spc="-8">
                <a:solidFill>
                  <a:srgbClr val="000000"/>
                </a:solidFill>
                <a:latin typeface="Arial" pitchFamily="0" charset="1"/>
              </a:rPr>
              <a:t>-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	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trasporto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dell’Assicurato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in autoambulanza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all’istituto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di cura e viceversa, col 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massimo di 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€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 1.100 per ricovero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. </a:t>
            </a:r>
          </a:p>
        </p:txBody>
      </p:sp>
      <p:sp>
        <p:nvSpPr>
          <p:cNvPr id="406" name="Rectangle 406"/>
          <p:cNvSpPr/>
          <p:nvPr/>
        </p:nvSpPr>
        <p:spPr>
          <a:xfrm rot="0" flipH="0" flipV="0">
            <a:off x="899464" y="810593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407" name="Rectangle 407"/>
          <p:cNvSpPr/>
          <p:nvPr/>
        </p:nvSpPr>
        <p:spPr>
          <a:xfrm rot="0" flipH="0" flipV="0">
            <a:off x="446531" y="983235"/>
            <a:ext cx="6655300" cy="106288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1200" baseline="0" b="1" i="1" dirty="0" spc="0">
                <a:solidFill>
                  <a:srgbClr val="000000"/>
                </a:solidFill>
                <a:latin typeface="Calibri-BoldItalic" pitchFamily="0" charset="1"/>
              </a:rPr>
              <a:t>Art. 4.3 Precisazioni relative agli scoperti e franchigie per le spese di ricovero </a:t>
            </a:r>
          </a:p>
          <a:p>
            <a:pPr marL="0">
              <a:lnSpc>
                <a:spcPts val="1430"/>
              </a:lnSpc>
            </a:pPr>
            <a:r>
              <a:rPr lang="it-IT" sz="1200" baseline="0" b="1" i="1" dirty="0" spc="0">
                <a:solidFill>
                  <a:srgbClr val="C00000"/>
                </a:solidFill>
                <a:latin typeface="Cambria-BoldItalic" pitchFamily="0" charset="1"/>
              </a:rPr>
              <a:t>Ci sono limiti di copertura</a:t>
            </a:r>
            <a:r>
              <a:rPr lang="it-IT" sz="1200" baseline="0" b="1" i="1" dirty="0" spc="0">
                <a:solidFill>
                  <a:srgbClr val="000000"/>
                </a:solidFill>
                <a:latin typeface="Cambria-BoldItalic" pitchFamily="0" charset="1"/>
              </a:rPr>
              <a:t> </a:t>
            </a:r>
          </a:p>
          <a:p>
            <a:pPr marL="0">
              <a:lnSpc>
                <a:spcPts val="114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Il rimborso delle spese sanitarie di cui ai precedenti artt. 4.1 e 4.2 avviene per ciascun sinistro entro il massimale e previa </a:t>
            </a:r>
          </a:p>
          <a:p>
            <a:pPr marL="0">
              <a:lnSpc>
                <a:spcPts val="115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applicazione degli eventuali scoperti e franchigie indicati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all’art.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10 Tabella franchigie, scoperti, massimali e limiti di inden- </a:t>
            </a:r>
          </a:p>
          <a:p>
            <a:pPr marL="0">
              <a:lnSpc>
                <a:spcPts val="115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nizzo. </a:t>
            </a:r>
          </a:p>
          <a:p>
            <a:pPr marL="0">
              <a:lnSpc>
                <a:spcPts val="1151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Le spese relative a vitto, pernottamento e trasporto</a:t>
            </a:r>
            <a:r>
              <a:rPr lang="it-IT" sz="996" baseline="0" b="0" i="0" dirty="0" spc="347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sono riconosciute entro i limiti previsti nei precedenti artt. 4.1 e 4.2 </a:t>
            </a:r>
          </a:p>
          <a:p>
            <a:pPr marL="0">
              <a:lnSpc>
                <a:spcPts val="1140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senza applicazione di scoperti o franchigie. </a:t>
            </a:r>
          </a:p>
        </p:txBody>
      </p:sp>
      <p:sp>
        <p:nvSpPr>
          <p:cNvPr id="408" name="Rectangle 408"/>
          <p:cNvSpPr/>
          <p:nvPr/>
        </p:nvSpPr>
        <p:spPr>
          <a:xfrm rot="0" flipH="0" flipV="0">
            <a:off x="216408" y="2051383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409" name="Rectangle 409"/>
          <p:cNvSpPr/>
          <p:nvPr/>
        </p:nvSpPr>
        <p:spPr>
          <a:xfrm rot="0" flipH="0" flipV="0">
            <a:off x="446531" y="2223771"/>
            <a:ext cx="6638173" cy="625494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1200" baseline="0" b="1" i="1" dirty="0" spc="0">
                <a:solidFill>
                  <a:srgbClr val="000000"/>
                </a:solidFill>
                <a:latin typeface="Calibri-BoldItalic" pitchFamily="0" charset="1"/>
              </a:rPr>
              <a:t>Art. 4.4 Spese pre/post ricovero </a:t>
            </a:r>
          </a:p>
          <a:p>
            <a:pPr marL="0">
              <a:lnSpc>
                <a:spcPts val="1430"/>
              </a:lnSpc>
            </a:pPr>
            <a:r>
              <a:rPr lang="it-IT" sz="1200" baseline="0" b="1" i="1" dirty="0" spc="0">
                <a:solidFill>
                  <a:srgbClr val="C00000"/>
                </a:solidFill>
                <a:latin typeface="Cambria-BoldItalic" pitchFamily="0" charset="1"/>
              </a:rPr>
              <a:t>Ci sono limiti di copertura</a:t>
            </a:r>
            <a:r>
              <a:rPr lang="it-IT" sz="1200" baseline="0" b="1" i="1" dirty="0" spc="0">
                <a:solidFill>
                  <a:srgbClr val="000000"/>
                </a:solidFill>
                <a:latin typeface="Cambria-BoldItalic" pitchFamily="0" charset="1"/>
              </a:rPr>
              <a:t> </a:t>
            </a:r>
          </a:p>
          <a:p>
            <a:pPr marL="0">
              <a:lnSpc>
                <a:spcPts val="114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Le eventuali spese sanitarie precedenti e successive al ricovero o all’intervento elencate nei precedenti artt. 4.1 e 4.2, </a:t>
            </a:r>
          </a:p>
          <a:p>
            <a:pPr marL="0">
              <a:lnSpc>
                <a:spcPts val="115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sono riconosciute previa applicazione di uno scoperto del 15% che rimarrà a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carico dell’Assicurato.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410" name="Rectangle 410"/>
          <p:cNvSpPr/>
          <p:nvPr/>
        </p:nvSpPr>
        <p:spPr>
          <a:xfrm rot="0" flipH="0" flipV="0">
            <a:off x="216408" y="2853175"/>
            <a:ext cx="30080" cy="120646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852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411" name="Rectangle 411"/>
          <p:cNvSpPr/>
          <p:nvPr/>
        </p:nvSpPr>
        <p:spPr>
          <a:xfrm rot="0" flipH="0" flipV="0">
            <a:off x="216408" y="4026281"/>
            <a:ext cx="42367" cy="169924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1200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412" name="Rectangle 412"/>
          <p:cNvSpPr/>
          <p:nvPr/>
        </p:nvSpPr>
        <p:spPr>
          <a:xfrm rot="0" flipH="0" flipV="0">
            <a:off x="446531" y="4226688"/>
            <a:ext cx="6609460" cy="62574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1200" baseline="0" b="1" i="1" dirty="0" spc="0">
                <a:solidFill>
                  <a:srgbClr val="000000"/>
                </a:solidFill>
                <a:latin typeface="Calibri-BoldItalic" pitchFamily="0" charset="1"/>
              </a:rPr>
              <a:t>Art. 4.5 Indennità sostitutiva </a:t>
            </a:r>
          </a:p>
          <a:p>
            <a:pPr marL="0">
              <a:lnSpc>
                <a:spcPts val="1430"/>
              </a:lnSpc>
            </a:pPr>
            <a:r>
              <a:rPr lang="it-IT" sz="1200" baseline="0" b="1" i="1" dirty="0" spc="0">
                <a:solidFill>
                  <a:srgbClr val="C00000"/>
                </a:solidFill>
                <a:latin typeface="Cambria-BoldItalic" pitchFamily="0" charset="1"/>
              </a:rPr>
              <a:t>Che cosa è assicurato</a:t>
            </a:r>
            <a:r>
              <a:rPr lang="it-IT" sz="1200" baseline="0" b="1" i="1" dirty="0" spc="0">
                <a:solidFill>
                  <a:srgbClr val="000000"/>
                </a:solidFill>
                <a:latin typeface="Cambria-BoldItalic" pitchFamily="0" charset="1"/>
              </a:rPr>
              <a:t> </a:t>
            </a:r>
          </a:p>
          <a:p>
            <a:pPr marL="0">
              <a:lnSpc>
                <a:spcPts val="114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Qualora il ricovero o la degenza in regime di Day hospital avvenga in struttura pubblica o in struttura privata accreditata </a:t>
            </a:r>
          </a:p>
          <a:p>
            <a:pPr marL="0">
              <a:lnSpc>
                <a:spcPts val="1154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con spese a totale carico del SSN - esclusi eventuali ticket - Generali Italia riconosce una indennità sostitutiva: </a:t>
            </a:r>
          </a:p>
        </p:txBody>
      </p:sp>
      <p:sp>
        <p:nvSpPr>
          <p:cNvPr id="413" name="Rectangle 413"/>
          <p:cNvSpPr/>
          <p:nvPr/>
        </p:nvSpPr>
        <p:spPr>
          <a:xfrm rot="0" flipH="0" flipV="0">
            <a:off x="216408" y="4856178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414" name="Rectangle 414"/>
          <p:cNvSpPr/>
          <p:nvPr/>
        </p:nvSpPr>
        <p:spPr>
          <a:xfrm rot="0" flipH="0" flipV="0">
            <a:off x="673608" y="5002482"/>
            <a:ext cx="3321543" cy="28734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>
              <a:tabLst>
                <a:tab pos="225856" algn="l"/>
              </a:tabLst>
            </a:pPr>
            <a:r>
              <a:rPr lang="it-IT" sz="996" baseline="0" b="0" i="0" dirty="0" spc="-8">
                <a:solidFill>
                  <a:srgbClr val="000000"/>
                </a:solidFill>
                <a:latin typeface="Arial" pitchFamily="0" charset="1"/>
              </a:rPr>
              <a:t>-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	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integralmente per ogni pernottamento in istituto di cura; </a:t>
            </a:r>
          </a:p>
          <a:p>
            <a:pPr marL="0">
              <a:lnSpc>
                <a:spcPts val="1151"/>
              </a:lnSpc>
              <a:tabLst>
                <a:tab pos="225856" algn="l"/>
              </a:tabLst>
            </a:pPr>
            <a:r>
              <a:rPr lang="it-IT" sz="996" baseline="0" b="0" i="0" dirty="0" spc="-8">
                <a:solidFill>
                  <a:srgbClr val="000000"/>
                </a:solidFill>
                <a:latin typeface="Arial" pitchFamily="0" charset="1"/>
              </a:rPr>
              <a:t>-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	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al 50 % nel caso di Day Hospital. </a:t>
            </a:r>
          </a:p>
        </p:txBody>
      </p:sp>
      <p:sp>
        <p:nvSpPr>
          <p:cNvPr id="415" name="Rectangle 415"/>
          <p:cNvSpPr/>
          <p:nvPr/>
        </p:nvSpPr>
        <p:spPr>
          <a:xfrm rot="0" flipH="0" flipV="0">
            <a:off x="216408" y="5295090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416" name="Rectangle 416"/>
          <p:cNvSpPr/>
          <p:nvPr/>
        </p:nvSpPr>
        <p:spPr>
          <a:xfrm rot="0" flipH="0" flipV="0">
            <a:off x="446531" y="5441394"/>
            <a:ext cx="6790802" cy="28734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Le eventuali spese collegate all’intervento elencate agli artt. 4.1 e 4.2</a:t>
            </a:r>
            <a:r>
              <a:rPr lang="it-IT" sz="996" baseline="0" b="0" i="0" dirty="0" spc="115">
                <a:solidFill>
                  <a:srgbClr val="000000"/>
                </a:solidFill>
                <a:latin typeface="ArialMT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sono comunque oggetto di rimborso da parte di </a:t>
            </a:r>
          </a:p>
          <a:p>
            <a:pPr marL="0">
              <a:lnSpc>
                <a:spcPts val="1151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Generali Italia in base a quanto indicato agli art. 4.3 e 4.4. </a:t>
            </a:r>
          </a:p>
        </p:txBody>
      </p:sp>
      <p:sp>
        <p:nvSpPr>
          <p:cNvPr id="417" name="Rectangle 417"/>
          <p:cNvSpPr/>
          <p:nvPr/>
        </p:nvSpPr>
        <p:spPr>
          <a:xfrm rot="0" flipH="0" flipV="0">
            <a:off x="216408" y="5732478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418" name="Rectangle 418"/>
          <p:cNvSpPr/>
          <p:nvPr/>
        </p:nvSpPr>
        <p:spPr>
          <a:xfrm rot="0" flipH="0" flipV="0">
            <a:off x="446531" y="5873776"/>
            <a:ext cx="6790595" cy="45694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1103" baseline="0" b="1" i="1" dirty="0" spc="0">
                <a:solidFill>
                  <a:srgbClr val="C00000"/>
                </a:solidFill>
                <a:latin typeface="Cambria-BoldItalic" pitchFamily="0" charset="1"/>
              </a:rPr>
              <a:t>Ci sono limiti di copertura</a:t>
            </a:r>
            <a:r>
              <a:rPr lang="it-IT" sz="1103" baseline="0" b="1" i="1" dirty="0" spc="0">
                <a:solidFill>
                  <a:srgbClr val="000000"/>
                </a:solidFill>
                <a:latin typeface="Cambria-BoldItalic" pitchFamily="0" charset="1"/>
              </a:rPr>
              <a:t> </a:t>
            </a:r>
          </a:p>
          <a:p>
            <a:pPr marL="0">
              <a:lnSpc>
                <a:spcPts val="115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Nell’art.</a:t>
            </a:r>
            <a:r>
              <a:rPr lang="it-IT" sz="996" baseline="0" b="0" i="0" dirty="0" spc="167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10</a:t>
            </a:r>
            <a:r>
              <a:rPr lang="it-IT" sz="996" baseline="0" b="0" i="0" dirty="0" spc="143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Tabella</a:t>
            </a:r>
            <a:r>
              <a:rPr lang="it-IT" sz="996" baseline="0" b="0" i="0" dirty="0" spc="143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franchigie, scoperti,</a:t>
            </a:r>
            <a:r>
              <a:rPr lang="it-IT" sz="996" baseline="0" b="0" i="0" dirty="0" spc="155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massimali e</a:t>
            </a:r>
            <a:r>
              <a:rPr lang="it-IT" sz="996" baseline="0" b="0" i="0" dirty="0" spc="155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limiti di</a:t>
            </a:r>
            <a:r>
              <a:rPr lang="it-IT" sz="996" baseline="0" b="0" i="0" dirty="0" spc="143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indennizzo</a:t>
            </a:r>
            <a:r>
              <a:rPr lang="it-IT" sz="996" baseline="0" b="0" i="0" dirty="0" spc="143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sono</a:t>
            </a:r>
            <a:r>
              <a:rPr lang="it-IT" sz="996" baseline="0" b="0" i="0" dirty="0" spc="167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indicati l’importo</a:t>
            </a:r>
            <a:r>
              <a:rPr lang="it-IT" sz="996" baseline="0" b="0" i="0" dirty="0" spc="143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giornaliero</a:t>
            </a:r>
            <a:r>
              <a:rPr lang="it-IT" sz="996" baseline="0" b="0" i="0" dirty="0" spc="167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e</a:t>
            </a:r>
            <a:r>
              <a:rPr lang="it-IT" sz="996" baseline="0" b="0" i="0" dirty="0" spc="143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il</a:t>
            </a:r>
            <a:r>
              <a:rPr lang="it-IT" sz="996" baseline="0" b="0" i="0" dirty="0" spc="143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numero </a:t>
            </a:r>
          </a:p>
          <a:p>
            <a:pPr marL="0">
              <a:lnSpc>
                <a:spcPts val="1151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massimo di giorni per annualità assicurativa per cui l’indennità viene corrisposta.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419" name="Rectangle 419"/>
          <p:cNvSpPr/>
          <p:nvPr/>
        </p:nvSpPr>
        <p:spPr>
          <a:xfrm rot="0" flipH="0" flipV="0">
            <a:off x="446531" y="7825311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420" name="Rectangle 420"/>
          <p:cNvSpPr/>
          <p:nvPr/>
        </p:nvSpPr>
        <p:spPr>
          <a:xfrm rot="0" flipH="0" flipV="0">
            <a:off x="216408" y="7997699"/>
            <a:ext cx="34442" cy="15240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1200" baseline="0" b="1" i="1" dirty="0" spc="0">
                <a:solidFill>
                  <a:srgbClr val="000000"/>
                </a:solidFill>
                <a:latin typeface="Calibri-BoldItalic" pitchFamily="0" charset="1"/>
              </a:rPr>
              <a:t> </a:t>
            </a:r>
          </a:p>
        </p:txBody>
      </p:sp>
      <p:sp>
        <p:nvSpPr>
          <p:cNvPr id="421" name="Rectangle 421"/>
          <p:cNvSpPr/>
          <p:nvPr/>
        </p:nvSpPr>
        <p:spPr>
          <a:xfrm rot="0" flipH="0" flipV="0">
            <a:off x="359663" y="8183627"/>
            <a:ext cx="6651923" cy="91835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36576"/>
            <a:r>
              <a:rPr lang="it-IT" sz="1200" baseline="0" b="1" i="1" dirty="0" spc="0">
                <a:solidFill>
                  <a:srgbClr val="000000"/>
                </a:solidFill>
                <a:latin typeface="Calibri-BoldItalic" pitchFamily="0" charset="1"/>
              </a:rPr>
              <a:t>Art. 4.6 Anticipo </a:t>
            </a:r>
          </a:p>
          <a:p>
            <a:pPr marL="0">
              <a:lnSpc>
                <a:spcPts val="1430"/>
              </a:lnSpc>
            </a:pPr>
            <a:r>
              <a:rPr lang="it-IT" sz="1200" baseline="0" b="1" i="1" dirty="0" spc="0">
                <a:solidFill>
                  <a:srgbClr val="C00000"/>
                </a:solidFill>
                <a:latin typeface="Cambria-BoldItalic" pitchFamily="0" charset="1"/>
              </a:rPr>
              <a:t>Che cosa è assicurato</a:t>
            </a:r>
            <a:r>
              <a:rPr lang="it-IT" sz="1200" baseline="0" b="1" i="1" dirty="0" spc="0">
                <a:solidFill>
                  <a:srgbClr val="000000"/>
                </a:solidFill>
                <a:latin typeface="Cambria-BoldItalic" pitchFamily="0" charset="1"/>
              </a:rPr>
              <a:t> </a:t>
            </a:r>
          </a:p>
          <a:p>
            <a:pPr marL="0">
              <a:lnSpc>
                <a:spcPts val="114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Nei casi di ricovero per il quale l’istituto di cura richieda il pagamento anticipato di una somma quale deposito, è facoltà </a:t>
            </a:r>
          </a:p>
          <a:p>
            <a:pPr marL="0">
              <a:lnSpc>
                <a:spcPts val="1153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dell’Assicurato domandare anticipatamente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-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entro il limite dell’80% della somma assicurata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-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il rimborso dell’importo </a:t>
            </a:r>
          </a:p>
          <a:p>
            <a:pPr marL="0">
              <a:lnSpc>
                <a:spcPts val="115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effettivamente versato a tale titolo, salvo conguaglio a cure ultimate. </a:t>
            </a:r>
          </a:p>
          <a:p>
            <a:pPr marL="0">
              <a:lnSpc>
                <a:spcPts val="115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L’anticipo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avverrà a condizione che: </a:t>
            </a:r>
          </a:p>
        </p:txBody>
      </p:sp>
      <p:sp>
        <p:nvSpPr>
          <p:cNvPr id="422" name="Rectangle 422"/>
          <p:cNvSpPr/>
          <p:nvPr/>
        </p:nvSpPr>
        <p:spPr>
          <a:xfrm rot="0" flipH="0" flipV="0">
            <a:off x="216408" y="9107249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423" name="Rectangle 423"/>
          <p:cNvSpPr/>
          <p:nvPr/>
        </p:nvSpPr>
        <p:spPr>
          <a:xfrm rot="0" flipH="0" flipV="0">
            <a:off x="586740" y="9253553"/>
            <a:ext cx="6423518" cy="578426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>
              <a:tabLst>
                <a:tab pos="225551" algn="l"/>
              </a:tabLst>
            </a:pPr>
            <a:r>
              <a:rPr lang="it-IT" sz="996" baseline="0" b="0" i="0" dirty="0" spc="-8">
                <a:solidFill>
                  <a:srgbClr val="000000"/>
                </a:solidFill>
                <a:latin typeface="Arial" pitchFamily="0" charset="1"/>
              </a:rPr>
              <a:t>-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	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non sorgano contestazioni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sull’indennizzabilità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a termini di contratto delle spese di ricovero; </a:t>
            </a:r>
          </a:p>
          <a:p>
            <a:pPr marL="0">
              <a:lnSpc>
                <a:spcPts val="1139"/>
              </a:lnSpc>
              <a:tabLst>
                <a:tab pos="225551" algn="l"/>
              </a:tabLst>
            </a:pPr>
            <a:r>
              <a:rPr lang="it-IT" sz="996" baseline="0" b="0" i="0" dirty="0" spc="-8">
                <a:solidFill>
                  <a:srgbClr val="000000"/>
                </a:solidFill>
                <a:latin typeface="Arial" pitchFamily="0" charset="1"/>
              </a:rPr>
              <a:t>-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	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sia</a:t>
            </a:r>
            <a:r>
              <a:rPr lang="it-IT" sz="996" baseline="0" b="0" i="0" dirty="0" spc="155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presentata</a:t>
            </a:r>
            <a:r>
              <a:rPr lang="it-IT" sz="996" baseline="0" b="0" i="0" dirty="0" spc="179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la</a:t>
            </a:r>
            <a:r>
              <a:rPr lang="it-IT" sz="996" baseline="0" b="0" i="0" dirty="0" spc="179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certificazione</a:t>
            </a:r>
            <a:r>
              <a:rPr lang="it-IT" sz="996" baseline="0" b="0" i="0" dirty="0" spc="179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dell’istituto</a:t>
            </a:r>
            <a:r>
              <a:rPr lang="it-IT" sz="996" baseline="0" b="0" i="0" dirty="0" spc="179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di</a:t>
            </a:r>
            <a:r>
              <a:rPr lang="it-IT" sz="996" baseline="0" b="0" i="0" dirty="0" spc="143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cura</a:t>
            </a:r>
            <a:r>
              <a:rPr lang="it-IT" sz="996" baseline="0" b="0" i="0" dirty="0" spc="155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che</a:t>
            </a:r>
            <a:r>
              <a:rPr lang="it-IT" sz="996" baseline="0" b="0" i="0" dirty="0" spc="203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attesti</a:t>
            </a:r>
            <a:r>
              <a:rPr lang="it-IT" sz="996" baseline="0" b="0" i="0" dirty="0" spc="179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l’avvenuta</a:t>
            </a:r>
            <a:r>
              <a:rPr lang="it-IT" sz="996" baseline="0" b="0" i="0" dirty="0" spc="155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richiesta</a:t>
            </a:r>
            <a:r>
              <a:rPr lang="it-IT" sz="996" baseline="0" b="0" i="0" dirty="0" spc="179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del</a:t>
            </a:r>
            <a:r>
              <a:rPr lang="it-IT" sz="996" baseline="0" b="0" i="0" dirty="0" spc="179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deposito,</a:t>
            </a:r>
            <a:r>
              <a:rPr lang="it-IT" sz="996" baseline="0" b="0" i="0" dirty="0" spc="179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il</a:t>
            </a:r>
            <a:r>
              <a:rPr lang="it-IT" sz="996" baseline="0" b="0" i="0" dirty="0" spc="179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presunto </a:t>
            </a:r>
          </a:p>
          <a:p>
            <a:pPr marL="225551">
              <a:lnSpc>
                <a:spcPts val="115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ammon- tare delle spese sanitarie, la descrizione della patologia che rende necessario il ricovero o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l’intervento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  <a:p>
            <a:pPr marL="225551">
              <a:lnSpc>
                <a:spcPts val="1151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chirurgico, la data prevista per il ricovero. </a:t>
            </a:r>
          </a:p>
        </p:txBody>
      </p:sp>
      <p:sp>
        <p:nvSpPr>
          <p:cNvPr id="424" name="Rectangle 424"/>
          <p:cNvSpPr/>
          <p:nvPr/>
        </p:nvSpPr>
        <p:spPr>
          <a:xfrm rot="0" flipH="0" flipV="0">
            <a:off x="446531" y="3126185"/>
            <a:ext cx="6726794" cy="87408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243840"/>
            <a:r>
              <a:rPr lang="it-IT" sz="996" baseline="0" b="0" i="1" dirty="0" spc="0">
                <a:solidFill>
                  <a:srgbClr val="000000"/>
                </a:solidFill>
                <a:latin typeface="Arial" pitchFamily="0" charset="1"/>
              </a:rPr>
              <a:t>Come si calcola </a:t>
            </a:r>
            <a:r>
              <a:rPr lang="it-IT" sz="996" baseline="0" b="0" i="1" dirty="0" spc="0">
                <a:solidFill>
                  <a:srgbClr val="000000"/>
                </a:solidFill>
                <a:latin typeface="Arial" pitchFamily="0" charset="1"/>
              </a:rPr>
              <a:t>l’indennizzo?</a:t>
            </a:r>
            <a:r>
              <a:rPr lang="it-IT" sz="996" baseline="0" b="0" i="1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  <a:p>
            <a:pPr marL="0">
              <a:lnSpc>
                <a:spcPts val="1165"/>
              </a:lnSpc>
            </a:pPr>
            <a:r>
              <a:rPr lang="it-IT" sz="996" baseline="0" b="0" i="1" dirty="0" spc="0" u="sng">
                <a:solidFill>
                  <a:srgbClr val="000000"/>
                </a:solidFill>
                <a:latin typeface="Arial" pitchFamily="0" charset="1"/>
              </a:rPr>
              <a:t>Esempio</a:t>
            </a:r>
            <a:r>
              <a:rPr lang="it-IT" sz="996" baseline="0" b="0" i="0" dirty="0" spc="0" u="sng">
                <a:solidFill>
                  <a:srgbClr val="000000"/>
                </a:solidFill>
                <a:latin typeface="Arial" pitchFamily="0" charset="1"/>
              </a:rPr>
              <a:t>: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ricovero chirurgico di 3 giorni, speso € 2.000, applicazione di scoperto del 10% col minimo di € 500. Presta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- </a:t>
            </a:r>
          </a:p>
          <a:p>
            <a:pPr marL="0">
              <a:lnSpc>
                <a:spcPts val="115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zioni pre/post ricovero speso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€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200, applicazione di scoperto del 15%.</a:t>
            </a:r>
            <a:r>
              <a:rPr lang="it-IT" sz="996" baseline="0" b="0" i="0" dirty="0" spc="203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Accompagnatore speso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€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300, riconoscimento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€ </a:t>
            </a:r>
          </a:p>
          <a:p>
            <a:pPr marL="0">
              <a:lnSpc>
                <a:spcPts val="1140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60 al dì. </a:t>
            </a:r>
            <a:r>
              <a:rPr lang="it-IT" sz="996" baseline="0" b="0" i="1" dirty="0" spc="0">
                <a:solidFill>
                  <a:srgbClr val="000000"/>
                </a:solidFill>
                <a:latin typeface="Arial" pitchFamily="0" charset="1"/>
              </a:rPr>
              <a:t>Totale speso dall’Assicurato € 2.500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. </a:t>
            </a:r>
          </a:p>
          <a:p>
            <a:pPr marL="0">
              <a:lnSpc>
                <a:spcPts val="1151"/>
              </a:lnSpc>
            </a:pPr>
            <a:r>
              <a:rPr lang="it-IT" sz="996" baseline="0" b="0" i="1" dirty="0" spc="0">
                <a:solidFill>
                  <a:srgbClr val="000000"/>
                </a:solidFill>
                <a:latin typeface="Arial" pitchFamily="0" charset="1"/>
              </a:rPr>
              <a:t>Totale riconosciuto </a:t>
            </a:r>
            <a:r>
              <a:rPr lang="it-IT" sz="996" baseline="0" b="0" i="1" dirty="0" spc="0">
                <a:solidFill>
                  <a:srgbClr val="000000"/>
                </a:solidFill>
                <a:latin typeface="Arial" pitchFamily="0" charset="1"/>
              </a:rPr>
              <a:t>all’Assicurato</a:t>
            </a:r>
            <a:r>
              <a:rPr lang="it-IT" sz="996" baseline="0" b="0" i="1" dirty="0" spc="0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1" dirty="0" spc="0">
                <a:solidFill>
                  <a:srgbClr val="000000"/>
                </a:solidFill>
                <a:latin typeface="Arial" pitchFamily="0" charset="1"/>
              </a:rPr>
              <a:t>€</a:t>
            </a:r>
            <a:r>
              <a:rPr lang="it-IT" sz="996" baseline="0" b="0" i="1" dirty="0" spc="0">
                <a:solidFill>
                  <a:srgbClr val="000000"/>
                </a:solidFill>
                <a:latin typeface="Arial" pitchFamily="0" charset="1"/>
              </a:rPr>
              <a:t> 1.850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: ricovero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€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1500 (il 10% di 2.000= 200 e quindi verrà applicato il minimo previ- </a:t>
            </a:r>
          </a:p>
          <a:p>
            <a:pPr marL="0">
              <a:lnSpc>
                <a:spcPts val="1164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sto di 500); pre/post ricovero € 170 (15% di 200=30); accompagnatore € 180 (60 x3)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425" name="Rectangle 425"/>
          <p:cNvSpPr/>
          <p:nvPr/>
        </p:nvSpPr>
        <p:spPr>
          <a:xfrm rot="0" flipH="0" flipV="0">
            <a:off x="534923" y="6604587"/>
            <a:ext cx="1661526" cy="140785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1" dirty="0" spc="0">
                <a:solidFill>
                  <a:srgbClr val="000000"/>
                </a:solidFill>
                <a:latin typeface="Arial" pitchFamily="0" charset="1"/>
              </a:rPr>
              <a:t>Come si calcola </a:t>
            </a:r>
            <a:r>
              <a:rPr lang="it-IT" sz="996" baseline="0" b="0" i="1" dirty="0" spc="0">
                <a:solidFill>
                  <a:srgbClr val="000000"/>
                </a:solidFill>
                <a:latin typeface="Arial" pitchFamily="0" charset="1"/>
              </a:rPr>
              <a:t>l’indennizzo?</a:t>
            </a:r>
            <a:r>
              <a:rPr lang="it-IT" sz="996" baseline="0" b="0" i="1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426" name="Rectangle 426"/>
          <p:cNvSpPr/>
          <p:nvPr/>
        </p:nvSpPr>
        <p:spPr>
          <a:xfrm rot="0" flipH="0" flipV="0">
            <a:off x="222504" y="6750891"/>
            <a:ext cx="35164" cy="140785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1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427" name="Rectangle 427"/>
          <p:cNvSpPr/>
          <p:nvPr/>
        </p:nvSpPr>
        <p:spPr>
          <a:xfrm rot="0" flipH="0" flipV="0">
            <a:off x="291084" y="6897195"/>
            <a:ext cx="6732351" cy="72600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1" dirty="0" spc="0">
                <a:solidFill>
                  <a:srgbClr val="000000"/>
                </a:solidFill>
                <a:latin typeface="Arial" pitchFamily="0" charset="1"/>
              </a:rPr>
              <a:t>Esempio: ricovero chirurgico di 3 giorni in struttura del S.S.N, diaria sostitutiva </a:t>
            </a:r>
            <a:r>
              <a:rPr lang="it-IT" sz="996" baseline="0" b="0" i="1" dirty="0" spc="0">
                <a:solidFill>
                  <a:srgbClr val="000000"/>
                </a:solidFill>
                <a:latin typeface="Arial" pitchFamily="0" charset="1"/>
              </a:rPr>
              <a:t>€</a:t>
            </a:r>
            <a:r>
              <a:rPr lang="it-IT" sz="996" baseline="0" b="0" i="1" dirty="0" spc="0">
                <a:solidFill>
                  <a:srgbClr val="000000"/>
                </a:solidFill>
                <a:latin typeface="Arial" pitchFamily="0" charset="1"/>
              </a:rPr>
              <a:t> 100 al dì. Prestazioni pre/post ricovero </a:t>
            </a:r>
          </a:p>
          <a:p>
            <a:pPr marL="0">
              <a:lnSpc>
                <a:spcPts val="1164"/>
              </a:lnSpc>
            </a:pPr>
            <a:r>
              <a:rPr lang="it-IT" sz="996" baseline="0" b="0" i="1" dirty="0" spc="0">
                <a:solidFill>
                  <a:srgbClr val="000000"/>
                </a:solidFill>
                <a:latin typeface="Arial" pitchFamily="0" charset="1"/>
              </a:rPr>
              <a:t>speso </a:t>
            </a:r>
            <a:r>
              <a:rPr lang="it-IT" sz="996" baseline="0" b="0" i="1" dirty="0" spc="0">
                <a:solidFill>
                  <a:srgbClr val="000000"/>
                </a:solidFill>
                <a:latin typeface="Arial" pitchFamily="0" charset="1"/>
              </a:rPr>
              <a:t>€</a:t>
            </a:r>
            <a:r>
              <a:rPr lang="it-IT" sz="996" baseline="0" b="0" i="1" dirty="0" spc="0">
                <a:solidFill>
                  <a:srgbClr val="000000"/>
                </a:solidFill>
                <a:latin typeface="Arial" pitchFamily="0" charset="1"/>
              </a:rPr>
              <a:t> 200, applicazione di scoperto del 15%.</a:t>
            </a:r>
            <a:r>
              <a:rPr lang="it-IT" sz="996" baseline="0" b="0" i="1" dirty="0" spc="239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1" dirty="0" spc="0">
                <a:solidFill>
                  <a:srgbClr val="000000"/>
                </a:solidFill>
                <a:latin typeface="Arial" pitchFamily="0" charset="1"/>
              </a:rPr>
              <a:t>Accompagnatore speso </a:t>
            </a:r>
            <a:r>
              <a:rPr lang="it-IT" sz="996" baseline="0" b="0" i="1" dirty="0" spc="0">
                <a:solidFill>
                  <a:srgbClr val="000000"/>
                </a:solidFill>
                <a:latin typeface="Arial" pitchFamily="0" charset="1"/>
              </a:rPr>
              <a:t>€</a:t>
            </a:r>
            <a:r>
              <a:rPr lang="it-IT" sz="996" baseline="0" b="0" i="1" dirty="0" spc="0">
                <a:solidFill>
                  <a:srgbClr val="000000"/>
                </a:solidFill>
                <a:latin typeface="Arial" pitchFamily="0" charset="1"/>
              </a:rPr>
              <a:t> 300, riconoscimento </a:t>
            </a:r>
            <a:r>
              <a:rPr lang="it-IT" sz="996" baseline="0" b="0" i="1" dirty="0" spc="0">
                <a:solidFill>
                  <a:srgbClr val="000000"/>
                </a:solidFill>
                <a:latin typeface="Arial" pitchFamily="0" charset="1"/>
              </a:rPr>
              <a:t>€</a:t>
            </a:r>
            <a:r>
              <a:rPr lang="it-IT" sz="996" baseline="0" b="0" i="1" dirty="0" spc="0">
                <a:solidFill>
                  <a:srgbClr val="000000"/>
                </a:solidFill>
                <a:latin typeface="Arial" pitchFamily="0" charset="1"/>
              </a:rPr>
              <a:t> 60 al dì. Totale speso </a:t>
            </a:r>
          </a:p>
          <a:p>
            <a:pPr marL="0">
              <a:lnSpc>
                <a:spcPts val="1139"/>
              </a:lnSpc>
            </a:pPr>
            <a:r>
              <a:rPr lang="it-IT" sz="996" baseline="0" b="0" i="1" dirty="0" spc="0">
                <a:solidFill>
                  <a:srgbClr val="000000"/>
                </a:solidFill>
                <a:latin typeface="Arial" pitchFamily="0" charset="1"/>
              </a:rPr>
              <a:t>dall’Assicurato € 500.</a:t>
            </a:r>
            <a:r>
              <a:rPr lang="it-IT" sz="996" baseline="0" b="0" i="1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  <a:p>
            <a:pPr marL="0">
              <a:lnSpc>
                <a:spcPts val="1152"/>
              </a:lnSpc>
            </a:pPr>
            <a:r>
              <a:rPr lang="it-IT" sz="996" baseline="0" b="0" i="1" dirty="0" spc="0">
                <a:solidFill>
                  <a:srgbClr val="000000"/>
                </a:solidFill>
                <a:latin typeface="Arial" pitchFamily="0" charset="1"/>
              </a:rPr>
              <a:t>Totale riconosciuto </a:t>
            </a:r>
            <a:r>
              <a:rPr lang="it-IT" sz="996" baseline="0" b="0" i="1" dirty="0" spc="0">
                <a:solidFill>
                  <a:srgbClr val="000000"/>
                </a:solidFill>
                <a:latin typeface="Arial" pitchFamily="0" charset="1"/>
              </a:rPr>
              <a:t>all’Assicurato</a:t>
            </a:r>
            <a:r>
              <a:rPr lang="it-IT" sz="996" baseline="0" b="0" i="1" dirty="0" spc="0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1" dirty="0" spc="0">
                <a:solidFill>
                  <a:srgbClr val="000000"/>
                </a:solidFill>
                <a:latin typeface="Arial" pitchFamily="0" charset="1"/>
              </a:rPr>
              <a:t>€</a:t>
            </a:r>
            <a:r>
              <a:rPr lang="it-IT" sz="996" baseline="0" b="0" i="1" dirty="0" spc="0">
                <a:solidFill>
                  <a:srgbClr val="000000"/>
                </a:solidFill>
                <a:latin typeface="Arial" pitchFamily="0" charset="1"/>
              </a:rPr>
              <a:t> 650: </a:t>
            </a:r>
            <a:r>
              <a:rPr lang="it-IT" sz="996" baseline="0" b="0" i="1" dirty="0" spc="0">
                <a:solidFill>
                  <a:srgbClr val="000000"/>
                </a:solidFill>
                <a:latin typeface="Arial" pitchFamily="0" charset="1"/>
              </a:rPr>
              <a:t>ricovero €300</a:t>
            </a:r>
            <a:r>
              <a:rPr lang="it-IT" sz="996" baseline="0" b="0" i="1" dirty="0" spc="0">
                <a:solidFill>
                  <a:srgbClr val="000000"/>
                </a:solidFill>
                <a:latin typeface="Arial" pitchFamily="0" charset="1"/>
              </a:rPr>
              <a:t> (100x3gg di ricovero); pre/post ricovero </a:t>
            </a:r>
            <a:r>
              <a:rPr lang="it-IT" sz="996" baseline="0" b="0" i="1" dirty="0" spc="0">
                <a:solidFill>
                  <a:srgbClr val="000000"/>
                </a:solidFill>
                <a:latin typeface="Arial" pitchFamily="0" charset="1"/>
              </a:rPr>
              <a:t>€</a:t>
            </a:r>
            <a:r>
              <a:rPr lang="it-IT" sz="996" baseline="0" b="0" i="1" dirty="0" spc="0">
                <a:solidFill>
                  <a:srgbClr val="000000"/>
                </a:solidFill>
                <a:latin typeface="Arial" pitchFamily="0" charset="1"/>
              </a:rPr>
              <a:t> 170 (15% di 200=30); </a:t>
            </a:r>
          </a:p>
          <a:p>
            <a:pPr marL="0">
              <a:lnSpc>
                <a:spcPts val="1152"/>
              </a:lnSpc>
            </a:pPr>
            <a:r>
              <a:rPr lang="it-IT" sz="996" baseline="0" b="0" i="1" dirty="0" spc="0">
                <a:solidFill>
                  <a:srgbClr val="000000"/>
                </a:solidFill>
                <a:latin typeface="Arial" pitchFamily="0" charset="1"/>
              </a:rPr>
              <a:t>accompagnatore € 180 (60 x3)</a:t>
            </a:r>
            <a:r>
              <a:rPr lang="it-IT" sz="996" baseline="0" b="0" i="1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/>
      </p:grpSpPr>
      <p:pic>
        <p:nvPicPr>
          <p:cNvPr id="428" name="Picture 428"/>
          <p:cNvPicPr>
            <a:picLocks noChangeAspect="0" noChangeArrowheads="1"/>
          </p:cNvPicPr>
          <p:nvPr/>
        </p:nvPicPr>
        <p:blipFill>
          <a:blip r:embed="rId4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 flipH="0" flipV="0">
            <a:off x="449948" y="6145404"/>
            <a:ext cx="279374" cy="251459"/>
          </a:xfrm>
          <a:prstGeom prst="rect">
            <a:avLst/>
          </a:prstGeom>
          <a:noFill/>
          <a:extLst/>
        </p:spPr>
      </p:pic>
      <p:sp>
        <p:nvSpPr>
          <p:cNvPr id="429" name="Freeform 429"/>
          <p:cNvSpPr/>
          <p:nvPr/>
        </p:nvSpPr>
        <p:spPr>
          <a:xfrm rot="0" flipH="0" flipV="0">
            <a:off x="377697" y="6130037"/>
            <a:ext cx="6715760" cy="457200"/>
          </a:xfrm>
          <a:custGeom>
            <a:pathLst>
              <a:path w="6715760" h="457200">
                <a:moveTo>
                  <a:pt x="0" y="457200"/>
                </a:moveTo>
                <a:lnTo>
                  <a:pt x="6715760" y="457200"/>
                </a:lnTo>
                <a:lnTo>
                  <a:pt x="6715760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noFill/>
          <a:ln w="6094" cap="flat" cmpd="sng">
            <a:solidFill>
              <a:srgbClr val="000000">
                <a:alpha val="10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430" name="Picture 430"/>
          <p:cNvPicPr>
            <a:picLocks noChangeAspect="0" noChangeArrowheads="1"/>
          </p:cNvPicPr>
          <p:nvPr/>
        </p:nvPicPr>
        <p:blipFill>
          <a:blip r:embed="rId4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 flipH="0" flipV="0">
            <a:off x="381000" y="6134101"/>
            <a:ext cx="6710171" cy="449580"/>
          </a:xfrm>
          <a:prstGeom prst="rect">
            <a:avLst/>
          </a:prstGeom>
          <a:noFill/>
          <a:extLst/>
        </p:spPr>
      </p:pic>
      <p:pic>
        <p:nvPicPr>
          <p:cNvPr id="431" name="Picture 428"/>
          <p:cNvPicPr>
            <a:picLocks noChangeAspect="0" noChangeArrowheads="1"/>
          </p:cNvPicPr>
          <p:nvPr/>
        </p:nvPicPr>
        <p:blipFill>
          <a:blip r:embed="rId4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 flipH="0" flipV="0">
            <a:off x="535800" y="9250820"/>
            <a:ext cx="279374" cy="251117"/>
          </a:xfrm>
          <a:prstGeom prst="rect">
            <a:avLst/>
          </a:prstGeom>
          <a:noFill/>
          <a:extLst/>
        </p:spPr>
      </p:pic>
      <p:sp>
        <p:nvSpPr>
          <p:cNvPr id="432" name="Freeform 432"/>
          <p:cNvSpPr/>
          <p:nvPr/>
        </p:nvSpPr>
        <p:spPr>
          <a:xfrm rot="0" flipH="0" flipV="0">
            <a:off x="464693" y="9234844"/>
            <a:ext cx="6715759" cy="457212"/>
          </a:xfrm>
          <a:custGeom>
            <a:pathLst>
              <a:path w="6715759" h="457212">
                <a:moveTo>
                  <a:pt x="0" y="457212"/>
                </a:moveTo>
                <a:lnTo>
                  <a:pt x="6715759" y="457212"/>
                </a:lnTo>
                <a:lnTo>
                  <a:pt x="6715759" y="0"/>
                </a:lnTo>
                <a:lnTo>
                  <a:pt x="0" y="0"/>
                </a:lnTo>
                <a:lnTo>
                  <a:pt x="0" y="457212"/>
                </a:lnTo>
                <a:close/>
              </a:path>
            </a:pathLst>
          </a:custGeom>
          <a:noFill/>
          <a:ln w="6094" cap="flat" cmpd="sng">
            <a:solidFill>
              <a:srgbClr val="000000">
                <a:alpha val="10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433" name="Picture 433"/>
          <p:cNvPicPr>
            <a:picLocks noChangeAspect="0" noChangeArrowheads="1"/>
          </p:cNvPicPr>
          <p:nvPr/>
        </p:nvPicPr>
        <p:blipFill>
          <a:blip r:embed="rId4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 flipH="0" flipV="0">
            <a:off x="467868" y="9238489"/>
            <a:ext cx="6710171" cy="451104"/>
          </a:xfrm>
          <a:prstGeom prst="rect">
            <a:avLst/>
          </a:prstGeom>
          <a:noFill/>
          <a:extLst/>
        </p:spPr>
      </p:pic>
      <p:sp>
        <p:nvSpPr>
          <p:cNvPr id="434" name="Rectangle 434"/>
          <p:cNvSpPr/>
          <p:nvPr/>
        </p:nvSpPr>
        <p:spPr>
          <a:xfrm rot="0" flipH="0" flipV="0">
            <a:off x="216408" y="9969041"/>
            <a:ext cx="6881559" cy="158594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>
              <a:tabLst>
                <a:tab pos="143255" algn="l"/>
                <a:tab pos="2844419" algn="l"/>
                <a:tab pos="5645784" algn="l"/>
              </a:tabLst>
            </a:pPr>
            <a:r>
              <a:rPr lang="it-IT" sz="1509" baseline="-31325" b="0" i="0" dirty="0" spc="0">
                <a:solidFill>
                  <a:srgbClr val="000000"/>
                </a:solidFill>
                <a:latin typeface="Arial" pitchFamily="0" charset="1"/>
              </a:rPr>
              <a:t> 	</a:t>
            </a:r>
            <a:r>
              <a:rPr lang="it-IT" sz="803" baseline="0" b="1" i="0" dirty="0" spc="0">
                <a:solidFill>
                  <a:srgbClr val="000000"/>
                </a:solidFill>
                <a:latin typeface="Arial" pitchFamily="0" charset="1"/>
              </a:rPr>
              <a:t>GENERASalute RSM 	</a:t>
            </a:r>
            <a:r>
              <a:rPr lang="it-IT" sz="803" baseline="0" b="0" i="0" dirty="0" spc="0">
                <a:solidFill>
                  <a:srgbClr val="000000"/>
                </a:solidFill>
                <a:latin typeface="Arial" pitchFamily="0" charset="1"/>
              </a:rPr>
              <a:t>Edizione 05.2022 	Condizioni di assicurazione </a:t>
            </a:r>
          </a:p>
        </p:txBody>
      </p:sp>
      <p:sp>
        <p:nvSpPr>
          <p:cNvPr id="435" name="Rectangle 435"/>
          <p:cNvSpPr/>
          <p:nvPr/>
        </p:nvSpPr>
        <p:spPr>
          <a:xfrm rot="0" flipH="0" flipV="0">
            <a:off x="359663" y="664289"/>
            <a:ext cx="6703934" cy="1090744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227076">
              <a:tabLst>
                <a:tab pos="452627" algn="l"/>
                <a:tab pos="452627" algn="l"/>
              </a:tabLst>
            </a:pPr>
            <a:r>
              <a:rPr lang="it-IT" sz="996" baseline="0" b="0" i="0" dirty="0" spc="-8">
                <a:solidFill>
                  <a:srgbClr val="000000"/>
                </a:solidFill>
                <a:latin typeface="Arial" pitchFamily="0" charset="1"/>
              </a:rPr>
              <a:t>-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	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	</a:t>
            </a:r>
          </a:p>
          <a:p>
            <a:pPr marL="0">
              <a:lnSpc>
                <a:spcPts val="1446"/>
              </a:lnSpc>
            </a:pPr>
            <a:r>
              <a:rPr lang="it-IT" sz="1200" baseline="0" b="1" i="1" dirty="0" spc="0">
                <a:solidFill>
                  <a:srgbClr val="000000"/>
                </a:solidFill>
                <a:latin typeface="Calibri-BoldItalic" pitchFamily="0" charset="1"/>
              </a:rPr>
              <a:t>Art. 5 Cure oncologiche </a:t>
            </a:r>
          </a:p>
          <a:p>
            <a:pPr marL="0">
              <a:lnSpc>
                <a:spcPts val="1432"/>
              </a:lnSpc>
            </a:pPr>
            <a:r>
              <a:rPr lang="it-IT" sz="1200" baseline="0" b="1" i="1" dirty="0" spc="0">
                <a:solidFill>
                  <a:srgbClr val="C00000"/>
                </a:solidFill>
                <a:latin typeface="Cambria-BoldItalic" pitchFamily="0" charset="1"/>
              </a:rPr>
              <a:t>Che cosa è assicurato</a:t>
            </a:r>
            <a:r>
              <a:rPr lang="it-IT" sz="1200" baseline="0" b="1" i="1" dirty="0" spc="0">
                <a:solidFill>
                  <a:srgbClr val="000000"/>
                </a:solidFill>
                <a:latin typeface="Cambria-BoldItalic" pitchFamily="0" charset="1"/>
              </a:rPr>
              <a:t> </a:t>
            </a:r>
          </a:p>
          <a:p>
            <a:pPr marL="0">
              <a:lnSpc>
                <a:spcPts val="114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Generali Italia rimborsa le spese sostenute per visite specialistiche, accertamenti diagnostici, chemioterapia, radiotera- </a:t>
            </a:r>
          </a:p>
          <a:p>
            <a:pPr marL="0">
              <a:lnSpc>
                <a:spcPts val="1151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pia e immunoterapia rese necessarie da malattia oncologica ed eseguite esclusivamente in regime ambulatoriale o Day </a:t>
            </a:r>
          </a:p>
          <a:p>
            <a:pPr marL="0">
              <a:lnSpc>
                <a:spcPts val="115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hospital. </a:t>
            </a:r>
          </a:p>
          <a:p>
            <a:pPr marL="0">
              <a:lnSpc>
                <a:spcPts val="115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Sono compresi in garanzia i protocolli rientranti negli studi clinici relativi a sperimentazioni riconosciute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dall’AIFA.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436" name="Rectangle 436"/>
          <p:cNvSpPr/>
          <p:nvPr/>
        </p:nvSpPr>
        <p:spPr>
          <a:xfrm rot="0" flipH="0" flipV="0">
            <a:off x="216408" y="1760299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437" name="Rectangle 437"/>
          <p:cNvSpPr/>
          <p:nvPr/>
        </p:nvSpPr>
        <p:spPr>
          <a:xfrm rot="0" flipH="0" flipV="0">
            <a:off x="359663" y="1902206"/>
            <a:ext cx="6647546" cy="614826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1200" baseline="0" b="1" i="1" dirty="0" spc="0">
                <a:solidFill>
                  <a:srgbClr val="C00000"/>
                </a:solidFill>
                <a:latin typeface="Cambria-BoldItalic" pitchFamily="0" charset="1"/>
              </a:rPr>
              <a:t>Ci sono limiti di copertura</a:t>
            </a:r>
            <a:r>
              <a:rPr lang="it-IT" sz="1200" baseline="0" b="1" i="1" dirty="0" spc="0">
                <a:solidFill>
                  <a:srgbClr val="000000"/>
                </a:solidFill>
                <a:latin typeface="Cambria-BoldItalic" pitchFamily="0" charset="1"/>
              </a:rPr>
              <a:t> </a:t>
            </a:r>
          </a:p>
          <a:p>
            <a:pPr marL="0">
              <a:lnSpc>
                <a:spcPts val="114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La garanzia è operante fino a concorrenza del massimale indicato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all’art.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10 Tabella franchigie, scoperti, massimali e </a:t>
            </a:r>
          </a:p>
          <a:p>
            <a:pPr marL="0">
              <a:lnSpc>
                <a:spcPts val="1140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limiti di indennizzo. Il rimborso delle spese avviene previa presentazione della prescrizione medica con relativo quesito </a:t>
            </a:r>
          </a:p>
          <a:p>
            <a:pPr marL="0">
              <a:lnSpc>
                <a:spcPts val="115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dia- gnostico</a:t>
            </a:r>
            <a:r>
              <a:rPr lang="it-IT" sz="996" baseline="0" b="0" i="1" dirty="0" spc="0">
                <a:solidFill>
                  <a:srgbClr val="000000"/>
                </a:solidFill>
                <a:latin typeface="Arial" pitchFamily="0" charset="1"/>
              </a:rPr>
              <a:t>. </a:t>
            </a:r>
          </a:p>
        </p:txBody>
      </p:sp>
      <p:sp>
        <p:nvSpPr>
          <p:cNvPr id="438" name="Rectangle 438"/>
          <p:cNvSpPr/>
          <p:nvPr/>
        </p:nvSpPr>
        <p:spPr>
          <a:xfrm rot="0" flipH="0" flipV="0">
            <a:off x="216408" y="2522299"/>
            <a:ext cx="35164" cy="140785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1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439" name="Rectangle 439"/>
          <p:cNvSpPr/>
          <p:nvPr/>
        </p:nvSpPr>
        <p:spPr>
          <a:xfrm rot="0" flipH="0" flipV="0">
            <a:off x="359663" y="2694686"/>
            <a:ext cx="6652118" cy="106478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1200" baseline="0" b="1" i="1" dirty="0" spc="0">
                <a:solidFill>
                  <a:srgbClr val="000000"/>
                </a:solidFill>
                <a:latin typeface="Calibri-BoldItalic" pitchFamily="0" charset="1"/>
              </a:rPr>
              <a:t>Art. 6 Prestazioni diagnostiche ad alta specializzazione </a:t>
            </a:r>
          </a:p>
          <a:p>
            <a:pPr marL="0">
              <a:lnSpc>
                <a:spcPts val="1433"/>
              </a:lnSpc>
            </a:pPr>
            <a:r>
              <a:rPr lang="it-IT" sz="1200" baseline="0" b="1" i="1" dirty="0" spc="0">
                <a:solidFill>
                  <a:srgbClr val="C00000"/>
                </a:solidFill>
                <a:latin typeface="Cambria-BoldItalic" pitchFamily="0" charset="1"/>
              </a:rPr>
              <a:t>Che cosa è assicurato</a:t>
            </a:r>
            <a:r>
              <a:rPr lang="it-IT" sz="1200" baseline="0" b="1" i="1" dirty="0" spc="0">
                <a:solidFill>
                  <a:srgbClr val="000000"/>
                </a:solidFill>
                <a:latin typeface="Cambria-BoldItalic" pitchFamily="0" charset="1"/>
              </a:rPr>
              <a:t> </a:t>
            </a:r>
          </a:p>
          <a:p>
            <a:pPr marL="0">
              <a:lnSpc>
                <a:spcPts val="114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Generali Italia rimborsa le spese sanitarie sostenute a seguito di malattia od infortunio per le seguenti prestazioni diagno- </a:t>
            </a:r>
          </a:p>
          <a:p>
            <a:pPr marL="0">
              <a:lnSpc>
                <a:spcPts val="1151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stiche</a:t>
            </a:r>
            <a:r>
              <a:rPr lang="it-IT" sz="996" baseline="0" b="0" i="0" dirty="0" spc="275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ad</a:t>
            </a:r>
            <a:r>
              <a:rPr lang="it-IT" sz="996" baseline="0" b="0" i="0" dirty="0" spc="275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alta</a:t>
            </a:r>
            <a:r>
              <a:rPr lang="it-IT" sz="996" baseline="0" b="0" i="0" dirty="0" spc="251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specializzazione,</a:t>
            </a:r>
            <a:r>
              <a:rPr lang="it-IT" sz="996" baseline="0" b="0" i="0" dirty="0" spc="287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non</a:t>
            </a:r>
            <a:r>
              <a:rPr lang="it-IT" sz="996" baseline="0" b="0" i="0" dirty="0" spc="278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collegate</a:t>
            </a:r>
            <a:r>
              <a:rPr lang="it-IT" sz="996" baseline="0" b="0" i="0" dirty="0" spc="287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a</a:t>
            </a:r>
            <a:r>
              <a:rPr lang="it-IT" sz="996" baseline="0" b="0" i="0" dirty="0" spc="275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ricovero:</a:t>
            </a:r>
            <a:r>
              <a:rPr lang="it-IT" sz="996" baseline="0" b="0" i="0" dirty="0" spc="275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Angiografia,</a:t>
            </a:r>
            <a:r>
              <a:rPr lang="it-IT" sz="996" baseline="0" b="0" i="0" dirty="0" spc="287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Arteriografia,</a:t>
            </a:r>
            <a:r>
              <a:rPr lang="it-IT" sz="996" baseline="0" b="0" i="0" dirty="0" spc="275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Cistografia,</a:t>
            </a:r>
            <a:r>
              <a:rPr lang="it-IT" sz="996" baseline="0" b="0" i="0" dirty="0" spc="275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Coronarografia, </a:t>
            </a:r>
          </a:p>
          <a:p>
            <a:pPr marL="0">
              <a:lnSpc>
                <a:spcPts val="115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Doppler,</a:t>
            </a:r>
            <a:r>
              <a:rPr lang="it-IT" sz="996" baseline="0" b="0" i="0" dirty="0" spc="167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Ecocardiografia,</a:t>
            </a:r>
            <a:r>
              <a:rPr lang="it-IT" sz="996" baseline="0" b="0" i="0" dirty="0" spc="163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Elettromiografia,</a:t>
            </a:r>
            <a:r>
              <a:rPr lang="it-IT" sz="996" baseline="0" b="0" i="0" dirty="0" spc="151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Endoscopia,</a:t>
            </a:r>
            <a:r>
              <a:rPr lang="it-IT" sz="996" baseline="0" b="0" i="0" dirty="0" spc="163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Esame</a:t>
            </a:r>
            <a:r>
              <a:rPr lang="it-IT" sz="996" baseline="0" b="0" i="0" dirty="0" spc="164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urodinamico</a:t>
            </a:r>
            <a:r>
              <a:rPr lang="it-IT" sz="996" baseline="0" b="0" i="0" dirty="0" spc="152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completo,</a:t>
            </a:r>
            <a:r>
              <a:rPr lang="it-IT" sz="996" baseline="0" b="0" i="0" dirty="0" spc="153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Holter,</a:t>
            </a:r>
            <a:r>
              <a:rPr lang="it-IT" sz="996" baseline="0" b="0" i="0" dirty="0" spc="155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Isterosalpingografia, </a:t>
            </a:r>
          </a:p>
          <a:p>
            <a:pPr marL="0">
              <a:lnSpc>
                <a:spcPts val="115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Mineralogia</a:t>
            </a:r>
            <a:r>
              <a:rPr lang="it-IT" sz="996" baseline="0" b="0" i="0" dirty="0" spc="356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Ossea</a:t>
            </a:r>
            <a:r>
              <a:rPr lang="it-IT" sz="996" baseline="0" b="0" i="0" dirty="0" spc="299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Computerizzata</a:t>
            </a:r>
            <a:r>
              <a:rPr lang="it-IT" sz="996" baseline="0" b="0" i="0" dirty="0" spc="287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(MOC),</a:t>
            </a:r>
            <a:r>
              <a:rPr lang="it-IT" sz="996" baseline="0" b="0" i="0" dirty="0" spc="287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Risonanza</a:t>
            </a:r>
            <a:r>
              <a:rPr lang="it-IT" sz="996" baseline="0" b="0" i="0" dirty="0" spc="287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Magnetica</a:t>
            </a:r>
            <a:r>
              <a:rPr lang="it-IT" sz="996" baseline="0" b="0" i="0" dirty="0" spc="313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Nucleare</a:t>
            </a:r>
            <a:r>
              <a:rPr lang="it-IT" sz="996" baseline="0" b="0" i="0" dirty="0" spc="299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(RMN),</a:t>
            </a:r>
            <a:r>
              <a:rPr lang="it-IT" sz="996" baseline="0" b="0" i="0" dirty="0" spc="299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Scintigrafia,</a:t>
            </a:r>
            <a:r>
              <a:rPr lang="it-IT" sz="996" baseline="0" b="0" i="0" dirty="0" spc="287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Tomografia</a:t>
            </a:r>
            <a:r>
              <a:rPr lang="it-IT" sz="996" baseline="0" b="0" i="0" dirty="0" spc="287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ad </a:t>
            </a:r>
          </a:p>
          <a:p>
            <a:pPr marL="0">
              <a:lnSpc>
                <a:spcPts val="1151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emissione di positroni (PET), Tomografia Assiale Computerizzata (TAC), Urografia. </a:t>
            </a:r>
          </a:p>
        </p:txBody>
      </p:sp>
      <p:sp>
        <p:nvSpPr>
          <p:cNvPr id="440" name="Rectangle 440"/>
          <p:cNvSpPr/>
          <p:nvPr/>
        </p:nvSpPr>
        <p:spPr>
          <a:xfrm rot="0" flipH="0" flipV="0">
            <a:off x="216408" y="3763216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441" name="Rectangle 441"/>
          <p:cNvSpPr/>
          <p:nvPr/>
        </p:nvSpPr>
        <p:spPr>
          <a:xfrm rot="0" flipH="0" flipV="0">
            <a:off x="359663" y="3909520"/>
            <a:ext cx="6644499" cy="101759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Si intendono comprese in questa garanzia le spese sostenute per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l’acquisto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e riparazione di protesi ortopediche e appa- </a:t>
            </a:r>
          </a:p>
          <a:p>
            <a:pPr marL="0">
              <a:lnSpc>
                <a:spcPts val="1151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recchi acustici. </a:t>
            </a:r>
          </a:p>
          <a:p>
            <a:pPr marL="0">
              <a:lnSpc>
                <a:spcPts val="115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Si intendono comprese in questa garanzia le spese sostenute a seguito di malattia od infortunio per: </a:t>
            </a:r>
          </a:p>
          <a:p>
            <a:pPr marL="227076">
              <a:lnSpc>
                <a:spcPts val="1152"/>
              </a:lnSpc>
              <a:tabLst>
                <a:tab pos="452627" algn="l"/>
              </a:tabLst>
            </a:pPr>
            <a:r>
              <a:rPr lang="it-IT" sz="996" baseline="0" b="0" i="0" dirty="0" spc="-8">
                <a:solidFill>
                  <a:srgbClr val="000000"/>
                </a:solidFill>
                <a:latin typeface="Arial" pitchFamily="0" charset="1"/>
              </a:rPr>
              <a:t>-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	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onorari dei medici per visite specialistiche (escluse le visite odontoiatriche ed ortodontiche) intendendosi per </a:t>
            </a:r>
          </a:p>
          <a:p>
            <a:pPr marL="452627">
              <a:lnSpc>
                <a:spcPts val="1151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tali quelle effettuate da medico fornito di regolare specializzazione conseguita presso la facoltà di medicina e </a:t>
            </a:r>
          </a:p>
          <a:p>
            <a:pPr marL="452627">
              <a:lnSpc>
                <a:spcPts val="1139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chirur- gia; </a:t>
            </a:r>
          </a:p>
          <a:p>
            <a:pPr marL="227076">
              <a:lnSpc>
                <a:spcPts val="1154"/>
              </a:lnSpc>
              <a:tabLst>
                <a:tab pos="452627" algn="l"/>
              </a:tabLst>
            </a:pPr>
            <a:r>
              <a:rPr lang="it-IT" sz="996" baseline="0" b="0" i="0" dirty="0" spc="-8">
                <a:solidFill>
                  <a:srgbClr val="000000"/>
                </a:solidFill>
                <a:latin typeface="Arial" pitchFamily="0" charset="1"/>
              </a:rPr>
              <a:t>-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	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analisi ed esami diagnostici e di laboratorio, purché pertinenti alla malattia od infortunio denunciati. </a:t>
            </a:r>
          </a:p>
        </p:txBody>
      </p:sp>
      <p:sp>
        <p:nvSpPr>
          <p:cNvPr id="442" name="Rectangle 442"/>
          <p:cNvSpPr/>
          <p:nvPr/>
        </p:nvSpPr>
        <p:spPr>
          <a:xfrm rot="0" flipH="0" flipV="0">
            <a:off x="216408" y="4932378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443" name="Rectangle 443"/>
          <p:cNvSpPr/>
          <p:nvPr/>
        </p:nvSpPr>
        <p:spPr>
          <a:xfrm rot="0" flipH="0" flipV="0">
            <a:off x="359663" y="5074285"/>
            <a:ext cx="6869274" cy="907434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1200" baseline="0" b="1" i="1" dirty="0" spc="0">
                <a:solidFill>
                  <a:srgbClr val="C00000"/>
                </a:solidFill>
                <a:latin typeface="Cambria-BoldItalic" pitchFamily="0" charset="1"/>
              </a:rPr>
              <a:t>Ci sono limiti di copertura</a:t>
            </a:r>
            <a:r>
              <a:rPr lang="it-IT" sz="1200" baseline="0" b="1" i="1" dirty="0" spc="0">
                <a:solidFill>
                  <a:srgbClr val="000000"/>
                </a:solidFill>
                <a:latin typeface="Cambria-BoldItalic" pitchFamily="0" charset="1"/>
              </a:rPr>
              <a:t> </a:t>
            </a:r>
          </a:p>
          <a:p>
            <a:pPr marL="0">
              <a:lnSpc>
                <a:spcPts val="114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Il massimale annuo a disposizione e quanto rimane</a:t>
            </a:r>
            <a:r>
              <a:rPr lang="it-IT" sz="996" baseline="0" b="0" i="0" dirty="0" spc="106">
                <a:solidFill>
                  <a:srgbClr val="000000"/>
                </a:solidFill>
                <a:latin typeface="ArialMT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a carico dell’Assicurato sono indicati nell’art. 10 Tabella franchigie, </a:t>
            </a:r>
          </a:p>
          <a:p>
            <a:pPr marL="0">
              <a:lnSpc>
                <a:spcPts val="115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scoperti, massimali e limiti di indennizzo. </a:t>
            </a:r>
          </a:p>
          <a:p>
            <a:pPr marL="0">
              <a:lnSpc>
                <a:spcPts val="1151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Lo scoperto o franchigia che rimane a carico dell’Assicurato viene applicato alla spesa sostenuta per ciascuna presta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- </a:t>
            </a:r>
          </a:p>
          <a:p>
            <a:pPr marL="0">
              <a:lnSpc>
                <a:spcPts val="1151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zione. </a:t>
            </a:r>
          </a:p>
          <a:p>
            <a:pPr marL="0">
              <a:lnSpc>
                <a:spcPts val="1140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Il rimborso delle spese avviene previa presentazione della prescrizione medica con relativo quesito diagnostico</a:t>
            </a:r>
            <a:r>
              <a:rPr lang="it-IT" sz="996" baseline="0" b="0" i="1" dirty="0" spc="0">
                <a:solidFill>
                  <a:srgbClr val="000000"/>
                </a:solidFill>
                <a:latin typeface="Arial" pitchFamily="0" charset="1"/>
              </a:rPr>
              <a:t>. </a:t>
            </a:r>
          </a:p>
        </p:txBody>
      </p:sp>
      <p:sp>
        <p:nvSpPr>
          <p:cNvPr id="444" name="Rectangle 444"/>
          <p:cNvSpPr/>
          <p:nvPr/>
        </p:nvSpPr>
        <p:spPr>
          <a:xfrm rot="0" flipH="0" flipV="0">
            <a:off x="216408" y="5985249"/>
            <a:ext cx="30080" cy="12043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852" baseline="0" b="0" i="1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445" name="Rectangle 445"/>
          <p:cNvSpPr/>
          <p:nvPr/>
        </p:nvSpPr>
        <p:spPr>
          <a:xfrm rot="0" flipH="0" flipV="0">
            <a:off x="446531" y="6622670"/>
            <a:ext cx="34442" cy="15240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1200" baseline="0" b="1" i="1" dirty="0" spc="0">
                <a:solidFill>
                  <a:srgbClr val="000000"/>
                </a:solidFill>
                <a:latin typeface="Calibri-BoldItalic" pitchFamily="0" charset="1"/>
              </a:rPr>
              <a:t> </a:t>
            </a:r>
          </a:p>
        </p:txBody>
      </p:sp>
      <p:sp>
        <p:nvSpPr>
          <p:cNvPr id="446" name="Rectangle 446"/>
          <p:cNvSpPr/>
          <p:nvPr/>
        </p:nvSpPr>
        <p:spPr>
          <a:xfrm rot="0" flipH="0" flipV="0">
            <a:off x="437387" y="6808978"/>
            <a:ext cx="6656690" cy="150027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9144"/>
            <a:r>
              <a:rPr lang="it-IT" sz="1200" baseline="0" b="1" i="1" dirty="0" spc="0">
                <a:solidFill>
                  <a:srgbClr val="000000"/>
                </a:solidFill>
                <a:latin typeface="Calibri-BoldItalic" pitchFamily="0" charset="1"/>
              </a:rPr>
              <a:t>Art. 7 Trattamenti fisioterapici </a:t>
            </a:r>
          </a:p>
          <a:p>
            <a:pPr marL="9144">
              <a:lnSpc>
                <a:spcPts val="1430"/>
              </a:lnSpc>
            </a:pPr>
            <a:r>
              <a:rPr lang="it-IT" sz="1200" baseline="0" b="1" i="1" dirty="0" spc="0">
                <a:solidFill>
                  <a:srgbClr val="C00000"/>
                </a:solidFill>
                <a:latin typeface="Cambria-BoldItalic" pitchFamily="0" charset="1"/>
              </a:rPr>
              <a:t>Che cosa è assicurato</a:t>
            </a:r>
            <a:r>
              <a:rPr lang="it-IT" sz="1200" baseline="0" b="1" i="1" dirty="0" spc="0">
                <a:solidFill>
                  <a:srgbClr val="000000"/>
                </a:solidFill>
                <a:latin typeface="Cambria-BoldItalic" pitchFamily="0" charset="1"/>
              </a:rPr>
              <a:t> </a:t>
            </a:r>
          </a:p>
          <a:p>
            <a:pPr marL="12192">
              <a:lnSpc>
                <a:spcPts val="114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Generali Italia rimborsa le spese sanitarie sostenute a seguito di malattia od infortunio per i trattamenti fisioterapici e </a:t>
            </a:r>
          </a:p>
          <a:p>
            <a:pPr marL="18288">
              <a:lnSpc>
                <a:spcPts val="1151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riabilitativi (compresa la logopedia e l’ortottica). Rientrano in questa garanzia le infiltrazioni a fini fisioterapici. Si p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recisa </a:t>
            </a:r>
          </a:p>
          <a:p>
            <a:pPr marL="18288">
              <a:lnSpc>
                <a:spcPts val="1139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che i trattamenti devono essere prescritti da medico specialista e possono essere svolti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o all’interno di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un centro specia- </a:t>
            </a:r>
          </a:p>
          <a:p>
            <a:pPr marL="18288">
              <a:lnSpc>
                <a:spcPts val="115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lizzato o eseguiti da persone iscritte al relativo Albo delle figure professionali riconosciute dagli elenchi delle Arti e Pro- </a:t>
            </a:r>
          </a:p>
          <a:p>
            <a:pPr marL="18288">
              <a:lnSpc>
                <a:spcPts val="115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fessioni sanitarie. </a:t>
            </a:r>
          </a:p>
          <a:p>
            <a:pPr marL="0">
              <a:lnSpc>
                <a:spcPts val="115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In caso di infortunio si precisa che lo stesso deve essere documentato da certificazione della struttura di Pronto Soccorso </a:t>
            </a:r>
          </a:p>
          <a:p>
            <a:pPr marL="6095">
              <a:lnSpc>
                <a:spcPts val="1151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o altra analoga struttura ospedaliera a cui si è fatto immediato ricorso. Si precisa altresì che saranno ammesse a rimborso </a:t>
            </a:r>
          </a:p>
          <a:p>
            <a:pPr marL="6095">
              <a:lnSpc>
                <a:spcPts val="1140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soltanto le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prestazioni effettuate entro 2 anni dalla data dell’evento, purché in vigenza di polizza.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447" name="Rectangle 447"/>
          <p:cNvSpPr/>
          <p:nvPr/>
        </p:nvSpPr>
        <p:spPr>
          <a:xfrm rot="0" flipH="0" flipV="0">
            <a:off x="216408" y="8314515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448" name="Rectangle 448"/>
          <p:cNvSpPr/>
          <p:nvPr/>
        </p:nvSpPr>
        <p:spPr>
          <a:xfrm rot="0" flipH="0" flipV="0">
            <a:off x="437387" y="8456423"/>
            <a:ext cx="6649557" cy="616604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9144"/>
            <a:r>
              <a:rPr lang="it-IT" sz="1200" baseline="0" b="1" i="1" dirty="0" spc="0">
                <a:solidFill>
                  <a:srgbClr val="C00000"/>
                </a:solidFill>
                <a:latin typeface="Cambria-BoldItalic" pitchFamily="0" charset="1"/>
              </a:rPr>
              <a:t>Ci sono limiti di copertura</a:t>
            </a:r>
            <a:r>
              <a:rPr lang="it-IT" sz="1200" baseline="0" b="1" i="1" dirty="0" spc="0">
                <a:solidFill>
                  <a:srgbClr val="000000"/>
                </a:solidFill>
                <a:latin typeface="Cambria-BoldItalic" pitchFamily="0" charset="1"/>
              </a:rPr>
              <a:t> </a:t>
            </a:r>
          </a:p>
          <a:p>
            <a:pPr marL="0">
              <a:lnSpc>
                <a:spcPts val="1144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Il massimale annuo a disposizione e quanto rimane a carico dell’Assicurato sono indicati nell’art. 10 Tabella franchigie, </a:t>
            </a:r>
          </a:p>
          <a:p>
            <a:pPr marL="6095">
              <a:lnSpc>
                <a:spcPts val="115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scoperti, massimali e limiti di indennizzo. </a:t>
            </a:r>
          </a:p>
          <a:p>
            <a:pPr marL="0">
              <a:lnSpc>
                <a:spcPts val="115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L’eventuale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scoperto o franchigia viene applicato alla spesa sostenuta per ciascuna prestazione o ciclo di terapia. </a:t>
            </a:r>
          </a:p>
        </p:txBody>
      </p:sp>
      <p:sp>
        <p:nvSpPr>
          <p:cNvPr id="449" name="Rectangle 449"/>
          <p:cNvSpPr/>
          <p:nvPr/>
        </p:nvSpPr>
        <p:spPr>
          <a:xfrm rot="0" flipH="0" flipV="0">
            <a:off x="216408" y="9077714"/>
            <a:ext cx="33470" cy="13424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47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450" name="Rectangle 450"/>
          <p:cNvSpPr/>
          <p:nvPr/>
        </p:nvSpPr>
        <p:spPr>
          <a:xfrm rot="0" flipH="0" flipV="0">
            <a:off x="446531" y="9727693"/>
            <a:ext cx="34442" cy="15240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1200" baseline="0" b="1" i="1" dirty="0" spc="0">
                <a:solidFill>
                  <a:srgbClr val="000000"/>
                </a:solidFill>
                <a:latin typeface="Calibri-BoldItalic" pitchFamily="0" charset="1"/>
              </a:rPr>
              <a:t> </a:t>
            </a:r>
          </a:p>
        </p:txBody>
      </p:sp>
      <p:sp>
        <p:nvSpPr>
          <p:cNvPr id="451" name="Rectangle 451"/>
          <p:cNvSpPr/>
          <p:nvPr/>
        </p:nvSpPr>
        <p:spPr>
          <a:xfrm rot="0" flipH="0" flipV="0">
            <a:off x="449580" y="6284166"/>
            <a:ext cx="6578649" cy="28734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315468"/>
            <a:r>
              <a:rPr lang="it-IT" sz="803" baseline="0" b="0" i="0" dirty="0" spc="0">
                <a:solidFill>
                  <a:srgbClr val="000000"/>
                </a:solidFill>
                <a:latin typeface="Arial" pitchFamily="0" charset="1"/>
              </a:rPr>
              <a:t>ATTENZIONE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: si considerano unica prestazione anche la visita specialistica e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l’accertamento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connessi a medesima </a:t>
            </a:r>
          </a:p>
          <a:p>
            <a:pPr marL="0">
              <a:lnSpc>
                <a:spcPts val="1151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patologia, contestualmente prescritti dal medico e presentati a Generali Italia in un’unica richiesta di rimborso.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452" name="Rectangle 452"/>
          <p:cNvSpPr/>
          <p:nvPr/>
        </p:nvSpPr>
        <p:spPr>
          <a:xfrm rot="0" flipH="0" flipV="0">
            <a:off x="536448" y="9387665"/>
            <a:ext cx="6546342" cy="28734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315772"/>
            <a:r>
              <a:rPr lang="it-IT" sz="803" baseline="0" b="0" i="0" dirty="0" spc="0">
                <a:solidFill>
                  <a:srgbClr val="000000"/>
                </a:solidFill>
                <a:latin typeface="Arial" pitchFamily="0" charset="1"/>
              </a:rPr>
              <a:t>ATTENZIONE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: in presenza di ciclo di cura la richiesta di rimborso deve essere fatta a conclusione del ciclo con la </a:t>
            </a:r>
          </a:p>
          <a:p>
            <a:pPr marL="0">
              <a:lnSpc>
                <a:spcPts val="1151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prescrizione del medico specialista nella patologia.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/>
      </p:grpSpPr>
      <p:pic>
        <p:nvPicPr>
          <p:cNvPr id="453" name="Picture 398"/>
          <p:cNvPicPr>
            <a:picLocks noChangeAspect="0" noChangeArrowheads="1"/>
          </p:cNvPicPr>
          <p:nvPr/>
        </p:nvPicPr>
        <p:blipFill>
          <a:blip r:embed="rId45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 flipH="0" flipV="0">
            <a:off x="296151" y="6052185"/>
            <a:ext cx="223291" cy="219075"/>
          </a:xfrm>
          <a:prstGeom prst="rect">
            <a:avLst/>
          </a:prstGeom>
          <a:noFill/>
          <a:extLst/>
        </p:spPr>
      </p:pic>
      <p:sp>
        <p:nvSpPr>
          <p:cNvPr id="454" name="Freeform 454"/>
          <p:cNvSpPr/>
          <p:nvPr/>
        </p:nvSpPr>
        <p:spPr>
          <a:xfrm rot="0" flipH="0" flipV="0">
            <a:off x="219151" y="6036438"/>
            <a:ext cx="7156704" cy="1311275"/>
          </a:xfrm>
          <a:custGeom>
            <a:pathLst>
              <a:path w="7156704" h="1311275">
                <a:moveTo>
                  <a:pt x="0" y="1311275"/>
                </a:moveTo>
                <a:lnTo>
                  <a:pt x="7156704" y="1311275"/>
                </a:lnTo>
                <a:lnTo>
                  <a:pt x="7156704" y="0"/>
                </a:lnTo>
                <a:lnTo>
                  <a:pt x="0" y="0"/>
                </a:lnTo>
                <a:lnTo>
                  <a:pt x="0" y="1311275"/>
                </a:lnTo>
                <a:close/>
              </a:path>
            </a:pathLst>
          </a:custGeom>
          <a:noFill/>
          <a:ln w="6094" cap="flat" cmpd="sng">
            <a:solidFill>
              <a:srgbClr val="000000">
                <a:alpha val="10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455" name="Picture 455"/>
          <p:cNvPicPr>
            <a:picLocks noChangeAspect="0" noChangeArrowheads="1"/>
          </p:cNvPicPr>
          <p:nvPr/>
        </p:nvPicPr>
        <p:blipFill>
          <a:blip r:embed="rId45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 flipH="0" flipV="0">
            <a:off x="222504" y="6039613"/>
            <a:ext cx="7150607" cy="1304544"/>
          </a:xfrm>
          <a:prstGeom prst="rect">
            <a:avLst/>
          </a:prstGeom>
          <a:noFill/>
          <a:extLst/>
        </p:spPr>
      </p:pic>
      <p:sp>
        <p:nvSpPr>
          <p:cNvPr id="456" name="Rectangle 456"/>
          <p:cNvSpPr/>
          <p:nvPr/>
        </p:nvSpPr>
        <p:spPr>
          <a:xfrm rot="0" flipH="0" flipV="0">
            <a:off x="216408" y="9969041"/>
            <a:ext cx="6881559" cy="158594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>
              <a:tabLst>
                <a:tab pos="143255" algn="l"/>
                <a:tab pos="2844419" algn="l"/>
                <a:tab pos="5645784" algn="l"/>
              </a:tabLst>
            </a:pPr>
            <a:r>
              <a:rPr lang="it-IT" sz="1509" baseline="-31325" b="0" i="0" dirty="0" spc="0">
                <a:solidFill>
                  <a:srgbClr val="000000"/>
                </a:solidFill>
                <a:latin typeface="Arial" pitchFamily="0" charset="1"/>
              </a:rPr>
              <a:t> 	</a:t>
            </a:r>
            <a:r>
              <a:rPr lang="it-IT" sz="803" baseline="0" b="1" i="0" dirty="0" spc="0">
                <a:solidFill>
                  <a:srgbClr val="000000"/>
                </a:solidFill>
                <a:latin typeface="Arial" pitchFamily="0" charset="1"/>
              </a:rPr>
              <a:t>GENERASalute RSM 	</a:t>
            </a:r>
            <a:r>
              <a:rPr lang="it-IT" sz="803" baseline="0" b="0" i="0" dirty="0" spc="0">
                <a:solidFill>
                  <a:srgbClr val="000000"/>
                </a:solidFill>
                <a:latin typeface="Arial" pitchFamily="0" charset="1"/>
              </a:rPr>
              <a:t>Edizione 05.2022 	Condizioni di assicurazione </a:t>
            </a:r>
          </a:p>
        </p:txBody>
      </p:sp>
      <p:sp>
        <p:nvSpPr>
          <p:cNvPr id="457" name="Rectangle 457"/>
          <p:cNvSpPr/>
          <p:nvPr/>
        </p:nvSpPr>
        <p:spPr>
          <a:xfrm rot="0" flipH="0" flipV="0">
            <a:off x="446531" y="690373"/>
            <a:ext cx="6785405" cy="62574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1200" baseline="0" b="1" i="1" dirty="0" spc="0">
                <a:solidFill>
                  <a:srgbClr val="000000"/>
                </a:solidFill>
                <a:latin typeface="Calibri-BoldItalic" pitchFamily="0" charset="1"/>
              </a:rPr>
              <a:t>Art. 8 Cure dentarie </a:t>
            </a:r>
          </a:p>
          <a:p>
            <a:pPr marL="0">
              <a:lnSpc>
                <a:spcPts val="1432"/>
              </a:lnSpc>
            </a:pPr>
            <a:r>
              <a:rPr lang="it-IT" sz="1200" baseline="0" b="1" i="1" dirty="0" spc="0">
                <a:solidFill>
                  <a:srgbClr val="C00000"/>
                </a:solidFill>
                <a:latin typeface="Cambria-BoldItalic" pitchFamily="0" charset="1"/>
              </a:rPr>
              <a:t>Che cosa è assicurato</a:t>
            </a:r>
            <a:r>
              <a:rPr lang="it-IT" sz="1200" baseline="0" b="1" i="1" dirty="0" spc="0">
                <a:solidFill>
                  <a:srgbClr val="000000"/>
                </a:solidFill>
                <a:latin typeface="Cambria-BoldItalic" pitchFamily="0" charset="1"/>
              </a:rPr>
              <a:t> </a:t>
            </a:r>
          </a:p>
          <a:p>
            <a:pPr marL="0">
              <a:lnSpc>
                <a:spcPts val="114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Generali Italia rimborsa, a deroga dell’art. 13 Esclusioni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- lett. K), le spese sostenute per le prestazioni dentarie indicate </a:t>
            </a:r>
          </a:p>
          <a:p>
            <a:pPr marL="0">
              <a:lnSpc>
                <a:spcPts val="115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nella tabella dell’art. 10.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458" name="Rectangle 458"/>
          <p:cNvSpPr/>
          <p:nvPr/>
        </p:nvSpPr>
        <p:spPr>
          <a:xfrm rot="0" flipH="0" flipV="0">
            <a:off x="216408" y="1321387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459" name="Rectangle 459"/>
          <p:cNvSpPr/>
          <p:nvPr/>
        </p:nvSpPr>
        <p:spPr>
          <a:xfrm rot="0" flipH="0" flipV="0">
            <a:off x="446531" y="1463294"/>
            <a:ext cx="6781362" cy="61635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1200" baseline="0" b="1" i="1" dirty="0" spc="0">
                <a:solidFill>
                  <a:srgbClr val="C00000"/>
                </a:solidFill>
                <a:latin typeface="Cambria-BoldItalic" pitchFamily="0" charset="1"/>
              </a:rPr>
              <a:t>Ci sono limiti di copertura</a:t>
            </a:r>
            <a:r>
              <a:rPr lang="it-IT" sz="1200" baseline="0" b="1" i="1" dirty="0" spc="0">
                <a:solidFill>
                  <a:srgbClr val="000000"/>
                </a:solidFill>
                <a:latin typeface="Cambria-BoldItalic" pitchFamily="0" charset="1"/>
              </a:rPr>
              <a:t> </a:t>
            </a:r>
          </a:p>
          <a:p>
            <a:pPr marL="0">
              <a:lnSpc>
                <a:spcPts val="114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Il massimale annuo a disposizione e quanto rimane a carico dell’Assicurato sono indicati nell’art. 10 Tabella franchigie, </a:t>
            </a:r>
          </a:p>
          <a:p>
            <a:pPr marL="0">
              <a:lnSpc>
                <a:spcPts val="115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scoperti, massimali e limiti di indennizzo. </a:t>
            </a:r>
          </a:p>
          <a:p>
            <a:pPr marL="0">
              <a:lnSpc>
                <a:spcPts val="115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L’eventuale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scoperto o franchigia viene applicato alla spesa sostenuta e documentata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dall’Assicurato.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460" name="Rectangle 460"/>
          <p:cNvSpPr/>
          <p:nvPr/>
        </p:nvSpPr>
        <p:spPr>
          <a:xfrm rot="0" flipH="0" flipV="0">
            <a:off x="216408" y="2084911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461" name="Rectangle 461"/>
          <p:cNvSpPr/>
          <p:nvPr/>
        </p:nvSpPr>
        <p:spPr>
          <a:xfrm rot="0" flipH="0" flipV="0">
            <a:off x="446531" y="2257298"/>
            <a:ext cx="5539217" cy="117604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1200" baseline="0" b="1" i="1" dirty="0" spc="0">
                <a:solidFill>
                  <a:srgbClr val="000000"/>
                </a:solidFill>
                <a:latin typeface="Calibri-BoldItalic" pitchFamily="0" charset="1"/>
              </a:rPr>
              <a:t>Art. 9 Interventi Chirurgici Odontoiatrici Extraricovero </a:t>
            </a:r>
          </a:p>
          <a:p>
            <a:pPr marL="0">
              <a:lnSpc>
                <a:spcPts val="1169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La Società rimborsa le seguenti spese sostenute per interventi chirurgici odontoiatrici extraricovero: </a:t>
            </a:r>
          </a:p>
          <a:p>
            <a:pPr marL="0">
              <a:lnSpc>
                <a:spcPts val="1139"/>
              </a:lnSpc>
              <a:tabLst>
                <a:tab pos="449884" algn="l"/>
              </a:tabLst>
            </a:pPr>
            <a:r>
              <a:rPr lang="it-IT" sz="996" baseline="0" b="0" i="0" dirty="0" spc="-8">
                <a:solidFill>
                  <a:srgbClr val="000000"/>
                </a:solidFill>
                <a:latin typeface="Arial" pitchFamily="0" charset="1"/>
              </a:rPr>
              <a:t>-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	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Adamantinoma </a:t>
            </a:r>
          </a:p>
          <a:p>
            <a:pPr marL="0">
              <a:lnSpc>
                <a:spcPts val="1152"/>
              </a:lnSpc>
              <a:tabLst>
                <a:tab pos="449884" algn="l"/>
              </a:tabLst>
            </a:pPr>
            <a:r>
              <a:rPr lang="it-IT" sz="996" baseline="0" b="0" i="0" dirty="0" spc="-8">
                <a:solidFill>
                  <a:srgbClr val="000000"/>
                </a:solidFill>
                <a:latin typeface="Arial" pitchFamily="0" charset="1"/>
              </a:rPr>
              <a:t>-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	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Ascesso dentario in presenza di strumento endodontico nel lume canalare </a:t>
            </a:r>
          </a:p>
          <a:p>
            <a:pPr marL="0">
              <a:lnSpc>
                <a:spcPts val="1154"/>
              </a:lnSpc>
              <a:tabLst>
                <a:tab pos="449884" algn="l"/>
              </a:tabLst>
            </a:pPr>
            <a:r>
              <a:rPr lang="it-IT" sz="996" baseline="0" b="0" i="0" dirty="0" spc="-8">
                <a:solidFill>
                  <a:srgbClr val="000000"/>
                </a:solidFill>
                <a:latin typeface="Arial" pitchFamily="0" charset="1"/>
              </a:rPr>
              <a:t>-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	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Cisti follicolari </a:t>
            </a:r>
          </a:p>
          <a:p>
            <a:pPr marL="0">
              <a:lnSpc>
                <a:spcPts val="1152"/>
              </a:lnSpc>
              <a:tabLst>
                <a:tab pos="449884" algn="l"/>
              </a:tabLst>
            </a:pPr>
            <a:r>
              <a:rPr lang="it-IT" sz="996" baseline="0" b="0" i="0" dirty="0" spc="-8">
                <a:solidFill>
                  <a:srgbClr val="000000"/>
                </a:solidFill>
                <a:latin typeface="Arial" pitchFamily="0" charset="1"/>
              </a:rPr>
              <a:t>-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	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Cisti radicolari </a:t>
            </a:r>
          </a:p>
          <a:p>
            <a:pPr marL="0">
              <a:lnSpc>
                <a:spcPts val="1152"/>
              </a:lnSpc>
              <a:tabLst>
                <a:tab pos="449884" algn="l"/>
              </a:tabLst>
            </a:pPr>
            <a:r>
              <a:rPr lang="it-IT" sz="996" baseline="0" b="0" i="0" dirty="0" spc="-8">
                <a:solidFill>
                  <a:srgbClr val="000000"/>
                </a:solidFill>
                <a:latin typeface="Arial" pitchFamily="0" charset="1"/>
              </a:rPr>
              <a:t>-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	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Odontoma </a:t>
            </a:r>
          </a:p>
          <a:p>
            <a:pPr marL="0">
              <a:lnSpc>
                <a:spcPts val="1139"/>
              </a:lnSpc>
              <a:tabLst>
                <a:tab pos="449884" algn="l"/>
              </a:tabLst>
            </a:pPr>
            <a:r>
              <a:rPr lang="it-IT" sz="996" baseline="0" b="0" i="0" dirty="0" spc="-8">
                <a:solidFill>
                  <a:srgbClr val="000000"/>
                </a:solidFill>
                <a:latin typeface="Arial" pitchFamily="0" charset="1"/>
              </a:rPr>
              <a:t>-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	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Osteiti che coinvolgano almeno un terzo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dell’osso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mascellare o mandibolare </a:t>
            </a:r>
          </a:p>
        </p:txBody>
      </p:sp>
      <p:sp>
        <p:nvSpPr>
          <p:cNvPr id="462" name="Rectangle 462"/>
          <p:cNvSpPr/>
          <p:nvPr/>
        </p:nvSpPr>
        <p:spPr>
          <a:xfrm rot="0" flipH="0" flipV="0">
            <a:off x="216408" y="3438604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463" name="Rectangle 463"/>
          <p:cNvSpPr/>
          <p:nvPr/>
        </p:nvSpPr>
        <p:spPr>
          <a:xfrm rot="0" flipH="0" flipV="0">
            <a:off x="446531" y="3580511"/>
            <a:ext cx="6698976" cy="470046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1200" baseline="0" b="1" i="1" dirty="0" spc="0">
                <a:solidFill>
                  <a:srgbClr val="C00000"/>
                </a:solidFill>
                <a:latin typeface="Cambria-BoldItalic" pitchFamily="0" charset="1"/>
              </a:rPr>
              <a:t>Ci sono limiti di copertura</a:t>
            </a:r>
            <a:r>
              <a:rPr lang="it-IT" sz="1200" baseline="0" b="1" i="1" dirty="0" spc="0">
                <a:solidFill>
                  <a:srgbClr val="000000"/>
                </a:solidFill>
                <a:latin typeface="Cambria-BoldItalic" pitchFamily="0" charset="1"/>
              </a:rPr>
              <a:t> </a:t>
            </a:r>
          </a:p>
          <a:p>
            <a:pPr marL="0">
              <a:lnSpc>
                <a:spcPts val="114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La garanzia è operante fino a concorrenza del massimale indicato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all’art.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10 Tabella franchigie, scoperti, massimali e limiti </a:t>
            </a:r>
          </a:p>
          <a:p>
            <a:pPr marL="6095">
              <a:lnSpc>
                <a:spcPts val="115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di indennizzo. </a:t>
            </a:r>
          </a:p>
        </p:txBody>
      </p:sp>
      <p:sp>
        <p:nvSpPr>
          <p:cNvPr id="464" name="Rectangle 464"/>
          <p:cNvSpPr/>
          <p:nvPr/>
        </p:nvSpPr>
        <p:spPr>
          <a:xfrm rot="0" flipH="0" flipV="0">
            <a:off x="446531" y="4081908"/>
            <a:ext cx="34442" cy="15240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1200" baseline="0" b="1" i="1" dirty="0" spc="0">
                <a:solidFill>
                  <a:srgbClr val="000000"/>
                </a:solidFill>
                <a:latin typeface="Calibri-BoldItalic" pitchFamily="0" charset="1"/>
              </a:rPr>
              <a:t> </a:t>
            </a:r>
          </a:p>
        </p:txBody>
      </p:sp>
      <p:sp>
        <p:nvSpPr>
          <p:cNvPr id="465" name="Rectangle 465"/>
          <p:cNvSpPr/>
          <p:nvPr/>
        </p:nvSpPr>
        <p:spPr>
          <a:xfrm rot="0" flipH="0" flipV="0">
            <a:off x="446531" y="4267835"/>
            <a:ext cx="6646023" cy="161634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1200" baseline="0" b="1" i="1" dirty="0" spc="0">
                <a:solidFill>
                  <a:srgbClr val="000000"/>
                </a:solidFill>
                <a:latin typeface="Calibri-BoldItalic" pitchFamily="0" charset="1"/>
              </a:rPr>
              <a:t>Art. 10 TABELLA FRANCHIGIE, SCOPERTI, MASSIMALI E LIMITI DI INDENNIZZO </a:t>
            </a:r>
          </a:p>
          <a:p>
            <a:pPr marL="0">
              <a:lnSpc>
                <a:spcPts val="1169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Ad integrazione di quanto indicato nelle singole garanzie valgono i limiti riportati nella tabella che segue. </a:t>
            </a:r>
          </a:p>
          <a:p>
            <a:pPr marL="0">
              <a:lnSpc>
                <a:spcPts val="1151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Il massimale indicato nella tabella è da intendersi come disponibilità unica per annualità assicurativa e per persona in </a:t>
            </a:r>
          </a:p>
          <a:p>
            <a:pPr marL="0">
              <a:lnSpc>
                <a:spcPts val="1154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base a quanto indicato nell’art. 2 Assicurati.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  <a:p>
            <a:pPr marL="0">
              <a:lnSpc>
                <a:spcPts val="1151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Il rimborso delle spese indennizzabili a termini di contratto avviene per ogni garanzia fino a concorrenza del relativo </a:t>
            </a:r>
          </a:p>
          <a:p>
            <a:pPr marL="0">
              <a:lnSpc>
                <a:spcPts val="1139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massimale</a:t>
            </a:r>
            <a:r>
              <a:rPr lang="it-IT" sz="996" baseline="0" b="0" i="0" dirty="0" spc="167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e</a:t>
            </a:r>
            <a:r>
              <a:rPr lang="it-IT" sz="996" baseline="0" b="0" i="0" dirty="0" spc="179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previa</a:t>
            </a:r>
            <a:r>
              <a:rPr lang="it-IT" sz="996" baseline="0" b="0" i="0" dirty="0" spc="167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eventuale</a:t>
            </a:r>
            <a:r>
              <a:rPr lang="it-IT" sz="996" baseline="0" b="0" i="0" dirty="0" spc="179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applicazione</a:t>
            </a:r>
            <a:r>
              <a:rPr lang="it-IT" sz="996" baseline="0" b="0" i="0" dirty="0" spc="167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dello</a:t>
            </a:r>
            <a:r>
              <a:rPr lang="it-IT" sz="996" baseline="0" b="0" i="0" dirty="0" spc="167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scoperto</a:t>
            </a:r>
            <a:r>
              <a:rPr lang="it-IT" sz="996" baseline="0" b="0" i="0" dirty="0" spc="167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e/o</a:t>
            </a:r>
            <a:r>
              <a:rPr lang="it-IT" sz="996" baseline="0" b="0" i="0" dirty="0" spc="179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della</a:t>
            </a:r>
            <a:r>
              <a:rPr lang="it-IT" sz="996" baseline="0" b="0" i="0" dirty="0" spc="167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franchigia</a:t>
            </a:r>
            <a:r>
              <a:rPr lang="it-IT" sz="996" baseline="0" b="0" i="0" dirty="0" spc="167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indicati</a:t>
            </a:r>
            <a:r>
              <a:rPr lang="it-IT" sz="996" baseline="0" b="0" i="0" dirty="0" spc="179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nel</a:t>
            </a:r>
            <a:r>
              <a:rPr lang="it-IT" sz="996" baseline="0" b="0" i="0" dirty="0" spc="167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relativo</a:t>
            </a:r>
            <a:r>
              <a:rPr lang="it-IT" sz="996" baseline="0" b="0" i="0" dirty="0" spc="167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articolo</a:t>
            </a:r>
            <a:r>
              <a:rPr lang="it-IT" sz="996" baseline="0" b="0" i="0" dirty="0" spc="167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o</a:t>
            </a:r>
            <a:r>
              <a:rPr lang="it-IT" sz="996" baseline="0" b="0" i="0" dirty="0" spc="167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nella </a:t>
            </a:r>
          </a:p>
          <a:p>
            <a:pPr marL="0">
              <a:lnSpc>
                <a:spcPts val="115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seguente tabella. </a:t>
            </a:r>
          </a:p>
          <a:p>
            <a:pPr marL="0">
              <a:lnSpc>
                <a:spcPts val="1151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Qualora siano operanti sia la franchigia che lo scoperto, in caso di sinistro Generali Italia indennizzerà all’Assicurato le </a:t>
            </a:r>
          </a:p>
          <a:p>
            <a:pPr marL="0">
              <a:lnSpc>
                <a:spcPts val="115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spese previa deduzione della percentuale di scoperto con il minimo dell’importo della franchigia.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  <a:p>
            <a:pPr marL="0">
              <a:lnSpc>
                <a:spcPts val="1151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L’applicazione degli scoperti e delle franchigie si intende riferita all’ammontare delle spese indennizzabili a termini di </a:t>
            </a:r>
          </a:p>
          <a:p>
            <a:pPr marL="0">
              <a:lnSpc>
                <a:spcPts val="1151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contratto, effettivamente sostenute e documentate dall’Assicurato.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466" name="Rectangle 466"/>
          <p:cNvSpPr/>
          <p:nvPr/>
        </p:nvSpPr>
        <p:spPr>
          <a:xfrm rot="0" flipH="0" flipV="0">
            <a:off x="216408" y="5887926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467" name="Rectangle 467"/>
          <p:cNvSpPr/>
          <p:nvPr/>
        </p:nvSpPr>
        <p:spPr>
          <a:xfrm rot="0" flipH="0" flipV="0">
            <a:off x="216408" y="7372683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468" name="Rectangle 468"/>
          <p:cNvSpPr/>
          <p:nvPr/>
        </p:nvSpPr>
        <p:spPr>
          <a:xfrm rot="0" flipH="0" flipV="0">
            <a:off x="216408" y="7518987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469" name="Rectangle 469"/>
          <p:cNvSpPr/>
          <p:nvPr/>
        </p:nvSpPr>
        <p:spPr>
          <a:xfrm rot="0" flipH="0" flipV="0">
            <a:off x="216408" y="7663767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470" name="Rectangle 470"/>
          <p:cNvSpPr/>
          <p:nvPr/>
        </p:nvSpPr>
        <p:spPr>
          <a:xfrm rot="0" flipH="0" flipV="0">
            <a:off x="216408" y="7810071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471" name="Rectangle 471"/>
          <p:cNvSpPr/>
          <p:nvPr/>
        </p:nvSpPr>
        <p:spPr>
          <a:xfrm rot="0" flipH="0" flipV="0">
            <a:off x="216408" y="7956375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472" name="Rectangle 472"/>
          <p:cNvSpPr/>
          <p:nvPr/>
        </p:nvSpPr>
        <p:spPr>
          <a:xfrm rot="0" flipH="0" flipV="0">
            <a:off x="216408" y="8102679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473" name="Rectangle 473"/>
          <p:cNvSpPr/>
          <p:nvPr/>
        </p:nvSpPr>
        <p:spPr>
          <a:xfrm rot="0" flipH="0" flipV="0">
            <a:off x="216408" y="8248983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474" name="Rectangle 474"/>
          <p:cNvSpPr/>
          <p:nvPr/>
        </p:nvSpPr>
        <p:spPr>
          <a:xfrm rot="0" flipH="0" flipV="0">
            <a:off x="216408" y="8395287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475" name="Rectangle 475"/>
          <p:cNvSpPr/>
          <p:nvPr/>
        </p:nvSpPr>
        <p:spPr>
          <a:xfrm rot="0" flipH="0" flipV="0">
            <a:off x="216408" y="8540067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476" name="Rectangle 476"/>
          <p:cNvSpPr/>
          <p:nvPr/>
        </p:nvSpPr>
        <p:spPr>
          <a:xfrm rot="0" flipH="0" flipV="0">
            <a:off x="216408" y="8686625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477" name="Rectangle 477"/>
          <p:cNvSpPr/>
          <p:nvPr/>
        </p:nvSpPr>
        <p:spPr>
          <a:xfrm rot="0" flipH="0" flipV="0">
            <a:off x="216408" y="8832929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478" name="Rectangle 478"/>
          <p:cNvSpPr/>
          <p:nvPr/>
        </p:nvSpPr>
        <p:spPr>
          <a:xfrm rot="0" flipH="0" flipV="0">
            <a:off x="216408" y="8979233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479" name="Rectangle 479"/>
          <p:cNvSpPr/>
          <p:nvPr/>
        </p:nvSpPr>
        <p:spPr>
          <a:xfrm rot="0" flipH="0" flipV="0">
            <a:off x="216408" y="9125537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480" name="Rectangle 480"/>
          <p:cNvSpPr/>
          <p:nvPr/>
        </p:nvSpPr>
        <p:spPr>
          <a:xfrm rot="0" flipH="0" flipV="0">
            <a:off x="216408" y="9270317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481" name="Rectangle 481"/>
          <p:cNvSpPr/>
          <p:nvPr/>
        </p:nvSpPr>
        <p:spPr>
          <a:xfrm rot="0" flipH="0" flipV="0">
            <a:off x="216408" y="9416621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482" name="Rectangle 482"/>
          <p:cNvSpPr/>
          <p:nvPr/>
        </p:nvSpPr>
        <p:spPr>
          <a:xfrm rot="0" flipH="0" flipV="0">
            <a:off x="216408" y="9562925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483" name="Rectangle 483"/>
          <p:cNvSpPr/>
          <p:nvPr/>
        </p:nvSpPr>
        <p:spPr>
          <a:xfrm rot="0" flipH="0" flipV="0">
            <a:off x="216408" y="9709229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484" name="Rectangle 484"/>
          <p:cNvSpPr/>
          <p:nvPr/>
        </p:nvSpPr>
        <p:spPr>
          <a:xfrm rot="0" flipH="0" flipV="0">
            <a:off x="291084" y="6165294"/>
            <a:ext cx="7109317" cy="87421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243839"/>
            <a:r>
              <a:rPr lang="it-IT" sz="996" baseline="0" b="0" i="1" dirty="0" spc="0">
                <a:solidFill>
                  <a:srgbClr val="000000"/>
                </a:solidFill>
                <a:latin typeface="Arial" pitchFamily="0" charset="1"/>
              </a:rPr>
              <a:t>Come si calcola </a:t>
            </a:r>
            <a:r>
              <a:rPr lang="it-IT" sz="996" baseline="0" b="0" i="1" dirty="0" spc="0">
                <a:solidFill>
                  <a:srgbClr val="000000"/>
                </a:solidFill>
                <a:latin typeface="Arial" pitchFamily="0" charset="1"/>
              </a:rPr>
              <a:t>l’indennizzo?</a:t>
            </a:r>
            <a:r>
              <a:rPr lang="it-IT" sz="996" baseline="0" b="0" i="1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  <a:p>
            <a:pPr marL="0">
              <a:lnSpc>
                <a:spcPts val="1153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Garanzia Fisioterapia: Massimale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€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1.000, a carico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dell’Assicurato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scoperto del 10% con minimo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€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100 </a:t>
            </a:r>
          </a:p>
          <a:p>
            <a:pPr marL="0">
              <a:lnSpc>
                <a:spcPts val="1152"/>
              </a:lnSpc>
            </a:pPr>
            <a:r>
              <a:rPr lang="it-IT" sz="998" baseline="0" b="0" i="1" dirty="0" spc="0" u="sng">
                <a:solidFill>
                  <a:srgbClr val="000000"/>
                </a:solidFill>
                <a:latin typeface="Arial" pitchFamily="0" charset="1"/>
              </a:rPr>
              <a:t>Esempio 1</a:t>
            </a:r>
            <a:r>
              <a:rPr lang="it-IT" sz="998" baseline="0" b="0" i="0" dirty="0" spc="0" u="sng">
                <a:solidFill>
                  <a:srgbClr val="000000"/>
                </a:solidFill>
                <a:latin typeface="Arial" pitchFamily="0" charset="1"/>
              </a:rPr>
              <a:t>:</a:t>
            </a:r>
            <a:r>
              <a:rPr lang="it-IT" sz="998" baseline="0" b="0" i="0" dirty="0" spc="0">
                <a:solidFill>
                  <a:srgbClr val="000000"/>
                </a:solidFill>
                <a:latin typeface="Arial" pitchFamily="0" charset="1"/>
              </a:rPr>
              <a:t> speso </a:t>
            </a:r>
            <a:r>
              <a:rPr lang="it-IT" sz="998" baseline="0" b="0" i="0" dirty="0" spc="0">
                <a:solidFill>
                  <a:srgbClr val="000000"/>
                </a:solidFill>
                <a:latin typeface="ArialMT" pitchFamily="0" charset="1"/>
              </a:rPr>
              <a:t>€</a:t>
            </a:r>
            <a:r>
              <a:rPr lang="it-IT" sz="998" baseline="0" b="0" i="0" dirty="0" spc="0">
                <a:solidFill>
                  <a:srgbClr val="000000"/>
                </a:solidFill>
                <a:latin typeface="Arial" pitchFamily="0" charset="1"/>
              </a:rPr>
              <a:t> 1.500, rimborso </a:t>
            </a:r>
            <a:r>
              <a:rPr lang="it-IT" sz="998" baseline="0" b="0" i="0" dirty="0" spc="0">
                <a:solidFill>
                  <a:srgbClr val="000000"/>
                </a:solidFill>
                <a:latin typeface="ArialMT" pitchFamily="0" charset="1"/>
              </a:rPr>
              <a:t>€</a:t>
            </a:r>
            <a:r>
              <a:rPr lang="it-IT" sz="998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8" baseline="0" b="0" i="1" dirty="0" spc="0">
                <a:solidFill>
                  <a:srgbClr val="000000"/>
                </a:solidFill>
                <a:latin typeface="Arial" pitchFamily="0" charset="1"/>
              </a:rPr>
              <a:t>1.000 il massimale </a:t>
            </a:r>
          </a:p>
          <a:p>
            <a:pPr marL="0">
              <a:lnSpc>
                <a:spcPts val="1154"/>
              </a:lnSpc>
            </a:pPr>
            <a:r>
              <a:rPr lang="it-IT" sz="996" baseline="0" b="0" i="1" dirty="0" spc="0" u="sng">
                <a:solidFill>
                  <a:srgbClr val="000000"/>
                </a:solidFill>
                <a:latin typeface="Arial" pitchFamily="0" charset="1"/>
              </a:rPr>
              <a:t>Esempio 2</a:t>
            </a:r>
            <a:r>
              <a:rPr lang="it-IT" sz="996" baseline="0" b="0" i="0" dirty="0" spc="0" u="sng">
                <a:solidFill>
                  <a:srgbClr val="000000"/>
                </a:solidFill>
                <a:latin typeface="Arial" pitchFamily="0" charset="1"/>
              </a:rPr>
              <a:t>: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speso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€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1.100, rimborso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€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99</a:t>
            </a:r>
            <a:r>
              <a:rPr lang="it-IT" sz="996" baseline="0" b="0" i="1" dirty="0" spc="0">
                <a:solidFill>
                  <a:srgbClr val="000000"/>
                </a:solidFill>
                <a:latin typeface="Arial" pitchFamily="0" charset="1"/>
              </a:rPr>
              <a:t>0. Lo scoperto del 10% applicato alla spesa è pari a </a:t>
            </a:r>
            <a:r>
              <a:rPr lang="it-IT" sz="996" baseline="0" b="0" i="1" dirty="0" spc="0">
                <a:solidFill>
                  <a:srgbClr val="000000"/>
                </a:solidFill>
                <a:latin typeface="Arial" pitchFamily="0" charset="1"/>
              </a:rPr>
              <a:t>€</a:t>
            </a:r>
            <a:r>
              <a:rPr lang="it-IT" sz="996" baseline="0" b="0" i="1" dirty="0" spc="0">
                <a:solidFill>
                  <a:srgbClr val="000000"/>
                </a:solidFill>
                <a:latin typeface="Arial" pitchFamily="0" charset="1"/>
              </a:rPr>
              <a:t> 110. Massimale resi- </a:t>
            </a:r>
            <a:r>
              <a:rPr lang="it-IT" sz="996" baseline="0" b="0" i="1" dirty="0" spc="0">
                <a:solidFill>
                  <a:srgbClr val="000000"/>
                </a:solidFill>
                <a:latin typeface="Arial" pitchFamily="0" charset="1"/>
              </a:rPr>
              <a:t>duo € 10.</a:t>
            </a:r>
            <a:r>
              <a:rPr lang="it-IT" sz="996" baseline="0" b="0" i="1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  <a:p>
            <a:pPr marL="0">
              <a:lnSpc>
                <a:spcPts val="1163"/>
              </a:lnSpc>
            </a:pPr>
            <a:r>
              <a:rPr lang="it-IT" sz="996" baseline="0" b="0" i="1" dirty="0" spc="0" u="sng">
                <a:solidFill>
                  <a:srgbClr val="000000"/>
                </a:solidFill>
                <a:latin typeface="Arial" pitchFamily="0" charset="1"/>
              </a:rPr>
              <a:t>Esempio 3</a:t>
            </a:r>
            <a:r>
              <a:rPr lang="it-IT" sz="996" baseline="0" b="0" i="0" dirty="0" spc="0" u="sng">
                <a:solidFill>
                  <a:srgbClr val="000000"/>
                </a:solidFill>
                <a:latin typeface="Arial" pitchFamily="0" charset="1"/>
              </a:rPr>
              <a:t>: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speso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€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800, rimborso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€ </a:t>
            </a:r>
            <a:r>
              <a:rPr lang="it-IT" sz="996" baseline="0" b="0" i="1" dirty="0" spc="0">
                <a:solidFill>
                  <a:srgbClr val="000000"/>
                </a:solidFill>
                <a:latin typeface="Arial" pitchFamily="0" charset="1"/>
              </a:rPr>
              <a:t>700. Lo scoperto del 10% della spesa </a:t>
            </a:r>
            <a:r>
              <a:rPr lang="it-IT" sz="996" baseline="0" b="0" i="1" dirty="0" spc="0">
                <a:solidFill>
                  <a:srgbClr val="000000"/>
                </a:solidFill>
                <a:latin typeface="Arial" pitchFamily="0" charset="1"/>
              </a:rPr>
              <a:t>(€</a:t>
            </a:r>
            <a:r>
              <a:rPr lang="it-IT" sz="996" baseline="0" b="0" i="1" dirty="0" spc="0">
                <a:solidFill>
                  <a:srgbClr val="000000"/>
                </a:solidFill>
                <a:latin typeface="Arial" pitchFamily="0" charset="1"/>
              </a:rPr>
              <a:t> 80) è minore del minimo e quindi resta a carico </a:t>
            </a:r>
          </a:p>
          <a:p>
            <a:pPr marL="0">
              <a:lnSpc>
                <a:spcPts val="1150"/>
              </a:lnSpc>
            </a:pPr>
            <a:r>
              <a:rPr lang="it-IT" sz="996" baseline="0" b="0" i="1" dirty="0" spc="0">
                <a:solidFill>
                  <a:srgbClr val="000000"/>
                </a:solidFill>
                <a:latin typeface="Arial" pitchFamily="0" charset="1"/>
              </a:rPr>
              <a:t>dell’Assicurato € 100. Massimale residuo € 800.</a:t>
            </a:r>
            <a:r>
              <a:rPr lang="it-IT" sz="996" baseline="0" b="0" i="1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485" name="Freeform 485"/>
          <p:cNvSpPr/>
          <p:nvPr/>
        </p:nvSpPr>
        <p:spPr>
          <a:xfrm rot="0" flipH="0" flipV="0">
            <a:off x="368808" y="667513"/>
            <a:ext cx="2332354" cy="144780"/>
          </a:xfrm>
          <a:custGeom>
            <a:pathLst>
              <a:path w="2332354" h="144780">
                <a:moveTo>
                  <a:pt x="0" y="144780"/>
                </a:moveTo>
                <a:lnTo>
                  <a:pt x="2332354" y="144780"/>
                </a:lnTo>
                <a:lnTo>
                  <a:pt x="2332354" y="0"/>
                </a:lnTo>
                <a:lnTo>
                  <a:pt x="0" y="0"/>
                </a:lnTo>
                <a:lnTo>
                  <a:pt x="0" y="144780"/>
                </a:lnTo>
                <a:close/>
              </a:path>
            </a:pathLst>
          </a:custGeom>
          <a:solidFill>
            <a:srgbClr val="A7A8A7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86" name="Freeform 486"/>
          <p:cNvSpPr/>
          <p:nvPr/>
        </p:nvSpPr>
        <p:spPr>
          <a:xfrm rot="0" flipH="0" flipV="0">
            <a:off x="368808" y="667513"/>
            <a:ext cx="2332354" cy="144780"/>
          </a:xfrm>
          <a:custGeom>
            <a:pathLst>
              <a:path w="2332354" h="144780">
                <a:moveTo>
                  <a:pt x="0" y="144780"/>
                </a:moveTo>
                <a:lnTo>
                  <a:pt x="2332354" y="144780"/>
                </a:lnTo>
                <a:lnTo>
                  <a:pt x="2332354" y="0"/>
                </a:lnTo>
                <a:lnTo>
                  <a:pt x="0" y="0"/>
                </a:lnTo>
                <a:lnTo>
                  <a:pt x="0" y="144780"/>
                </a:lnTo>
                <a:close/>
              </a:path>
            </a:pathLst>
          </a:custGeom>
          <a:solidFill>
            <a:srgbClr val="A7A8A7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87" name="Freeform 487"/>
          <p:cNvSpPr/>
          <p:nvPr/>
        </p:nvSpPr>
        <p:spPr>
          <a:xfrm rot="0" flipH="0" flipV="0">
            <a:off x="2708782" y="667513"/>
            <a:ext cx="806196" cy="144780"/>
          </a:xfrm>
          <a:custGeom>
            <a:pathLst>
              <a:path w="806196" h="144780">
                <a:moveTo>
                  <a:pt x="0" y="144780"/>
                </a:moveTo>
                <a:lnTo>
                  <a:pt x="806196" y="144780"/>
                </a:lnTo>
                <a:lnTo>
                  <a:pt x="806196" y="0"/>
                </a:lnTo>
                <a:lnTo>
                  <a:pt x="0" y="0"/>
                </a:lnTo>
                <a:lnTo>
                  <a:pt x="0" y="144780"/>
                </a:lnTo>
                <a:close/>
              </a:path>
            </a:pathLst>
          </a:custGeom>
          <a:solidFill>
            <a:srgbClr val="A7A8A7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88" name="Freeform 488"/>
          <p:cNvSpPr/>
          <p:nvPr/>
        </p:nvSpPr>
        <p:spPr>
          <a:xfrm rot="0" flipH="0" flipV="0">
            <a:off x="2708782" y="667513"/>
            <a:ext cx="806196" cy="144780"/>
          </a:xfrm>
          <a:custGeom>
            <a:pathLst>
              <a:path w="806196" h="144780">
                <a:moveTo>
                  <a:pt x="0" y="144780"/>
                </a:moveTo>
                <a:lnTo>
                  <a:pt x="806196" y="144780"/>
                </a:lnTo>
                <a:lnTo>
                  <a:pt x="806196" y="0"/>
                </a:lnTo>
                <a:lnTo>
                  <a:pt x="0" y="0"/>
                </a:lnTo>
                <a:lnTo>
                  <a:pt x="0" y="144780"/>
                </a:lnTo>
                <a:close/>
              </a:path>
            </a:pathLst>
          </a:custGeom>
          <a:solidFill>
            <a:srgbClr val="A7A8A7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89" name="Freeform 489"/>
          <p:cNvSpPr/>
          <p:nvPr/>
        </p:nvSpPr>
        <p:spPr>
          <a:xfrm rot="0" flipH="0" flipV="0">
            <a:off x="3521075" y="667513"/>
            <a:ext cx="1193596" cy="144780"/>
          </a:xfrm>
          <a:custGeom>
            <a:pathLst>
              <a:path w="1193596" h="144780">
                <a:moveTo>
                  <a:pt x="0" y="144780"/>
                </a:moveTo>
                <a:lnTo>
                  <a:pt x="1193596" y="144780"/>
                </a:lnTo>
                <a:lnTo>
                  <a:pt x="1193596" y="0"/>
                </a:lnTo>
                <a:lnTo>
                  <a:pt x="0" y="0"/>
                </a:lnTo>
                <a:lnTo>
                  <a:pt x="0" y="144780"/>
                </a:lnTo>
                <a:close/>
              </a:path>
            </a:pathLst>
          </a:custGeom>
          <a:solidFill>
            <a:srgbClr val="A7A8A7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90" name="Freeform 490"/>
          <p:cNvSpPr/>
          <p:nvPr/>
        </p:nvSpPr>
        <p:spPr>
          <a:xfrm rot="0" flipH="0" flipV="0">
            <a:off x="3521075" y="667513"/>
            <a:ext cx="1193596" cy="144780"/>
          </a:xfrm>
          <a:custGeom>
            <a:pathLst>
              <a:path w="1193596" h="144780">
                <a:moveTo>
                  <a:pt x="0" y="144780"/>
                </a:moveTo>
                <a:lnTo>
                  <a:pt x="1193596" y="144780"/>
                </a:lnTo>
                <a:lnTo>
                  <a:pt x="1193596" y="0"/>
                </a:lnTo>
                <a:lnTo>
                  <a:pt x="0" y="0"/>
                </a:lnTo>
                <a:lnTo>
                  <a:pt x="0" y="144780"/>
                </a:lnTo>
                <a:close/>
              </a:path>
            </a:pathLst>
          </a:custGeom>
          <a:solidFill>
            <a:srgbClr val="A7A8A7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91" name="Freeform 491"/>
          <p:cNvSpPr/>
          <p:nvPr/>
        </p:nvSpPr>
        <p:spPr>
          <a:xfrm rot="0" flipH="0" flipV="0">
            <a:off x="4720716" y="667513"/>
            <a:ext cx="2414270" cy="144780"/>
          </a:xfrm>
          <a:custGeom>
            <a:pathLst>
              <a:path w="2414270" h="144780">
                <a:moveTo>
                  <a:pt x="0" y="144780"/>
                </a:moveTo>
                <a:lnTo>
                  <a:pt x="2414270" y="144780"/>
                </a:lnTo>
                <a:lnTo>
                  <a:pt x="2414270" y="0"/>
                </a:lnTo>
                <a:lnTo>
                  <a:pt x="0" y="0"/>
                </a:lnTo>
                <a:lnTo>
                  <a:pt x="0" y="144780"/>
                </a:lnTo>
                <a:close/>
              </a:path>
            </a:pathLst>
          </a:custGeom>
          <a:solidFill>
            <a:srgbClr val="A7A8A7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92" name="Freeform 492"/>
          <p:cNvSpPr/>
          <p:nvPr/>
        </p:nvSpPr>
        <p:spPr>
          <a:xfrm rot="0" flipH="0" flipV="0">
            <a:off x="4720716" y="667513"/>
            <a:ext cx="2414270" cy="144780"/>
          </a:xfrm>
          <a:custGeom>
            <a:pathLst>
              <a:path w="2414270" h="144780">
                <a:moveTo>
                  <a:pt x="0" y="144780"/>
                </a:moveTo>
                <a:lnTo>
                  <a:pt x="2414270" y="144780"/>
                </a:lnTo>
                <a:lnTo>
                  <a:pt x="2414270" y="0"/>
                </a:lnTo>
                <a:lnTo>
                  <a:pt x="0" y="0"/>
                </a:lnTo>
                <a:lnTo>
                  <a:pt x="0" y="144780"/>
                </a:lnTo>
                <a:close/>
              </a:path>
            </a:pathLst>
          </a:custGeom>
          <a:solidFill>
            <a:srgbClr val="A7A8A7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93" name="Freeform 493"/>
          <p:cNvSpPr/>
          <p:nvPr/>
        </p:nvSpPr>
        <p:spPr>
          <a:xfrm rot="0" flipH="0" flipV="0">
            <a:off x="362711" y="659892"/>
            <a:ext cx="6096" cy="6096"/>
          </a:xfrm>
          <a:custGeom>
            <a:pathLst>
              <a:path w="6096" h="6096">
                <a:moveTo>
                  <a:pt x="0" y="6096"/>
                </a:moveTo>
                <a:lnTo>
                  <a:pt x="6096" y="6096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94" name="Freeform 494"/>
          <p:cNvSpPr/>
          <p:nvPr/>
        </p:nvSpPr>
        <p:spPr>
          <a:xfrm rot="0" flipH="0" flipV="0">
            <a:off x="362711" y="659892"/>
            <a:ext cx="6096" cy="6096"/>
          </a:xfrm>
          <a:custGeom>
            <a:pathLst>
              <a:path w="6096" h="6096">
                <a:moveTo>
                  <a:pt x="0" y="6096"/>
                </a:moveTo>
                <a:lnTo>
                  <a:pt x="6096" y="6096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95" name="Freeform 495"/>
          <p:cNvSpPr/>
          <p:nvPr/>
        </p:nvSpPr>
        <p:spPr>
          <a:xfrm rot="0" flipH="0" flipV="0">
            <a:off x="368808" y="659892"/>
            <a:ext cx="2333879" cy="6096"/>
          </a:xfrm>
          <a:custGeom>
            <a:pathLst>
              <a:path w="2333879" h="6096">
                <a:moveTo>
                  <a:pt x="0" y="6096"/>
                </a:moveTo>
                <a:lnTo>
                  <a:pt x="2333879" y="6096"/>
                </a:lnTo>
                <a:lnTo>
                  <a:pt x="2333879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96" name="Freeform 496"/>
          <p:cNvSpPr/>
          <p:nvPr/>
        </p:nvSpPr>
        <p:spPr>
          <a:xfrm rot="0" flipH="0" flipV="0">
            <a:off x="2702686" y="659892"/>
            <a:ext cx="6096" cy="6096"/>
          </a:xfrm>
          <a:custGeom>
            <a:pathLst>
              <a:path w="6096" h="6096">
                <a:moveTo>
                  <a:pt x="0" y="6096"/>
                </a:moveTo>
                <a:lnTo>
                  <a:pt x="6096" y="6096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97" name="Freeform 497"/>
          <p:cNvSpPr/>
          <p:nvPr/>
        </p:nvSpPr>
        <p:spPr>
          <a:xfrm rot="0" flipH="0" flipV="0">
            <a:off x="2708782" y="659892"/>
            <a:ext cx="807720" cy="6096"/>
          </a:xfrm>
          <a:custGeom>
            <a:pathLst>
              <a:path w="807720" h="6096">
                <a:moveTo>
                  <a:pt x="0" y="6096"/>
                </a:moveTo>
                <a:lnTo>
                  <a:pt x="807720" y="6096"/>
                </a:lnTo>
                <a:lnTo>
                  <a:pt x="807720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98" name="Freeform 498"/>
          <p:cNvSpPr/>
          <p:nvPr/>
        </p:nvSpPr>
        <p:spPr>
          <a:xfrm rot="0" flipH="0" flipV="0">
            <a:off x="3516503" y="659892"/>
            <a:ext cx="6096" cy="6096"/>
          </a:xfrm>
          <a:custGeom>
            <a:pathLst>
              <a:path w="6096" h="6096">
                <a:moveTo>
                  <a:pt x="0" y="6096"/>
                </a:moveTo>
                <a:lnTo>
                  <a:pt x="6096" y="6096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99" name="Freeform 499"/>
          <p:cNvSpPr/>
          <p:nvPr/>
        </p:nvSpPr>
        <p:spPr>
          <a:xfrm rot="0" flipH="0" flipV="0">
            <a:off x="3522598" y="659892"/>
            <a:ext cx="1192073" cy="6096"/>
          </a:xfrm>
          <a:custGeom>
            <a:pathLst>
              <a:path w="1192073" h="6096">
                <a:moveTo>
                  <a:pt x="0" y="6096"/>
                </a:moveTo>
                <a:lnTo>
                  <a:pt x="1192073" y="6096"/>
                </a:lnTo>
                <a:lnTo>
                  <a:pt x="1192073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00" name="Freeform 500"/>
          <p:cNvSpPr/>
          <p:nvPr/>
        </p:nvSpPr>
        <p:spPr>
          <a:xfrm rot="0" flipH="0" flipV="0">
            <a:off x="4714621" y="659892"/>
            <a:ext cx="6096" cy="6096"/>
          </a:xfrm>
          <a:custGeom>
            <a:pathLst>
              <a:path w="6096" h="6096">
                <a:moveTo>
                  <a:pt x="0" y="6096"/>
                </a:moveTo>
                <a:lnTo>
                  <a:pt x="6096" y="6096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01" name="Freeform 501"/>
          <p:cNvSpPr/>
          <p:nvPr/>
        </p:nvSpPr>
        <p:spPr>
          <a:xfrm rot="0" flipH="0" flipV="0">
            <a:off x="4720716" y="659892"/>
            <a:ext cx="2414270" cy="6096"/>
          </a:xfrm>
          <a:custGeom>
            <a:pathLst>
              <a:path w="2414270" h="6096">
                <a:moveTo>
                  <a:pt x="0" y="6096"/>
                </a:moveTo>
                <a:lnTo>
                  <a:pt x="2414270" y="6096"/>
                </a:lnTo>
                <a:lnTo>
                  <a:pt x="2414270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02" name="Freeform 502"/>
          <p:cNvSpPr/>
          <p:nvPr/>
        </p:nvSpPr>
        <p:spPr>
          <a:xfrm rot="0" flipH="0" flipV="0">
            <a:off x="7135114" y="659892"/>
            <a:ext cx="6096" cy="6096"/>
          </a:xfrm>
          <a:custGeom>
            <a:pathLst>
              <a:path w="6096" h="6096">
                <a:moveTo>
                  <a:pt x="0" y="6096"/>
                </a:moveTo>
                <a:lnTo>
                  <a:pt x="6096" y="6096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03" name="Freeform 503"/>
          <p:cNvSpPr/>
          <p:nvPr/>
        </p:nvSpPr>
        <p:spPr>
          <a:xfrm rot="0" flipH="0" flipV="0">
            <a:off x="7135114" y="659892"/>
            <a:ext cx="6096" cy="6096"/>
          </a:xfrm>
          <a:custGeom>
            <a:pathLst>
              <a:path w="6096" h="6096">
                <a:moveTo>
                  <a:pt x="0" y="6096"/>
                </a:moveTo>
                <a:lnTo>
                  <a:pt x="6096" y="6096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04" name="Freeform 504"/>
          <p:cNvSpPr/>
          <p:nvPr/>
        </p:nvSpPr>
        <p:spPr>
          <a:xfrm rot="0" flipH="0" flipV="0">
            <a:off x="362711" y="665989"/>
            <a:ext cx="6096" cy="146304"/>
          </a:xfrm>
          <a:custGeom>
            <a:pathLst>
              <a:path w="6096" h="146304">
                <a:moveTo>
                  <a:pt x="0" y="146304"/>
                </a:moveTo>
                <a:lnTo>
                  <a:pt x="6096" y="146304"/>
                </a:lnTo>
                <a:lnTo>
                  <a:pt x="6096" y="0"/>
                </a:lnTo>
                <a:lnTo>
                  <a:pt x="0" y="0"/>
                </a:lnTo>
                <a:lnTo>
                  <a:pt x="0" y="146304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05" name="Freeform 505"/>
          <p:cNvSpPr/>
          <p:nvPr/>
        </p:nvSpPr>
        <p:spPr>
          <a:xfrm rot="0" flipH="0" flipV="0">
            <a:off x="2702686" y="665989"/>
            <a:ext cx="6096" cy="146304"/>
          </a:xfrm>
          <a:custGeom>
            <a:pathLst>
              <a:path w="6096" h="146304">
                <a:moveTo>
                  <a:pt x="0" y="146304"/>
                </a:moveTo>
                <a:lnTo>
                  <a:pt x="6096" y="146304"/>
                </a:lnTo>
                <a:lnTo>
                  <a:pt x="6096" y="0"/>
                </a:lnTo>
                <a:lnTo>
                  <a:pt x="0" y="0"/>
                </a:lnTo>
                <a:lnTo>
                  <a:pt x="0" y="146304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06" name="Freeform 506"/>
          <p:cNvSpPr/>
          <p:nvPr/>
        </p:nvSpPr>
        <p:spPr>
          <a:xfrm rot="0" flipH="0" flipV="0">
            <a:off x="3516503" y="665989"/>
            <a:ext cx="6096" cy="146304"/>
          </a:xfrm>
          <a:custGeom>
            <a:pathLst>
              <a:path w="6096" h="146304">
                <a:moveTo>
                  <a:pt x="0" y="146304"/>
                </a:moveTo>
                <a:lnTo>
                  <a:pt x="6096" y="146304"/>
                </a:lnTo>
                <a:lnTo>
                  <a:pt x="6096" y="0"/>
                </a:lnTo>
                <a:lnTo>
                  <a:pt x="0" y="0"/>
                </a:lnTo>
                <a:lnTo>
                  <a:pt x="0" y="146304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07" name="Freeform 507"/>
          <p:cNvSpPr/>
          <p:nvPr/>
        </p:nvSpPr>
        <p:spPr>
          <a:xfrm rot="0" flipH="0" flipV="0">
            <a:off x="4714621" y="665989"/>
            <a:ext cx="6096" cy="146304"/>
          </a:xfrm>
          <a:custGeom>
            <a:pathLst>
              <a:path w="6096" h="146304">
                <a:moveTo>
                  <a:pt x="0" y="146304"/>
                </a:moveTo>
                <a:lnTo>
                  <a:pt x="6096" y="146304"/>
                </a:lnTo>
                <a:lnTo>
                  <a:pt x="6096" y="0"/>
                </a:lnTo>
                <a:lnTo>
                  <a:pt x="0" y="0"/>
                </a:lnTo>
                <a:lnTo>
                  <a:pt x="0" y="146304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08" name="Freeform 508"/>
          <p:cNvSpPr/>
          <p:nvPr/>
        </p:nvSpPr>
        <p:spPr>
          <a:xfrm rot="0" flipH="0" flipV="0">
            <a:off x="7135114" y="665989"/>
            <a:ext cx="6096" cy="146304"/>
          </a:xfrm>
          <a:custGeom>
            <a:pathLst>
              <a:path w="6096" h="146304">
                <a:moveTo>
                  <a:pt x="0" y="146304"/>
                </a:moveTo>
                <a:lnTo>
                  <a:pt x="6096" y="146304"/>
                </a:lnTo>
                <a:lnTo>
                  <a:pt x="6096" y="0"/>
                </a:lnTo>
                <a:lnTo>
                  <a:pt x="0" y="0"/>
                </a:lnTo>
                <a:lnTo>
                  <a:pt x="0" y="146304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09" name="Freeform 509"/>
          <p:cNvSpPr/>
          <p:nvPr/>
        </p:nvSpPr>
        <p:spPr>
          <a:xfrm rot="0" flipH="0" flipV="0">
            <a:off x="362711" y="812292"/>
            <a:ext cx="6096" cy="6096"/>
          </a:xfrm>
          <a:custGeom>
            <a:pathLst>
              <a:path w="6096" h="6096">
                <a:moveTo>
                  <a:pt x="0" y="6096"/>
                </a:moveTo>
                <a:lnTo>
                  <a:pt x="6096" y="6096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10" name="Freeform 510"/>
          <p:cNvSpPr/>
          <p:nvPr/>
        </p:nvSpPr>
        <p:spPr>
          <a:xfrm rot="0" flipH="0" flipV="0">
            <a:off x="368808" y="812292"/>
            <a:ext cx="2333879" cy="6096"/>
          </a:xfrm>
          <a:custGeom>
            <a:pathLst>
              <a:path w="2333879" h="6096">
                <a:moveTo>
                  <a:pt x="0" y="6096"/>
                </a:moveTo>
                <a:lnTo>
                  <a:pt x="2333879" y="6096"/>
                </a:lnTo>
                <a:lnTo>
                  <a:pt x="2333879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11" name="Freeform 511"/>
          <p:cNvSpPr/>
          <p:nvPr/>
        </p:nvSpPr>
        <p:spPr>
          <a:xfrm rot="0" flipH="0" flipV="0">
            <a:off x="2702686" y="812292"/>
            <a:ext cx="6096" cy="6096"/>
          </a:xfrm>
          <a:custGeom>
            <a:pathLst>
              <a:path w="6096" h="6096">
                <a:moveTo>
                  <a:pt x="0" y="6096"/>
                </a:moveTo>
                <a:lnTo>
                  <a:pt x="6096" y="6096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12" name="Freeform 512"/>
          <p:cNvSpPr/>
          <p:nvPr/>
        </p:nvSpPr>
        <p:spPr>
          <a:xfrm rot="0" flipH="0" flipV="0">
            <a:off x="3516503" y="812292"/>
            <a:ext cx="6096" cy="6096"/>
          </a:xfrm>
          <a:custGeom>
            <a:pathLst>
              <a:path w="6096" h="6096">
                <a:moveTo>
                  <a:pt x="0" y="6096"/>
                </a:moveTo>
                <a:lnTo>
                  <a:pt x="6096" y="6096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13" name="Freeform 513"/>
          <p:cNvSpPr/>
          <p:nvPr/>
        </p:nvSpPr>
        <p:spPr>
          <a:xfrm rot="0" flipH="0" flipV="0">
            <a:off x="4714621" y="812292"/>
            <a:ext cx="6096" cy="6096"/>
          </a:xfrm>
          <a:custGeom>
            <a:pathLst>
              <a:path w="6096" h="6096">
                <a:moveTo>
                  <a:pt x="0" y="6096"/>
                </a:moveTo>
                <a:lnTo>
                  <a:pt x="6096" y="6096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14" name="Freeform 514"/>
          <p:cNvSpPr/>
          <p:nvPr/>
        </p:nvSpPr>
        <p:spPr>
          <a:xfrm rot="0" flipH="0" flipV="0">
            <a:off x="4720716" y="812292"/>
            <a:ext cx="2414270" cy="6096"/>
          </a:xfrm>
          <a:custGeom>
            <a:pathLst>
              <a:path w="2414270" h="6096">
                <a:moveTo>
                  <a:pt x="0" y="6096"/>
                </a:moveTo>
                <a:lnTo>
                  <a:pt x="2414270" y="6096"/>
                </a:lnTo>
                <a:lnTo>
                  <a:pt x="2414270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15" name="Freeform 515"/>
          <p:cNvSpPr/>
          <p:nvPr/>
        </p:nvSpPr>
        <p:spPr>
          <a:xfrm rot="0" flipH="0" flipV="0">
            <a:off x="7135114" y="812292"/>
            <a:ext cx="6096" cy="6096"/>
          </a:xfrm>
          <a:custGeom>
            <a:pathLst>
              <a:path w="6096" h="6096">
                <a:moveTo>
                  <a:pt x="0" y="6096"/>
                </a:moveTo>
                <a:lnTo>
                  <a:pt x="6096" y="6096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16" name="Freeform 516"/>
          <p:cNvSpPr/>
          <p:nvPr/>
        </p:nvSpPr>
        <p:spPr>
          <a:xfrm rot="0" flipH="0" flipV="0">
            <a:off x="362711" y="818338"/>
            <a:ext cx="6096" cy="1109776"/>
          </a:xfrm>
          <a:custGeom>
            <a:pathLst>
              <a:path w="6096" h="1109776">
                <a:moveTo>
                  <a:pt x="0" y="1109776"/>
                </a:moveTo>
                <a:lnTo>
                  <a:pt x="6096" y="1109776"/>
                </a:lnTo>
                <a:lnTo>
                  <a:pt x="6096" y="0"/>
                </a:lnTo>
                <a:lnTo>
                  <a:pt x="0" y="0"/>
                </a:lnTo>
                <a:lnTo>
                  <a:pt x="0" y="110977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17" name="Freeform 517"/>
          <p:cNvSpPr/>
          <p:nvPr/>
        </p:nvSpPr>
        <p:spPr>
          <a:xfrm rot="0" flipH="0" flipV="0">
            <a:off x="2702686" y="818338"/>
            <a:ext cx="6096" cy="1109776"/>
          </a:xfrm>
          <a:custGeom>
            <a:pathLst>
              <a:path w="6096" h="1109776">
                <a:moveTo>
                  <a:pt x="0" y="1109776"/>
                </a:moveTo>
                <a:lnTo>
                  <a:pt x="6096" y="1109776"/>
                </a:lnTo>
                <a:lnTo>
                  <a:pt x="6096" y="0"/>
                </a:lnTo>
                <a:lnTo>
                  <a:pt x="0" y="0"/>
                </a:lnTo>
                <a:lnTo>
                  <a:pt x="0" y="110977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18" name="Freeform 518"/>
          <p:cNvSpPr/>
          <p:nvPr/>
        </p:nvSpPr>
        <p:spPr>
          <a:xfrm rot="0" flipH="0" flipV="0">
            <a:off x="3516503" y="818338"/>
            <a:ext cx="6096" cy="1109776"/>
          </a:xfrm>
          <a:custGeom>
            <a:pathLst>
              <a:path w="6096" h="1109776">
                <a:moveTo>
                  <a:pt x="0" y="1109776"/>
                </a:moveTo>
                <a:lnTo>
                  <a:pt x="6096" y="1109776"/>
                </a:lnTo>
                <a:lnTo>
                  <a:pt x="6096" y="0"/>
                </a:lnTo>
                <a:lnTo>
                  <a:pt x="0" y="0"/>
                </a:lnTo>
                <a:lnTo>
                  <a:pt x="0" y="110977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19" name="Freeform 519"/>
          <p:cNvSpPr/>
          <p:nvPr/>
        </p:nvSpPr>
        <p:spPr>
          <a:xfrm rot="0" flipH="0" flipV="0">
            <a:off x="4714621" y="818338"/>
            <a:ext cx="6096" cy="1109776"/>
          </a:xfrm>
          <a:custGeom>
            <a:pathLst>
              <a:path w="6096" h="1109776">
                <a:moveTo>
                  <a:pt x="0" y="1109776"/>
                </a:moveTo>
                <a:lnTo>
                  <a:pt x="6096" y="1109776"/>
                </a:lnTo>
                <a:lnTo>
                  <a:pt x="6096" y="0"/>
                </a:lnTo>
                <a:lnTo>
                  <a:pt x="0" y="0"/>
                </a:lnTo>
                <a:lnTo>
                  <a:pt x="0" y="110977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20" name="Freeform 520"/>
          <p:cNvSpPr/>
          <p:nvPr/>
        </p:nvSpPr>
        <p:spPr>
          <a:xfrm rot="0" flipH="0" flipV="0">
            <a:off x="7135114" y="818338"/>
            <a:ext cx="6096" cy="1109776"/>
          </a:xfrm>
          <a:custGeom>
            <a:pathLst>
              <a:path w="6096" h="1109776">
                <a:moveTo>
                  <a:pt x="0" y="1109776"/>
                </a:moveTo>
                <a:lnTo>
                  <a:pt x="6096" y="1109776"/>
                </a:lnTo>
                <a:lnTo>
                  <a:pt x="6096" y="0"/>
                </a:lnTo>
                <a:lnTo>
                  <a:pt x="0" y="0"/>
                </a:lnTo>
                <a:lnTo>
                  <a:pt x="0" y="110977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21" name="Freeform 521"/>
          <p:cNvSpPr/>
          <p:nvPr/>
        </p:nvSpPr>
        <p:spPr>
          <a:xfrm rot="0" flipH="0" flipV="0">
            <a:off x="362711" y="1928242"/>
            <a:ext cx="6096" cy="1312418"/>
          </a:xfrm>
          <a:custGeom>
            <a:pathLst>
              <a:path w="6096" h="1312418">
                <a:moveTo>
                  <a:pt x="0" y="1312418"/>
                </a:moveTo>
                <a:lnTo>
                  <a:pt x="6096" y="1312418"/>
                </a:lnTo>
                <a:lnTo>
                  <a:pt x="6096" y="0"/>
                </a:lnTo>
                <a:lnTo>
                  <a:pt x="0" y="0"/>
                </a:lnTo>
                <a:lnTo>
                  <a:pt x="0" y="1312418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22" name="Freeform 522"/>
          <p:cNvSpPr/>
          <p:nvPr/>
        </p:nvSpPr>
        <p:spPr>
          <a:xfrm rot="0" flipH="0" flipV="0">
            <a:off x="2702686" y="1928242"/>
            <a:ext cx="6096" cy="1312418"/>
          </a:xfrm>
          <a:custGeom>
            <a:pathLst>
              <a:path w="6096" h="1312418">
                <a:moveTo>
                  <a:pt x="0" y="1312418"/>
                </a:moveTo>
                <a:lnTo>
                  <a:pt x="6096" y="1312418"/>
                </a:lnTo>
                <a:lnTo>
                  <a:pt x="6096" y="0"/>
                </a:lnTo>
                <a:lnTo>
                  <a:pt x="0" y="0"/>
                </a:lnTo>
                <a:lnTo>
                  <a:pt x="0" y="1312418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23" name="Freeform 523"/>
          <p:cNvSpPr/>
          <p:nvPr/>
        </p:nvSpPr>
        <p:spPr>
          <a:xfrm rot="0" flipH="0" flipV="0">
            <a:off x="3516503" y="1928242"/>
            <a:ext cx="6096" cy="1312418"/>
          </a:xfrm>
          <a:custGeom>
            <a:pathLst>
              <a:path w="6096" h="1312418">
                <a:moveTo>
                  <a:pt x="0" y="1312418"/>
                </a:moveTo>
                <a:lnTo>
                  <a:pt x="6096" y="1312418"/>
                </a:lnTo>
                <a:lnTo>
                  <a:pt x="6096" y="0"/>
                </a:lnTo>
                <a:lnTo>
                  <a:pt x="0" y="0"/>
                </a:lnTo>
                <a:lnTo>
                  <a:pt x="0" y="1312418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24" name="Freeform 524"/>
          <p:cNvSpPr/>
          <p:nvPr/>
        </p:nvSpPr>
        <p:spPr>
          <a:xfrm rot="0" flipH="0" flipV="0">
            <a:off x="4714621" y="1928242"/>
            <a:ext cx="6096" cy="1312418"/>
          </a:xfrm>
          <a:custGeom>
            <a:pathLst>
              <a:path w="6096" h="1312418">
                <a:moveTo>
                  <a:pt x="0" y="1312418"/>
                </a:moveTo>
                <a:lnTo>
                  <a:pt x="6096" y="1312418"/>
                </a:lnTo>
                <a:lnTo>
                  <a:pt x="6096" y="0"/>
                </a:lnTo>
                <a:lnTo>
                  <a:pt x="0" y="0"/>
                </a:lnTo>
                <a:lnTo>
                  <a:pt x="0" y="1312418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25" name="Freeform 525"/>
          <p:cNvSpPr/>
          <p:nvPr/>
        </p:nvSpPr>
        <p:spPr>
          <a:xfrm rot="0" flipH="0" flipV="0">
            <a:off x="7135114" y="1928242"/>
            <a:ext cx="6096" cy="1312418"/>
          </a:xfrm>
          <a:custGeom>
            <a:pathLst>
              <a:path w="6096" h="1312418">
                <a:moveTo>
                  <a:pt x="0" y="1312418"/>
                </a:moveTo>
                <a:lnTo>
                  <a:pt x="6096" y="1312418"/>
                </a:lnTo>
                <a:lnTo>
                  <a:pt x="6096" y="0"/>
                </a:lnTo>
                <a:lnTo>
                  <a:pt x="0" y="0"/>
                </a:lnTo>
                <a:lnTo>
                  <a:pt x="0" y="1312418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26" name="Freeform 526"/>
          <p:cNvSpPr/>
          <p:nvPr/>
        </p:nvSpPr>
        <p:spPr>
          <a:xfrm rot="0" flipH="0" flipV="0">
            <a:off x="362711" y="3240660"/>
            <a:ext cx="6096" cy="6096"/>
          </a:xfrm>
          <a:custGeom>
            <a:pathLst>
              <a:path w="6096" h="6096">
                <a:moveTo>
                  <a:pt x="0" y="6096"/>
                </a:moveTo>
                <a:lnTo>
                  <a:pt x="6096" y="6096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27" name="Freeform 527"/>
          <p:cNvSpPr/>
          <p:nvPr/>
        </p:nvSpPr>
        <p:spPr>
          <a:xfrm rot="0" flipH="0" flipV="0">
            <a:off x="368808" y="3240660"/>
            <a:ext cx="2333879" cy="6096"/>
          </a:xfrm>
          <a:custGeom>
            <a:pathLst>
              <a:path w="2333879" h="6096">
                <a:moveTo>
                  <a:pt x="0" y="6096"/>
                </a:moveTo>
                <a:lnTo>
                  <a:pt x="2333879" y="6096"/>
                </a:lnTo>
                <a:lnTo>
                  <a:pt x="2333879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28" name="Freeform 528"/>
          <p:cNvSpPr/>
          <p:nvPr/>
        </p:nvSpPr>
        <p:spPr>
          <a:xfrm rot="0" flipH="0" flipV="0">
            <a:off x="2702686" y="3240660"/>
            <a:ext cx="6096" cy="6096"/>
          </a:xfrm>
          <a:custGeom>
            <a:pathLst>
              <a:path w="6096" h="6096">
                <a:moveTo>
                  <a:pt x="0" y="6096"/>
                </a:moveTo>
                <a:lnTo>
                  <a:pt x="6096" y="6096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29" name="Freeform 529"/>
          <p:cNvSpPr/>
          <p:nvPr/>
        </p:nvSpPr>
        <p:spPr>
          <a:xfrm rot="0" flipH="0" flipV="0">
            <a:off x="2708782" y="3240660"/>
            <a:ext cx="807720" cy="6096"/>
          </a:xfrm>
          <a:custGeom>
            <a:pathLst>
              <a:path w="807720" h="6096">
                <a:moveTo>
                  <a:pt x="0" y="6096"/>
                </a:moveTo>
                <a:lnTo>
                  <a:pt x="807720" y="6096"/>
                </a:lnTo>
                <a:lnTo>
                  <a:pt x="807720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30" name="Freeform 530"/>
          <p:cNvSpPr/>
          <p:nvPr/>
        </p:nvSpPr>
        <p:spPr>
          <a:xfrm rot="0" flipH="0" flipV="0">
            <a:off x="3516503" y="3240660"/>
            <a:ext cx="6096" cy="6096"/>
          </a:xfrm>
          <a:custGeom>
            <a:pathLst>
              <a:path w="6096" h="6096">
                <a:moveTo>
                  <a:pt x="0" y="6096"/>
                </a:moveTo>
                <a:lnTo>
                  <a:pt x="6096" y="6096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31" name="Freeform 531"/>
          <p:cNvSpPr/>
          <p:nvPr/>
        </p:nvSpPr>
        <p:spPr>
          <a:xfrm rot="0" flipH="0" flipV="0">
            <a:off x="3522598" y="3240660"/>
            <a:ext cx="1192073" cy="6096"/>
          </a:xfrm>
          <a:custGeom>
            <a:pathLst>
              <a:path w="1192073" h="6096">
                <a:moveTo>
                  <a:pt x="0" y="6096"/>
                </a:moveTo>
                <a:lnTo>
                  <a:pt x="1192073" y="6096"/>
                </a:lnTo>
                <a:lnTo>
                  <a:pt x="1192073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32" name="Freeform 532"/>
          <p:cNvSpPr/>
          <p:nvPr/>
        </p:nvSpPr>
        <p:spPr>
          <a:xfrm rot="0" flipH="0" flipV="0">
            <a:off x="4714621" y="3240660"/>
            <a:ext cx="6096" cy="6096"/>
          </a:xfrm>
          <a:custGeom>
            <a:pathLst>
              <a:path w="6096" h="6096">
                <a:moveTo>
                  <a:pt x="0" y="6096"/>
                </a:moveTo>
                <a:lnTo>
                  <a:pt x="6096" y="6096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33" name="Freeform 533"/>
          <p:cNvSpPr/>
          <p:nvPr/>
        </p:nvSpPr>
        <p:spPr>
          <a:xfrm rot="0" flipH="0" flipV="0">
            <a:off x="4720716" y="3240660"/>
            <a:ext cx="2414270" cy="6096"/>
          </a:xfrm>
          <a:custGeom>
            <a:pathLst>
              <a:path w="2414270" h="6096">
                <a:moveTo>
                  <a:pt x="0" y="6096"/>
                </a:moveTo>
                <a:lnTo>
                  <a:pt x="2414270" y="6096"/>
                </a:lnTo>
                <a:lnTo>
                  <a:pt x="2414270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34" name="Freeform 534"/>
          <p:cNvSpPr/>
          <p:nvPr/>
        </p:nvSpPr>
        <p:spPr>
          <a:xfrm rot="0" flipH="0" flipV="0">
            <a:off x="7135114" y="3240660"/>
            <a:ext cx="6096" cy="6096"/>
          </a:xfrm>
          <a:custGeom>
            <a:pathLst>
              <a:path w="6096" h="6096">
                <a:moveTo>
                  <a:pt x="0" y="6096"/>
                </a:moveTo>
                <a:lnTo>
                  <a:pt x="6096" y="6096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35" name="Freeform 535"/>
          <p:cNvSpPr/>
          <p:nvPr/>
        </p:nvSpPr>
        <p:spPr>
          <a:xfrm rot="0" flipH="0" flipV="0">
            <a:off x="362711" y="3246756"/>
            <a:ext cx="6096" cy="263652"/>
          </a:xfrm>
          <a:custGeom>
            <a:pathLst>
              <a:path w="6096" h="263652">
                <a:moveTo>
                  <a:pt x="0" y="263652"/>
                </a:moveTo>
                <a:lnTo>
                  <a:pt x="6096" y="263652"/>
                </a:lnTo>
                <a:lnTo>
                  <a:pt x="6096" y="0"/>
                </a:lnTo>
                <a:lnTo>
                  <a:pt x="0" y="0"/>
                </a:lnTo>
                <a:lnTo>
                  <a:pt x="0" y="263652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36" name="Freeform 536"/>
          <p:cNvSpPr/>
          <p:nvPr/>
        </p:nvSpPr>
        <p:spPr>
          <a:xfrm rot="0" flipH="0" flipV="0">
            <a:off x="2702686" y="3246756"/>
            <a:ext cx="6096" cy="263652"/>
          </a:xfrm>
          <a:custGeom>
            <a:pathLst>
              <a:path w="6096" h="263652">
                <a:moveTo>
                  <a:pt x="0" y="263652"/>
                </a:moveTo>
                <a:lnTo>
                  <a:pt x="6096" y="263652"/>
                </a:lnTo>
                <a:lnTo>
                  <a:pt x="6096" y="0"/>
                </a:lnTo>
                <a:lnTo>
                  <a:pt x="0" y="0"/>
                </a:lnTo>
                <a:lnTo>
                  <a:pt x="0" y="263652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37" name="Freeform 537"/>
          <p:cNvSpPr/>
          <p:nvPr/>
        </p:nvSpPr>
        <p:spPr>
          <a:xfrm rot="0" flipH="0" flipV="0">
            <a:off x="3516503" y="3246756"/>
            <a:ext cx="6096" cy="263652"/>
          </a:xfrm>
          <a:custGeom>
            <a:pathLst>
              <a:path w="6096" h="263652">
                <a:moveTo>
                  <a:pt x="0" y="263652"/>
                </a:moveTo>
                <a:lnTo>
                  <a:pt x="6096" y="263652"/>
                </a:lnTo>
                <a:lnTo>
                  <a:pt x="6096" y="0"/>
                </a:lnTo>
                <a:lnTo>
                  <a:pt x="0" y="0"/>
                </a:lnTo>
                <a:lnTo>
                  <a:pt x="0" y="263652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38" name="Freeform 538"/>
          <p:cNvSpPr/>
          <p:nvPr/>
        </p:nvSpPr>
        <p:spPr>
          <a:xfrm rot="0" flipH="0" flipV="0">
            <a:off x="7135114" y="3246756"/>
            <a:ext cx="6096" cy="263652"/>
          </a:xfrm>
          <a:custGeom>
            <a:pathLst>
              <a:path w="6096" h="263652">
                <a:moveTo>
                  <a:pt x="0" y="263652"/>
                </a:moveTo>
                <a:lnTo>
                  <a:pt x="6096" y="263652"/>
                </a:lnTo>
                <a:lnTo>
                  <a:pt x="6096" y="0"/>
                </a:lnTo>
                <a:lnTo>
                  <a:pt x="0" y="0"/>
                </a:lnTo>
                <a:lnTo>
                  <a:pt x="0" y="263652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39" name="Freeform 539"/>
          <p:cNvSpPr/>
          <p:nvPr/>
        </p:nvSpPr>
        <p:spPr>
          <a:xfrm rot="0" flipH="0" flipV="0">
            <a:off x="362711" y="3510407"/>
            <a:ext cx="6096" cy="6096"/>
          </a:xfrm>
          <a:custGeom>
            <a:pathLst>
              <a:path w="6096" h="6096">
                <a:moveTo>
                  <a:pt x="0" y="6096"/>
                </a:moveTo>
                <a:lnTo>
                  <a:pt x="6096" y="6096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0" name="Freeform 540"/>
          <p:cNvSpPr/>
          <p:nvPr/>
        </p:nvSpPr>
        <p:spPr>
          <a:xfrm rot="0" flipH="0" flipV="0">
            <a:off x="368808" y="3510407"/>
            <a:ext cx="2333879" cy="6096"/>
          </a:xfrm>
          <a:custGeom>
            <a:pathLst>
              <a:path w="2333879" h="6096">
                <a:moveTo>
                  <a:pt x="0" y="6096"/>
                </a:moveTo>
                <a:lnTo>
                  <a:pt x="2333879" y="6096"/>
                </a:lnTo>
                <a:lnTo>
                  <a:pt x="2333879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1" name="Freeform 541"/>
          <p:cNvSpPr/>
          <p:nvPr/>
        </p:nvSpPr>
        <p:spPr>
          <a:xfrm rot="0" flipH="0" flipV="0">
            <a:off x="2702686" y="3510407"/>
            <a:ext cx="6096" cy="6096"/>
          </a:xfrm>
          <a:custGeom>
            <a:pathLst>
              <a:path w="6096" h="6096">
                <a:moveTo>
                  <a:pt x="0" y="6096"/>
                </a:moveTo>
                <a:lnTo>
                  <a:pt x="6096" y="6096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2" name="Freeform 542"/>
          <p:cNvSpPr/>
          <p:nvPr/>
        </p:nvSpPr>
        <p:spPr>
          <a:xfrm rot="0" flipH="0" flipV="0">
            <a:off x="2708782" y="3510407"/>
            <a:ext cx="807720" cy="6096"/>
          </a:xfrm>
          <a:custGeom>
            <a:pathLst>
              <a:path w="807720" h="6096">
                <a:moveTo>
                  <a:pt x="0" y="6096"/>
                </a:moveTo>
                <a:lnTo>
                  <a:pt x="807720" y="6096"/>
                </a:lnTo>
                <a:lnTo>
                  <a:pt x="807720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3" name="Freeform 543"/>
          <p:cNvSpPr/>
          <p:nvPr/>
        </p:nvSpPr>
        <p:spPr>
          <a:xfrm rot="0" flipH="0" flipV="0">
            <a:off x="3516503" y="3510407"/>
            <a:ext cx="6096" cy="6096"/>
          </a:xfrm>
          <a:custGeom>
            <a:pathLst>
              <a:path w="6096" h="6096">
                <a:moveTo>
                  <a:pt x="0" y="6096"/>
                </a:moveTo>
                <a:lnTo>
                  <a:pt x="6096" y="6096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4" name="Freeform 544"/>
          <p:cNvSpPr/>
          <p:nvPr/>
        </p:nvSpPr>
        <p:spPr>
          <a:xfrm rot="0" flipH="0" flipV="0">
            <a:off x="3522598" y="3510407"/>
            <a:ext cx="1192073" cy="6096"/>
          </a:xfrm>
          <a:custGeom>
            <a:pathLst>
              <a:path w="1192073" h="6096">
                <a:moveTo>
                  <a:pt x="0" y="6096"/>
                </a:moveTo>
                <a:lnTo>
                  <a:pt x="1192073" y="6096"/>
                </a:lnTo>
                <a:lnTo>
                  <a:pt x="1192073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5" name="Freeform 545"/>
          <p:cNvSpPr/>
          <p:nvPr/>
        </p:nvSpPr>
        <p:spPr>
          <a:xfrm rot="0" flipH="0" flipV="0">
            <a:off x="4714621" y="3510407"/>
            <a:ext cx="6096" cy="6096"/>
          </a:xfrm>
          <a:custGeom>
            <a:pathLst>
              <a:path w="6096" h="6096">
                <a:moveTo>
                  <a:pt x="0" y="6096"/>
                </a:moveTo>
                <a:lnTo>
                  <a:pt x="6096" y="6096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6" name="Freeform 546"/>
          <p:cNvSpPr/>
          <p:nvPr/>
        </p:nvSpPr>
        <p:spPr>
          <a:xfrm rot="0" flipH="0" flipV="0">
            <a:off x="4720716" y="3510407"/>
            <a:ext cx="2414270" cy="6096"/>
          </a:xfrm>
          <a:custGeom>
            <a:pathLst>
              <a:path w="2414270" h="6096">
                <a:moveTo>
                  <a:pt x="0" y="6096"/>
                </a:moveTo>
                <a:lnTo>
                  <a:pt x="2414270" y="6096"/>
                </a:lnTo>
                <a:lnTo>
                  <a:pt x="2414270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7" name="Freeform 547"/>
          <p:cNvSpPr/>
          <p:nvPr/>
        </p:nvSpPr>
        <p:spPr>
          <a:xfrm rot="0" flipH="0" flipV="0">
            <a:off x="7135114" y="3510407"/>
            <a:ext cx="6096" cy="6096"/>
          </a:xfrm>
          <a:custGeom>
            <a:pathLst>
              <a:path w="6096" h="6096">
                <a:moveTo>
                  <a:pt x="0" y="6096"/>
                </a:moveTo>
                <a:lnTo>
                  <a:pt x="6096" y="6096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8" name="Freeform 548"/>
          <p:cNvSpPr/>
          <p:nvPr/>
        </p:nvSpPr>
        <p:spPr>
          <a:xfrm rot="0" flipH="0" flipV="0">
            <a:off x="362711" y="3516504"/>
            <a:ext cx="6096" cy="146304"/>
          </a:xfrm>
          <a:custGeom>
            <a:pathLst>
              <a:path w="6096" h="146304">
                <a:moveTo>
                  <a:pt x="0" y="146304"/>
                </a:moveTo>
                <a:lnTo>
                  <a:pt x="6096" y="146304"/>
                </a:lnTo>
                <a:lnTo>
                  <a:pt x="6096" y="0"/>
                </a:lnTo>
                <a:lnTo>
                  <a:pt x="0" y="0"/>
                </a:lnTo>
                <a:lnTo>
                  <a:pt x="0" y="146304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9" name="Freeform 549"/>
          <p:cNvSpPr/>
          <p:nvPr/>
        </p:nvSpPr>
        <p:spPr>
          <a:xfrm rot="0" flipH="0" flipV="0">
            <a:off x="2702686" y="3516504"/>
            <a:ext cx="6096" cy="146304"/>
          </a:xfrm>
          <a:custGeom>
            <a:pathLst>
              <a:path w="6096" h="146304">
                <a:moveTo>
                  <a:pt x="0" y="146304"/>
                </a:moveTo>
                <a:lnTo>
                  <a:pt x="6096" y="146304"/>
                </a:lnTo>
                <a:lnTo>
                  <a:pt x="6096" y="0"/>
                </a:lnTo>
                <a:lnTo>
                  <a:pt x="0" y="0"/>
                </a:lnTo>
                <a:lnTo>
                  <a:pt x="0" y="146304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0" name="Freeform 550"/>
          <p:cNvSpPr/>
          <p:nvPr/>
        </p:nvSpPr>
        <p:spPr>
          <a:xfrm rot="0" flipH="0" flipV="0">
            <a:off x="3516503" y="3516504"/>
            <a:ext cx="6096" cy="146304"/>
          </a:xfrm>
          <a:custGeom>
            <a:pathLst>
              <a:path w="6096" h="146304">
                <a:moveTo>
                  <a:pt x="0" y="146304"/>
                </a:moveTo>
                <a:lnTo>
                  <a:pt x="6096" y="146304"/>
                </a:lnTo>
                <a:lnTo>
                  <a:pt x="6096" y="0"/>
                </a:lnTo>
                <a:lnTo>
                  <a:pt x="0" y="0"/>
                </a:lnTo>
                <a:lnTo>
                  <a:pt x="0" y="146304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1" name="Freeform 551"/>
          <p:cNvSpPr/>
          <p:nvPr/>
        </p:nvSpPr>
        <p:spPr>
          <a:xfrm rot="0" flipH="0" flipV="0">
            <a:off x="4714621" y="3516504"/>
            <a:ext cx="6096" cy="146304"/>
          </a:xfrm>
          <a:custGeom>
            <a:pathLst>
              <a:path w="6096" h="146304">
                <a:moveTo>
                  <a:pt x="0" y="146304"/>
                </a:moveTo>
                <a:lnTo>
                  <a:pt x="6096" y="146304"/>
                </a:lnTo>
                <a:lnTo>
                  <a:pt x="6096" y="0"/>
                </a:lnTo>
                <a:lnTo>
                  <a:pt x="0" y="0"/>
                </a:lnTo>
                <a:lnTo>
                  <a:pt x="0" y="146304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2" name="Freeform 552"/>
          <p:cNvSpPr/>
          <p:nvPr/>
        </p:nvSpPr>
        <p:spPr>
          <a:xfrm rot="0" flipH="0" flipV="0">
            <a:off x="7135114" y="3516504"/>
            <a:ext cx="6096" cy="146304"/>
          </a:xfrm>
          <a:custGeom>
            <a:pathLst>
              <a:path w="6096" h="146304">
                <a:moveTo>
                  <a:pt x="0" y="146304"/>
                </a:moveTo>
                <a:lnTo>
                  <a:pt x="6096" y="146304"/>
                </a:lnTo>
                <a:lnTo>
                  <a:pt x="6096" y="0"/>
                </a:lnTo>
                <a:lnTo>
                  <a:pt x="0" y="0"/>
                </a:lnTo>
                <a:lnTo>
                  <a:pt x="0" y="146304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3" name="Freeform 553"/>
          <p:cNvSpPr/>
          <p:nvPr/>
        </p:nvSpPr>
        <p:spPr>
          <a:xfrm rot="0" flipH="0" flipV="0">
            <a:off x="362711" y="3662807"/>
            <a:ext cx="6096" cy="6096"/>
          </a:xfrm>
          <a:custGeom>
            <a:pathLst>
              <a:path w="6096" h="6096">
                <a:moveTo>
                  <a:pt x="0" y="6096"/>
                </a:moveTo>
                <a:lnTo>
                  <a:pt x="6096" y="6096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4" name="Freeform 554"/>
          <p:cNvSpPr/>
          <p:nvPr/>
        </p:nvSpPr>
        <p:spPr>
          <a:xfrm rot="0" flipH="0" flipV="0">
            <a:off x="368808" y="3662807"/>
            <a:ext cx="2333879" cy="6096"/>
          </a:xfrm>
          <a:custGeom>
            <a:pathLst>
              <a:path w="2333879" h="6096">
                <a:moveTo>
                  <a:pt x="0" y="6096"/>
                </a:moveTo>
                <a:lnTo>
                  <a:pt x="2333879" y="6096"/>
                </a:lnTo>
                <a:lnTo>
                  <a:pt x="2333879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5" name="Freeform 555"/>
          <p:cNvSpPr/>
          <p:nvPr/>
        </p:nvSpPr>
        <p:spPr>
          <a:xfrm rot="0" flipH="0" flipV="0">
            <a:off x="2702686" y="3662807"/>
            <a:ext cx="6096" cy="6096"/>
          </a:xfrm>
          <a:custGeom>
            <a:pathLst>
              <a:path w="6096" h="6096">
                <a:moveTo>
                  <a:pt x="0" y="6096"/>
                </a:moveTo>
                <a:lnTo>
                  <a:pt x="6096" y="6096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6" name="Freeform 556"/>
          <p:cNvSpPr/>
          <p:nvPr/>
        </p:nvSpPr>
        <p:spPr>
          <a:xfrm rot="0" flipH="0" flipV="0">
            <a:off x="3516503" y="3662807"/>
            <a:ext cx="6096" cy="6096"/>
          </a:xfrm>
          <a:custGeom>
            <a:pathLst>
              <a:path w="6096" h="6096">
                <a:moveTo>
                  <a:pt x="0" y="6096"/>
                </a:moveTo>
                <a:lnTo>
                  <a:pt x="6096" y="6096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7" name="Freeform 557"/>
          <p:cNvSpPr/>
          <p:nvPr/>
        </p:nvSpPr>
        <p:spPr>
          <a:xfrm rot="0" flipH="0" flipV="0">
            <a:off x="4714621" y="3662807"/>
            <a:ext cx="6096" cy="6096"/>
          </a:xfrm>
          <a:custGeom>
            <a:pathLst>
              <a:path w="6096" h="6096">
                <a:moveTo>
                  <a:pt x="0" y="6096"/>
                </a:moveTo>
                <a:lnTo>
                  <a:pt x="6096" y="6096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8" name="Freeform 558"/>
          <p:cNvSpPr/>
          <p:nvPr/>
        </p:nvSpPr>
        <p:spPr>
          <a:xfrm rot="0" flipH="0" flipV="0">
            <a:off x="4720716" y="3662807"/>
            <a:ext cx="2414270" cy="6096"/>
          </a:xfrm>
          <a:custGeom>
            <a:pathLst>
              <a:path w="2414270" h="6096">
                <a:moveTo>
                  <a:pt x="0" y="6096"/>
                </a:moveTo>
                <a:lnTo>
                  <a:pt x="2414270" y="6096"/>
                </a:lnTo>
                <a:lnTo>
                  <a:pt x="2414270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9" name="Freeform 559"/>
          <p:cNvSpPr/>
          <p:nvPr/>
        </p:nvSpPr>
        <p:spPr>
          <a:xfrm rot="0" flipH="0" flipV="0">
            <a:off x="7135114" y="3662807"/>
            <a:ext cx="6096" cy="6096"/>
          </a:xfrm>
          <a:custGeom>
            <a:pathLst>
              <a:path w="6096" h="6096">
                <a:moveTo>
                  <a:pt x="0" y="6096"/>
                </a:moveTo>
                <a:lnTo>
                  <a:pt x="6096" y="6096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0" name="Freeform 560"/>
          <p:cNvSpPr/>
          <p:nvPr/>
        </p:nvSpPr>
        <p:spPr>
          <a:xfrm rot="0" flipH="0" flipV="0">
            <a:off x="362711" y="3668903"/>
            <a:ext cx="6096" cy="2190242"/>
          </a:xfrm>
          <a:custGeom>
            <a:pathLst>
              <a:path w="6096" h="2190242">
                <a:moveTo>
                  <a:pt x="0" y="2190242"/>
                </a:moveTo>
                <a:lnTo>
                  <a:pt x="6096" y="2190242"/>
                </a:lnTo>
                <a:lnTo>
                  <a:pt x="6096" y="0"/>
                </a:lnTo>
                <a:lnTo>
                  <a:pt x="0" y="0"/>
                </a:lnTo>
                <a:lnTo>
                  <a:pt x="0" y="2190242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1" name="Freeform 561"/>
          <p:cNvSpPr/>
          <p:nvPr/>
        </p:nvSpPr>
        <p:spPr>
          <a:xfrm rot="0" flipH="0" flipV="0">
            <a:off x="2702686" y="3668903"/>
            <a:ext cx="6096" cy="2190242"/>
          </a:xfrm>
          <a:custGeom>
            <a:pathLst>
              <a:path w="6096" h="2190242">
                <a:moveTo>
                  <a:pt x="0" y="2190242"/>
                </a:moveTo>
                <a:lnTo>
                  <a:pt x="6096" y="2190242"/>
                </a:lnTo>
                <a:lnTo>
                  <a:pt x="6096" y="0"/>
                </a:lnTo>
                <a:lnTo>
                  <a:pt x="0" y="0"/>
                </a:lnTo>
                <a:lnTo>
                  <a:pt x="0" y="2190242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2" name="Freeform 562"/>
          <p:cNvSpPr/>
          <p:nvPr/>
        </p:nvSpPr>
        <p:spPr>
          <a:xfrm rot="0" flipH="0" flipV="0">
            <a:off x="3516503" y="3668903"/>
            <a:ext cx="6096" cy="2190242"/>
          </a:xfrm>
          <a:custGeom>
            <a:pathLst>
              <a:path w="6096" h="2190242">
                <a:moveTo>
                  <a:pt x="0" y="2190242"/>
                </a:moveTo>
                <a:lnTo>
                  <a:pt x="6096" y="2190242"/>
                </a:lnTo>
                <a:lnTo>
                  <a:pt x="6096" y="0"/>
                </a:lnTo>
                <a:lnTo>
                  <a:pt x="0" y="0"/>
                </a:lnTo>
                <a:lnTo>
                  <a:pt x="0" y="2190242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3" name="Freeform 563"/>
          <p:cNvSpPr/>
          <p:nvPr/>
        </p:nvSpPr>
        <p:spPr>
          <a:xfrm rot="0" flipH="0" flipV="0">
            <a:off x="4714621" y="3668903"/>
            <a:ext cx="6096" cy="2190242"/>
          </a:xfrm>
          <a:custGeom>
            <a:pathLst>
              <a:path w="6096" h="2190242">
                <a:moveTo>
                  <a:pt x="0" y="2190242"/>
                </a:moveTo>
                <a:lnTo>
                  <a:pt x="6096" y="2190242"/>
                </a:lnTo>
                <a:lnTo>
                  <a:pt x="6096" y="0"/>
                </a:lnTo>
                <a:lnTo>
                  <a:pt x="0" y="0"/>
                </a:lnTo>
                <a:lnTo>
                  <a:pt x="0" y="2190242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4" name="Freeform 564"/>
          <p:cNvSpPr/>
          <p:nvPr/>
        </p:nvSpPr>
        <p:spPr>
          <a:xfrm rot="0" flipH="0" flipV="0">
            <a:off x="7135114" y="3668903"/>
            <a:ext cx="6096" cy="2190242"/>
          </a:xfrm>
          <a:custGeom>
            <a:pathLst>
              <a:path w="6096" h="2190242">
                <a:moveTo>
                  <a:pt x="0" y="2190242"/>
                </a:moveTo>
                <a:lnTo>
                  <a:pt x="6096" y="2190242"/>
                </a:lnTo>
                <a:lnTo>
                  <a:pt x="6096" y="0"/>
                </a:lnTo>
                <a:lnTo>
                  <a:pt x="0" y="0"/>
                </a:lnTo>
                <a:lnTo>
                  <a:pt x="0" y="2190242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5" name="Freeform 565"/>
          <p:cNvSpPr/>
          <p:nvPr/>
        </p:nvSpPr>
        <p:spPr>
          <a:xfrm rot="0" flipH="0" flipV="0">
            <a:off x="362711" y="5859145"/>
            <a:ext cx="6096" cy="6096"/>
          </a:xfrm>
          <a:custGeom>
            <a:pathLst>
              <a:path w="6096" h="6096">
                <a:moveTo>
                  <a:pt x="0" y="6096"/>
                </a:moveTo>
                <a:lnTo>
                  <a:pt x="6096" y="6096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6" name="Freeform 566"/>
          <p:cNvSpPr/>
          <p:nvPr/>
        </p:nvSpPr>
        <p:spPr>
          <a:xfrm rot="0" flipH="0" flipV="0">
            <a:off x="368808" y="5859145"/>
            <a:ext cx="2333879" cy="6096"/>
          </a:xfrm>
          <a:custGeom>
            <a:pathLst>
              <a:path w="2333879" h="6096">
                <a:moveTo>
                  <a:pt x="0" y="6096"/>
                </a:moveTo>
                <a:lnTo>
                  <a:pt x="2333879" y="6096"/>
                </a:lnTo>
                <a:lnTo>
                  <a:pt x="2333879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7" name="Freeform 567"/>
          <p:cNvSpPr/>
          <p:nvPr/>
        </p:nvSpPr>
        <p:spPr>
          <a:xfrm rot="0" flipH="0" flipV="0">
            <a:off x="2702686" y="5859145"/>
            <a:ext cx="6096" cy="6096"/>
          </a:xfrm>
          <a:custGeom>
            <a:pathLst>
              <a:path w="6096" h="6096">
                <a:moveTo>
                  <a:pt x="0" y="6096"/>
                </a:moveTo>
                <a:lnTo>
                  <a:pt x="6096" y="6096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8" name="Freeform 568"/>
          <p:cNvSpPr/>
          <p:nvPr/>
        </p:nvSpPr>
        <p:spPr>
          <a:xfrm rot="0" flipH="0" flipV="0">
            <a:off x="2708782" y="5859145"/>
            <a:ext cx="807720" cy="6096"/>
          </a:xfrm>
          <a:custGeom>
            <a:pathLst>
              <a:path w="807720" h="6096">
                <a:moveTo>
                  <a:pt x="0" y="6096"/>
                </a:moveTo>
                <a:lnTo>
                  <a:pt x="807720" y="6096"/>
                </a:lnTo>
                <a:lnTo>
                  <a:pt x="807720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9" name="Freeform 569"/>
          <p:cNvSpPr/>
          <p:nvPr/>
        </p:nvSpPr>
        <p:spPr>
          <a:xfrm rot="0" flipH="0" flipV="0">
            <a:off x="3516503" y="5859145"/>
            <a:ext cx="6096" cy="6096"/>
          </a:xfrm>
          <a:custGeom>
            <a:pathLst>
              <a:path w="6096" h="6096">
                <a:moveTo>
                  <a:pt x="0" y="6096"/>
                </a:moveTo>
                <a:lnTo>
                  <a:pt x="6096" y="6096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0" name="Freeform 570"/>
          <p:cNvSpPr/>
          <p:nvPr/>
        </p:nvSpPr>
        <p:spPr>
          <a:xfrm rot="0" flipH="0" flipV="0">
            <a:off x="3522598" y="5859145"/>
            <a:ext cx="1192073" cy="6096"/>
          </a:xfrm>
          <a:custGeom>
            <a:pathLst>
              <a:path w="1192073" h="6096">
                <a:moveTo>
                  <a:pt x="0" y="6096"/>
                </a:moveTo>
                <a:lnTo>
                  <a:pt x="1192073" y="6096"/>
                </a:lnTo>
                <a:lnTo>
                  <a:pt x="1192073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1" name="Freeform 571"/>
          <p:cNvSpPr/>
          <p:nvPr/>
        </p:nvSpPr>
        <p:spPr>
          <a:xfrm rot="0" flipH="0" flipV="0">
            <a:off x="4714621" y="5859145"/>
            <a:ext cx="6096" cy="6096"/>
          </a:xfrm>
          <a:custGeom>
            <a:pathLst>
              <a:path w="6096" h="6096">
                <a:moveTo>
                  <a:pt x="0" y="6096"/>
                </a:moveTo>
                <a:lnTo>
                  <a:pt x="6096" y="6096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2" name="Freeform 572"/>
          <p:cNvSpPr/>
          <p:nvPr/>
        </p:nvSpPr>
        <p:spPr>
          <a:xfrm rot="0" flipH="0" flipV="0">
            <a:off x="4720716" y="5859145"/>
            <a:ext cx="2414270" cy="6096"/>
          </a:xfrm>
          <a:custGeom>
            <a:pathLst>
              <a:path w="2414270" h="6096">
                <a:moveTo>
                  <a:pt x="0" y="6096"/>
                </a:moveTo>
                <a:lnTo>
                  <a:pt x="2414270" y="6096"/>
                </a:lnTo>
                <a:lnTo>
                  <a:pt x="2414270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3" name="Freeform 573"/>
          <p:cNvSpPr/>
          <p:nvPr/>
        </p:nvSpPr>
        <p:spPr>
          <a:xfrm rot="0" flipH="0" flipV="0">
            <a:off x="7135114" y="5859145"/>
            <a:ext cx="6096" cy="6096"/>
          </a:xfrm>
          <a:custGeom>
            <a:pathLst>
              <a:path w="6096" h="6096">
                <a:moveTo>
                  <a:pt x="0" y="6096"/>
                </a:moveTo>
                <a:lnTo>
                  <a:pt x="6096" y="6096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4" name="Freeform 574"/>
          <p:cNvSpPr/>
          <p:nvPr/>
        </p:nvSpPr>
        <p:spPr>
          <a:xfrm rot="0" flipH="0" flipV="0">
            <a:off x="362711" y="5865241"/>
            <a:ext cx="6096" cy="649224"/>
          </a:xfrm>
          <a:custGeom>
            <a:pathLst>
              <a:path w="6096" h="649224">
                <a:moveTo>
                  <a:pt x="0" y="649224"/>
                </a:moveTo>
                <a:lnTo>
                  <a:pt x="6096" y="649224"/>
                </a:lnTo>
                <a:lnTo>
                  <a:pt x="6096" y="0"/>
                </a:lnTo>
                <a:lnTo>
                  <a:pt x="0" y="0"/>
                </a:lnTo>
                <a:lnTo>
                  <a:pt x="0" y="649224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5" name="Freeform 575"/>
          <p:cNvSpPr/>
          <p:nvPr/>
        </p:nvSpPr>
        <p:spPr>
          <a:xfrm rot="0" flipH="0" flipV="0">
            <a:off x="2702686" y="5865241"/>
            <a:ext cx="6096" cy="649224"/>
          </a:xfrm>
          <a:custGeom>
            <a:pathLst>
              <a:path w="6096" h="649224">
                <a:moveTo>
                  <a:pt x="0" y="649224"/>
                </a:moveTo>
                <a:lnTo>
                  <a:pt x="6096" y="649224"/>
                </a:lnTo>
                <a:lnTo>
                  <a:pt x="6096" y="0"/>
                </a:lnTo>
                <a:lnTo>
                  <a:pt x="0" y="0"/>
                </a:lnTo>
                <a:lnTo>
                  <a:pt x="0" y="649224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6" name="Freeform 576"/>
          <p:cNvSpPr/>
          <p:nvPr/>
        </p:nvSpPr>
        <p:spPr>
          <a:xfrm rot="0" flipH="0" flipV="0">
            <a:off x="3516503" y="5865241"/>
            <a:ext cx="6096" cy="649224"/>
          </a:xfrm>
          <a:custGeom>
            <a:pathLst>
              <a:path w="6096" h="649224">
                <a:moveTo>
                  <a:pt x="0" y="649224"/>
                </a:moveTo>
                <a:lnTo>
                  <a:pt x="6096" y="649224"/>
                </a:lnTo>
                <a:lnTo>
                  <a:pt x="6096" y="0"/>
                </a:lnTo>
                <a:lnTo>
                  <a:pt x="0" y="0"/>
                </a:lnTo>
                <a:lnTo>
                  <a:pt x="0" y="649224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7" name="Freeform 577"/>
          <p:cNvSpPr/>
          <p:nvPr/>
        </p:nvSpPr>
        <p:spPr>
          <a:xfrm rot="0" flipH="0" flipV="0">
            <a:off x="4714621" y="5865241"/>
            <a:ext cx="6096" cy="649224"/>
          </a:xfrm>
          <a:custGeom>
            <a:pathLst>
              <a:path w="6096" h="649224">
                <a:moveTo>
                  <a:pt x="0" y="649224"/>
                </a:moveTo>
                <a:lnTo>
                  <a:pt x="6096" y="649224"/>
                </a:lnTo>
                <a:lnTo>
                  <a:pt x="6096" y="0"/>
                </a:lnTo>
                <a:lnTo>
                  <a:pt x="0" y="0"/>
                </a:lnTo>
                <a:lnTo>
                  <a:pt x="0" y="649224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8" name="Freeform 578"/>
          <p:cNvSpPr/>
          <p:nvPr/>
        </p:nvSpPr>
        <p:spPr>
          <a:xfrm rot="0" flipH="0" flipV="0">
            <a:off x="7135114" y="5865241"/>
            <a:ext cx="6096" cy="649224"/>
          </a:xfrm>
          <a:custGeom>
            <a:pathLst>
              <a:path w="6096" h="649224">
                <a:moveTo>
                  <a:pt x="0" y="649224"/>
                </a:moveTo>
                <a:lnTo>
                  <a:pt x="6096" y="649224"/>
                </a:lnTo>
                <a:lnTo>
                  <a:pt x="6096" y="0"/>
                </a:lnTo>
                <a:lnTo>
                  <a:pt x="0" y="0"/>
                </a:lnTo>
                <a:lnTo>
                  <a:pt x="0" y="649224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9" name="Freeform 579"/>
          <p:cNvSpPr/>
          <p:nvPr/>
        </p:nvSpPr>
        <p:spPr>
          <a:xfrm rot="0" flipH="0" flipV="0">
            <a:off x="362711" y="6514466"/>
            <a:ext cx="6096" cy="6096"/>
          </a:xfrm>
          <a:custGeom>
            <a:pathLst>
              <a:path w="6096" h="6096">
                <a:moveTo>
                  <a:pt x="0" y="6096"/>
                </a:moveTo>
                <a:lnTo>
                  <a:pt x="6096" y="6096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0" name="Freeform 580"/>
          <p:cNvSpPr/>
          <p:nvPr/>
        </p:nvSpPr>
        <p:spPr>
          <a:xfrm rot="0" flipH="0" flipV="0">
            <a:off x="368808" y="6514466"/>
            <a:ext cx="2333879" cy="6096"/>
          </a:xfrm>
          <a:custGeom>
            <a:pathLst>
              <a:path w="2333879" h="6096">
                <a:moveTo>
                  <a:pt x="0" y="6096"/>
                </a:moveTo>
                <a:lnTo>
                  <a:pt x="2333879" y="6096"/>
                </a:lnTo>
                <a:lnTo>
                  <a:pt x="2333879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1" name="Freeform 581"/>
          <p:cNvSpPr/>
          <p:nvPr/>
        </p:nvSpPr>
        <p:spPr>
          <a:xfrm rot="0" flipH="0" flipV="0">
            <a:off x="2702686" y="6514466"/>
            <a:ext cx="6096" cy="6096"/>
          </a:xfrm>
          <a:custGeom>
            <a:pathLst>
              <a:path w="6096" h="6096">
                <a:moveTo>
                  <a:pt x="0" y="6096"/>
                </a:moveTo>
                <a:lnTo>
                  <a:pt x="6096" y="6096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2" name="Freeform 582"/>
          <p:cNvSpPr/>
          <p:nvPr/>
        </p:nvSpPr>
        <p:spPr>
          <a:xfrm rot="0" flipH="0" flipV="0">
            <a:off x="2708782" y="6514466"/>
            <a:ext cx="807720" cy="6096"/>
          </a:xfrm>
          <a:custGeom>
            <a:pathLst>
              <a:path w="807720" h="6096">
                <a:moveTo>
                  <a:pt x="0" y="6096"/>
                </a:moveTo>
                <a:lnTo>
                  <a:pt x="807720" y="6096"/>
                </a:lnTo>
                <a:lnTo>
                  <a:pt x="807720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3" name="Freeform 583"/>
          <p:cNvSpPr/>
          <p:nvPr/>
        </p:nvSpPr>
        <p:spPr>
          <a:xfrm rot="0" flipH="0" flipV="0">
            <a:off x="3516503" y="6514466"/>
            <a:ext cx="6096" cy="6096"/>
          </a:xfrm>
          <a:custGeom>
            <a:pathLst>
              <a:path w="6096" h="6096">
                <a:moveTo>
                  <a:pt x="0" y="6096"/>
                </a:moveTo>
                <a:lnTo>
                  <a:pt x="6096" y="6096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4" name="Freeform 584"/>
          <p:cNvSpPr/>
          <p:nvPr/>
        </p:nvSpPr>
        <p:spPr>
          <a:xfrm rot="0" flipH="0" flipV="0">
            <a:off x="3522598" y="6514466"/>
            <a:ext cx="1192073" cy="6096"/>
          </a:xfrm>
          <a:custGeom>
            <a:pathLst>
              <a:path w="1192073" h="6096">
                <a:moveTo>
                  <a:pt x="0" y="6096"/>
                </a:moveTo>
                <a:lnTo>
                  <a:pt x="1192073" y="6096"/>
                </a:lnTo>
                <a:lnTo>
                  <a:pt x="1192073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5" name="Freeform 585"/>
          <p:cNvSpPr/>
          <p:nvPr/>
        </p:nvSpPr>
        <p:spPr>
          <a:xfrm rot="0" flipH="0" flipV="0">
            <a:off x="4714621" y="6514466"/>
            <a:ext cx="6096" cy="6096"/>
          </a:xfrm>
          <a:custGeom>
            <a:pathLst>
              <a:path w="6096" h="6096">
                <a:moveTo>
                  <a:pt x="0" y="6096"/>
                </a:moveTo>
                <a:lnTo>
                  <a:pt x="6096" y="6096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6" name="Freeform 586"/>
          <p:cNvSpPr/>
          <p:nvPr/>
        </p:nvSpPr>
        <p:spPr>
          <a:xfrm rot="0" flipH="0" flipV="0">
            <a:off x="4720716" y="6514466"/>
            <a:ext cx="2414270" cy="6096"/>
          </a:xfrm>
          <a:custGeom>
            <a:pathLst>
              <a:path w="2414270" h="6096">
                <a:moveTo>
                  <a:pt x="0" y="6096"/>
                </a:moveTo>
                <a:lnTo>
                  <a:pt x="2414270" y="6096"/>
                </a:lnTo>
                <a:lnTo>
                  <a:pt x="2414270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7" name="Freeform 587"/>
          <p:cNvSpPr/>
          <p:nvPr/>
        </p:nvSpPr>
        <p:spPr>
          <a:xfrm rot="0" flipH="0" flipV="0">
            <a:off x="7135114" y="6514466"/>
            <a:ext cx="6096" cy="6096"/>
          </a:xfrm>
          <a:custGeom>
            <a:pathLst>
              <a:path w="6096" h="6096">
                <a:moveTo>
                  <a:pt x="0" y="6096"/>
                </a:moveTo>
                <a:lnTo>
                  <a:pt x="6096" y="6096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8" name="Freeform 588"/>
          <p:cNvSpPr/>
          <p:nvPr/>
        </p:nvSpPr>
        <p:spPr>
          <a:xfrm rot="0" flipH="0" flipV="0">
            <a:off x="362711" y="6520638"/>
            <a:ext cx="6096" cy="292913"/>
          </a:xfrm>
          <a:custGeom>
            <a:pathLst>
              <a:path w="6096" h="292913">
                <a:moveTo>
                  <a:pt x="0" y="292913"/>
                </a:moveTo>
                <a:lnTo>
                  <a:pt x="6096" y="292913"/>
                </a:lnTo>
                <a:lnTo>
                  <a:pt x="6096" y="0"/>
                </a:lnTo>
                <a:lnTo>
                  <a:pt x="0" y="0"/>
                </a:lnTo>
                <a:lnTo>
                  <a:pt x="0" y="292913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9" name="Freeform 589"/>
          <p:cNvSpPr/>
          <p:nvPr/>
        </p:nvSpPr>
        <p:spPr>
          <a:xfrm rot="0" flipH="0" flipV="0">
            <a:off x="2702686" y="6520638"/>
            <a:ext cx="6096" cy="292913"/>
          </a:xfrm>
          <a:custGeom>
            <a:pathLst>
              <a:path w="6096" h="292913">
                <a:moveTo>
                  <a:pt x="0" y="292913"/>
                </a:moveTo>
                <a:lnTo>
                  <a:pt x="6096" y="292913"/>
                </a:lnTo>
                <a:lnTo>
                  <a:pt x="6096" y="0"/>
                </a:lnTo>
                <a:lnTo>
                  <a:pt x="0" y="0"/>
                </a:lnTo>
                <a:lnTo>
                  <a:pt x="0" y="292913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0" name="Freeform 590"/>
          <p:cNvSpPr/>
          <p:nvPr/>
        </p:nvSpPr>
        <p:spPr>
          <a:xfrm rot="0" flipH="0" flipV="0">
            <a:off x="3516503" y="6520638"/>
            <a:ext cx="6096" cy="292913"/>
          </a:xfrm>
          <a:custGeom>
            <a:pathLst>
              <a:path w="6096" h="292913">
                <a:moveTo>
                  <a:pt x="0" y="292913"/>
                </a:moveTo>
                <a:lnTo>
                  <a:pt x="6096" y="292913"/>
                </a:lnTo>
                <a:lnTo>
                  <a:pt x="6096" y="0"/>
                </a:lnTo>
                <a:lnTo>
                  <a:pt x="0" y="0"/>
                </a:lnTo>
                <a:lnTo>
                  <a:pt x="0" y="292913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1" name="Freeform 591"/>
          <p:cNvSpPr/>
          <p:nvPr/>
        </p:nvSpPr>
        <p:spPr>
          <a:xfrm rot="0" flipH="0" flipV="0">
            <a:off x="4714621" y="6520638"/>
            <a:ext cx="6096" cy="292913"/>
          </a:xfrm>
          <a:custGeom>
            <a:pathLst>
              <a:path w="6096" h="292913">
                <a:moveTo>
                  <a:pt x="0" y="292913"/>
                </a:moveTo>
                <a:lnTo>
                  <a:pt x="6096" y="292913"/>
                </a:lnTo>
                <a:lnTo>
                  <a:pt x="6096" y="0"/>
                </a:lnTo>
                <a:lnTo>
                  <a:pt x="0" y="0"/>
                </a:lnTo>
                <a:lnTo>
                  <a:pt x="0" y="292913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2" name="Freeform 592"/>
          <p:cNvSpPr/>
          <p:nvPr/>
        </p:nvSpPr>
        <p:spPr>
          <a:xfrm rot="0" flipH="0" flipV="0">
            <a:off x="7135114" y="6520638"/>
            <a:ext cx="6096" cy="292913"/>
          </a:xfrm>
          <a:custGeom>
            <a:pathLst>
              <a:path w="6096" h="292913">
                <a:moveTo>
                  <a:pt x="0" y="292913"/>
                </a:moveTo>
                <a:lnTo>
                  <a:pt x="6096" y="292913"/>
                </a:lnTo>
                <a:lnTo>
                  <a:pt x="6096" y="0"/>
                </a:lnTo>
                <a:lnTo>
                  <a:pt x="0" y="0"/>
                </a:lnTo>
                <a:lnTo>
                  <a:pt x="0" y="292913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3" name="Freeform 593"/>
          <p:cNvSpPr/>
          <p:nvPr/>
        </p:nvSpPr>
        <p:spPr>
          <a:xfrm rot="0" flipH="0" flipV="0">
            <a:off x="362711" y="6813551"/>
            <a:ext cx="6096" cy="6095"/>
          </a:xfrm>
          <a:custGeom>
            <a:pathLst>
              <a:path w="6096" h="6095">
                <a:moveTo>
                  <a:pt x="0" y="6095"/>
                </a:moveTo>
                <a:lnTo>
                  <a:pt x="6096" y="6095"/>
                </a:lnTo>
                <a:lnTo>
                  <a:pt x="6096" y="0"/>
                </a:lnTo>
                <a:lnTo>
                  <a:pt x="0" y="0"/>
                </a:lnTo>
                <a:lnTo>
                  <a:pt x="0" y="6095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4" name="Freeform 594"/>
          <p:cNvSpPr/>
          <p:nvPr/>
        </p:nvSpPr>
        <p:spPr>
          <a:xfrm rot="0" flipH="0" flipV="0">
            <a:off x="368808" y="6813551"/>
            <a:ext cx="2333879" cy="6095"/>
          </a:xfrm>
          <a:custGeom>
            <a:pathLst>
              <a:path w="2333879" h="6095">
                <a:moveTo>
                  <a:pt x="0" y="6095"/>
                </a:moveTo>
                <a:lnTo>
                  <a:pt x="2333879" y="6095"/>
                </a:lnTo>
                <a:lnTo>
                  <a:pt x="2333879" y="0"/>
                </a:lnTo>
                <a:lnTo>
                  <a:pt x="0" y="0"/>
                </a:lnTo>
                <a:lnTo>
                  <a:pt x="0" y="6095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5" name="Freeform 595"/>
          <p:cNvSpPr/>
          <p:nvPr/>
        </p:nvSpPr>
        <p:spPr>
          <a:xfrm rot="0" flipH="0" flipV="0">
            <a:off x="2702686" y="6813551"/>
            <a:ext cx="6096" cy="6095"/>
          </a:xfrm>
          <a:custGeom>
            <a:pathLst>
              <a:path w="6096" h="6095">
                <a:moveTo>
                  <a:pt x="0" y="6095"/>
                </a:moveTo>
                <a:lnTo>
                  <a:pt x="6096" y="6095"/>
                </a:lnTo>
                <a:lnTo>
                  <a:pt x="6096" y="0"/>
                </a:lnTo>
                <a:lnTo>
                  <a:pt x="0" y="0"/>
                </a:lnTo>
                <a:lnTo>
                  <a:pt x="0" y="6095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6" name="Freeform 596"/>
          <p:cNvSpPr/>
          <p:nvPr/>
        </p:nvSpPr>
        <p:spPr>
          <a:xfrm rot="0" flipH="0" flipV="0">
            <a:off x="2708782" y="6813551"/>
            <a:ext cx="807720" cy="6095"/>
          </a:xfrm>
          <a:custGeom>
            <a:pathLst>
              <a:path w="807720" h="6095">
                <a:moveTo>
                  <a:pt x="0" y="6095"/>
                </a:moveTo>
                <a:lnTo>
                  <a:pt x="807720" y="6095"/>
                </a:lnTo>
                <a:lnTo>
                  <a:pt x="807720" y="0"/>
                </a:lnTo>
                <a:lnTo>
                  <a:pt x="0" y="0"/>
                </a:lnTo>
                <a:lnTo>
                  <a:pt x="0" y="6095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7" name="Freeform 597"/>
          <p:cNvSpPr/>
          <p:nvPr/>
        </p:nvSpPr>
        <p:spPr>
          <a:xfrm rot="0" flipH="0" flipV="0">
            <a:off x="3516503" y="6813551"/>
            <a:ext cx="6096" cy="6095"/>
          </a:xfrm>
          <a:custGeom>
            <a:pathLst>
              <a:path w="6096" h="6095">
                <a:moveTo>
                  <a:pt x="0" y="6095"/>
                </a:moveTo>
                <a:lnTo>
                  <a:pt x="6096" y="6095"/>
                </a:lnTo>
                <a:lnTo>
                  <a:pt x="6096" y="0"/>
                </a:lnTo>
                <a:lnTo>
                  <a:pt x="0" y="0"/>
                </a:lnTo>
                <a:lnTo>
                  <a:pt x="0" y="6095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8" name="Freeform 598"/>
          <p:cNvSpPr/>
          <p:nvPr/>
        </p:nvSpPr>
        <p:spPr>
          <a:xfrm rot="0" flipH="0" flipV="0">
            <a:off x="3522598" y="6813551"/>
            <a:ext cx="1192073" cy="6095"/>
          </a:xfrm>
          <a:custGeom>
            <a:pathLst>
              <a:path w="1192073" h="6095">
                <a:moveTo>
                  <a:pt x="0" y="6095"/>
                </a:moveTo>
                <a:lnTo>
                  <a:pt x="1192073" y="6095"/>
                </a:lnTo>
                <a:lnTo>
                  <a:pt x="1192073" y="0"/>
                </a:lnTo>
                <a:lnTo>
                  <a:pt x="0" y="0"/>
                </a:lnTo>
                <a:lnTo>
                  <a:pt x="0" y="6095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9" name="Freeform 599"/>
          <p:cNvSpPr/>
          <p:nvPr/>
        </p:nvSpPr>
        <p:spPr>
          <a:xfrm rot="0" flipH="0" flipV="0">
            <a:off x="4714621" y="6813551"/>
            <a:ext cx="6096" cy="6095"/>
          </a:xfrm>
          <a:custGeom>
            <a:pathLst>
              <a:path w="6096" h="6095">
                <a:moveTo>
                  <a:pt x="0" y="6095"/>
                </a:moveTo>
                <a:lnTo>
                  <a:pt x="6096" y="6095"/>
                </a:lnTo>
                <a:lnTo>
                  <a:pt x="6096" y="0"/>
                </a:lnTo>
                <a:lnTo>
                  <a:pt x="0" y="0"/>
                </a:lnTo>
                <a:lnTo>
                  <a:pt x="0" y="6095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0" name="Freeform 600"/>
          <p:cNvSpPr/>
          <p:nvPr/>
        </p:nvSpPr>
        <p:spPr>
          <a:xfrm rot="0" flipH="0" flipV="0">
            <a:off x="4720716" y="6813551"/>
            <a:ext cx="1254557" cy="6095"/>
          </a:xfrm>
          <a:custGeom>
            <a:pathLst>
              <a:path w="1254557" h="6095">
                <a:moveTo>
                  <a:pt x="0" y="6095"/>
                </a:moveTo>
                <a:lnTo>
                  <a:pt x="1254557" y="6095"/>
                </a:lnTo>
                <a:lnTo>
                  <a:pt x="1254557" y="0"/>
                </a:lnTo>
                <a:lnTo>
                  <a:pt x="0" y="0"/>
                </a:lnTo>
                <a:lnTo>
                  <a:pt x="0" y="6095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1" name="Freeform 601"/>
          <p:cNvSpPr/>
          <p:nvPr/>
        </p:nvSpPr>
        <p:spPr>
          <a:xfrm rot="0" flipH="0" flipV="0">
            <a:off x="5975350" y="6813551"/>
            <a:ext cx="6096" cy="6095"/>
          </a:xfrm>
          <a:custGeom>
            <a:pathLst>
              <a:path w="6096" h="6095">
                <a:moveTo>
                  <a:pt x="0" y="6095"/>
                </a:moveTo>
                <a:lnTo>
                  <a:pt x="6096" y="6095"/>
                </a:lnTo>
                <a:lnTo>
                  <a:pt x="6096" y="0"/>
                </a:lnTo>
                <a:lnTo>
                  <a:pt x="0" y="0"/>
                </a:lnTo>
                <a:lnTo>
                  <a:pt x="0" y="6095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2" name="Freeform 602"/>
          <p:cNvSpPr/>
          <p:nvPr/>
        </p:nvSpPr>
        <p:spPr>
          <a:xfrm rot="0" flipH="0" flipV="0">
            <a:off x="5981446" y="6813551"/>
            <a:ext cx="1153668" cy="6095"/>
          </a:xfrm>
          <a:custGeom>
            <a:pathLst>
              <a:path w="1153668" h="6095">
                <a:moveTo>
                  <a:pt x="0" y="6095"/>
                </a:moveTo>
                <a:lnTo>
                  <a:pt x="1153668" y="6095"/>
                </a:lnTo>
                <a:lnTo>
                  <a:pt x="1153668" y="0"/>
                </a:lnTo>
                <a:lnTo>
                  <a:pt x="0" y="0"/>
                </a:lnTo>
                <a:lnTo>
                  <a:pt x="0" y="6095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3" name="Freeform 603"/>
          <p:cNvSpPr/>
          <p:nvPr/>
        </p:nvSpPr>
        <p:spPr>
          <a:xfrm rot="0" flipH="0" flipV="0">
            <a:off x="7135114" y="6813551"/>
            <a:ext cx="6096" cy="6095"/>
          </a:xfrm>
          <a:custGeom>
            <a:pathLst>
              <a:path w="6096" h="6095">
                <a:moveTo>
                  <a:pt x="0" y="6095"/>
                </a:moveTo>
                <a:lnTo>
                  <a:pt x="6096" y="6095"/>
                </a:lnTo>
                <a:lnTo>
                  <a:pt x="6096" y="0"/>
                </a:lnTo>
                <a:lnTo>
                  <a:pt x="0" y="0"/>
                </a:lnTo>
                <a:lnTo>
                  <a:pt x="0" y="6095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4" name="Freeform 604"/>
          <p:cNvSpPr/>
          <p:nvPr/>
        </p:nvSpPr>
        <p:spPr>
          <a:xfrm rot="0" flipH="0" flipV="0">
            <a:off x="362711" y="6819647"/>
            <a:ext cx="6096" cy="146304"/>
          </a:xfrm>
          <a:custGeom>
            <a:pathLst>
              <a:path w="6096" h="146304">
                <a:moveTo>
                  <a:pt x="0" y="146304"/>
                </a:moveTo>
                <a:lnTo>
                  <a:pt x="6096" y="146304"/>
                </a:lnTo>
                <a:lnTo>
                  <a:pt x="6096" y="0"/>
                </a:lnTo>
                <a:lnTo>
                  <a:pt x="0" y="0"/>
                </a:lnTo>
                <a:lnTo>
                  <a:pt x="0" y="146304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5" name="Freeform 605"/>
          <p:cNvSpPr/>
          <p:nvPr/>
        </p:nvSpPr>
        <p:spPr>
          <a:xfrm rot="0" flipH="0" flipV="0">
            <a:off x="2702686" y="6819647"/>
            <a:ext cx="6096" cy="146304"/>
          </a:xfrm>
          <a:custGeom>
            <a:pathLst>
              <a:path w="6096" h="146304">
                <a:moveTo>
                  <a:pt x="0" y="146304"/>
                </a:moveTo>
                <a:lnTo>
                  <a:pt x="6096" y="146304"/>
                </a:lnTo>
                <a:lnTo>
                  <a:pt x="6096" y="0"/>
                </a:lnTo>
                <a:lnTo>
                  <a:pt x="0" y="0"/>
                </a:lnTo>
                <a:lnTo>
                  <a:pt x="0" y="146304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6" name="Freeform 606"/>
          <p:cNvSpPr/>
          <p:nvPr/>
        </p:nvSpPr>
        <p:spPr>
          <a:xfrm rot="0" flipH="0" flipV="0">
            <a:off x="3516503" y="6819647"/>
            <a:ext cx="6096" cy="146304"/>
          </a:xfrm>
          <a:custGeom>
            <a:pathLst>
              <a:path w="6096" h="146304">
                <a:moveTo>
                  <a:pt x="0" y="146304"/>
                </a:moveTo>
                <a:lnTo>
                  <a:pt x="6096" y="146304"/>
                </a:lnTo>
                <a:lnTo>
                  <a:pt x="6096" y="0"/>
                </a:lnTo>
                <a:lnTo>
                  <a:pt x="0" y="0"/>
                </a:lnTo>
                <a:lnTo>
                  <a:pt x="0" y="146304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7" name="Freeform 607"/>
          <p:cNvSpPr/>
          <p:nvPr/>
        </p:nvSpPr>
        <p:spPr>
          <a:xfrm rot="0" flipH="0" flipV="0">
            <a:off x="4714621" y="6819647"/>
            <a:ext cx="6096" cy="146304"/>
          </a:xfrm>
          <a:custGeom>
            <a:pathLst>
              <a:path w="6096" h="146304">
                <a:moveTo>
                  <a:pt x="0" y="146304"/>
                </a:moveTo>
                <a:lnTo>
                  <a:pt x="6096" y="146304"/>
                </a:lnTo>
                <a:lnTo>
                  <a:pt x="6096" y="0"/>
                </a:lnTo>
                <a:lnTo>
                  <a:pt x="0" y="0"/>
                </a:lnTo>
                <a:lnTo>
                  <a:pt x="0" y="146304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8" name="Freeform 608"/>
          <p:cNvSpPr/>
          <p:nvPr/>
        </p:nvSpPr>
        <p:spPr>
          <a:xfrm rot="0" flipH="0" flipV="0">
            <a:off x="5975350" y="6819647"/>
            <a:ext cx="6096" cy="146304"/>
          </a:xfrm>
          <a:custGeom>
            <a:pathLst>
              <a:path w="6096" h="146304">
                <a:moveTo>
                  <a:pt x="0" y="146304"/>
                </a:moveTo>
                <a:lnTo>
                  <a:pt x="6096" y="146304"/>
                </a:lnTo>
                <a:lnTo>
                  <a:pt x="6096" y="0"/>
                </a:lnTo>
                <a:lnTo>
                  <a:pt x="0" y="0"/>
                </a:lnTo>
                <a:lnTo>
                  <a:pt x="0" y="146304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9" name="Freeform 609"/>
          <p:cNvSpPr/>
          <p:nvPr/>
        </p:nvSpPr>
        <p:spPr>
          <a:xfrm rot="0" flipH="0" flipV="0">
            <a:off x="7135114" y="6819647"/>
            <a:ext cx="6096" cy="146304"/>
          </a:xfrm>
          <a:custGeom>
            <a:pathLst>
              <a:path w="6096" h="146304">
                <a:moveTo>
                  <a:pt x="0" y="146304"/>
                </a:moveTo>
                <a:lnTo>
                  <a:pt x="6096" y="146304"/>
                </a:lnTo>
                <a:lnTo>
                  <a:pt x="6096" y="0"/>
                </a:lnTo>
                <a:lnTo>
                  <a:pt x="0" y="0"/>
                </a:lnTo>
                <a:lnTo>
                  <a:pt x="0" y="146304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0" name="Freeform 610"/>
          <p:cNvSpPr/>
          <p:nvPr/>
        </p:nvSpPr>
        <p:spPr>
          <a:xfrm rot="0" flipH="0" flipV="0">
            <a:off x="362711" y="6965951"/>
            <a:ext cx="6096" cy="6095"/>
          </a:xfrm>
          <a:custGeom>
            <a:pathLst>
              <a:path w="6096" h="6095">
                <a:moveTo>
                  <a:pt x="0" y="6095"/>
                </a:moveTo>
                <a:lnTo>
                  <a:pt x="6096" y="6095"/>
                </a:lnTo>
                <a:lnTo>
                  <a:pt x="6096" y="0"/>
                </a:lnTo>
                <a:lnTo>
                  <a:pt x="0" y="0"/>
                </a:lnTo>
                <a:lnTo>
                  <a:pt x="0" y="6095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1" name="Freeform 611"/>
          <p:cNvSpPr/>
          <p:nvPr/>
        </p:nvSpPr>
        <p:spPr>
          <a:xfrm rot="0" flipH="0" flipV="0">
            <a:off x="368808" y="6965951"/>
            <a:ext cx="2333879" cy="6095"/>
          </a:xfrm>
          <a:custGeom>
            <a:pathLst>
              <a:path w="2333879" h="6095">
                <a:moveTo>
                  <a:pt x="0" y="6095"/>
                </a:moveTo>
                <a:lnTo>
                  <a:pt x="2333879" y="6095"/>
                </a:lnTo>
                <a:lnTo>
                  <a:pt x="2333879" y="0"/>
                </a:lnTo>
                <a:lnTo>
                  <a:pt x="0" y="0"/>
                </a:lnTo>
                <a:lnTo>
                  <a:pt x="0" y="6095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2" name="Freeform 612"/>
          <p:cNvSpPr/>
          <p:nvPr/>
        </p:nvSpPr>
        <p:spPr>
          <a:xfrm rot="0" flipH="0" flipV="0">
            <a:off x="2702686" y="6965951"/>
            <a:ext cx="6096" cy="6095"/>
          </a:xfrm>
          <a:custGeom>
            <a:pathLst>
              <a:path w="6096" h="6095">
                <a:moveTo>
                  <a:pt x="0" y="6095"/>
                </a:moveTo>
                <a:lnTo>
                  <a:pt x="6096" y="6095"/>
                </a:lnTo>
                <a:lnTo>
                  <a:pt x="6096" y="0"/>
                </a:lnTo>
                <a:lnTo>
                  <a:pt x="0" y="0"/>
                </a:lnTo>
                <a:lnTo>
                  <a:pt x="0" y="6095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3" name="Freeform 613"/>
          <p:cNvSpPr/>
          <p:nvPr/>
        </p:nvSpPr>
        <p:spPr>
          <a:xfrm rot="0" flipH="0" flipV="0">
            <a:off x="3516503" y="6965951"/>
            <a:ext cx="6096" cy="6095"/>
          </a:xfrm>
          <a:custGeom>
            <a:pathLst>
              <a:path w="6096" h="6095">
                <a:moveTo>
                  <a:pt x="0" y="6095"/>
                </a:moveTo>
                <a:lnTo>
                  <a:pt x="6096" y="6095"/>
                </a:lnTo>
                <a:lnTo>
                  <a:pt x="6096" y="0"/>
                </a:lnTo>
                <a:lnTo>
                  <a:pt x="0" y="0"/>
                </a:lnTo>
                <a:lnTo>
                  <a:pt x="0" y="6095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4" name="Freeform 614"/>
          <p:cNvSpPr/>
          <p:nvPr/>
        </p:nvSpPr>
        <p:spPr>
          <a:xfrm rot="0" flipH="0" flipV="0">
            <a:off x="4714621" y="6965951"/>
            <a:ext cx="6096" cy="6095"/>
          </a:xfrm>
          <a:custGeom>
            <a:pathLst>
              <a:path w="6096" h="6095">
                <a:moveTo>
                  <a:pt x="0" y="6095"/>
                </a:moveTo>
                <a:lnTo>
                  <a:pt x="6096" y="6095"/>
                </a:lnTo>
                <a:lnTo>
                  <a:pt x="6096" y="0"/>
                </a:lnTo>
                <a:lnTo>
                  <a:pt x="0" y="0"/>
                </a:lnTo>
                <a:lnTo>
                  <a:pt x="0" y="6095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5" name="Freeform 615"/>
          <p:cNvSpPr/>
          <p:nvPr/>
        </p:nvSpPr>
        <p:spPr>
          <a:xfrm rot="0" flipH="0" flipV="0">
            <a:off x="5975350" y="6965951"/>
            <a:ext cx="6096" cy="6095"/>
          </a:xfrm>
          <a:custGeom>
            <a:pathLst>
              <a:path w="6096" h="6095">
                <a:moveTo>
                  <a:pt x="0" y="6095"/>
                </a:moveTo>
                <a:lnTo>
                  <a:pt x="6096" y="6095"/>
                </a:lnTo>
                <a:lnTo>
                  <a:pt x="6096" y="0"/>
                </a:lnTo>
                <a:lnTo>
                  <a:pt x="0" y="0"/>
                </a:lnTo>
                <a:lnTo>
                  <a:pt x="0" y="6095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6" name="Freeform 616"/>
          <p:cNvSpPr/>
          <p:nvPr/>
        </p:nvSpPr>
        <p:spPr>
          <a:xfrm rot="0" flipH="0" flipV="0">
            <a:off x="7135114" y="6965951"/>
            <a:ext cx="6096" cy="6095"/>
          </a:xfrm>
          <a:custGeom>
            <a:pathLst>
              <a:path w="6096" h="6095">
                <a:moveTo>
                  <a:pt x="0" y="6095"/>
                </a:moveTo>
                <a:lnTo>
                  <a:pt x="6096" y="6095"/>
                </a:lnTo>
                <a:lnTo>
                  <a:pt x="6096" y="0"/>
                </a:lnTo>
                <a:lnTo>
                  <a:pt x="0" y="0"/>
                </a:lnTo>
                <a:lnTo>
                  <a:pt x="0" y="6095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7" name="Freeform 617"/>
          <p:cNvSpPr/>
          <p:nvPr/>
        </p:nvSpPr>
        <p:spPr>
          <a:xfrm rot="0" flipH="0" flipV="0">
            <a:off x="362711" y="6972047"/>
            <a:ext cx="6096" cy="146304"/>
          </a:xfrm>
          <a:custGeom>
            <a:pathLst>
              <a:path w="6096" h="146304">
                <a:moveTo>
                  <a:pt x="0" y="146304"/>
                </a:moveTo>
                <a:lnTo>
                  <a:pt x="6096" y="146304"/>
                </a:lnTo>
                <a:lnTo>
                  <a:pt x="6096" y="0"/>
                </a:lnTo>
                <a:lnTo>
                  <a:pt x="0" y="0"/>
                </a:lnTo>
                <a:lnTo>
                  <a:pt x="0" y="146304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8" name="Freeform 618"/>
          <p:cNvSpPr/>
          <p:nvPr/>
        </p:nvSpPr>
        <p:spPr>
          <a:xfrm rot="0" flipH="0" flipV="0">
            <a:off x="2702686" y="6972047"/>
            <a:ext cx="6096" cy="146304"/>
          </a:xfrm>
          <a:custGeom>
            <a:pathLst>
              <a:path w="6096" h="146304">
                <a:moveTo>
                  <a:pt x="0" y="146304"/>
                </a:moveTo>
                <a:lnTo>
                  <a:pt x="6096" y="146304"/>
                </a:lnTo>
                <a:lnTo>
                  <a:pt x="6096" y="0"/>
                </a:lnTo>
                <a:lnTo>
                  <a:pt x="0" y="0"/>
                </a:lnTo>
                <a:lnTo>
                  <a:pt x="0" y="146304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9" name="Freeform 619"/>
          <p:cNvSpPr/>
          <p:nvPr/>
        </p:nvSpPr>
        <p:spPr>
          <a:xfrm rot="0" flipH="0" flipV="0">
            <a:off x="3516503" y="6972047"/>
            <a:ext cx="6096" cy="146304"/>
          </a:xfrm>
          <a:custGeom>
            <a:pathLst>
              <a:path w="6096" h="146304">
                <a:moveTo>
                  <a:pt x="0" y="146304"/>
                </a:moveTo>
                <a:lnTo>
                  <a:pt x="6096" y="146304"/>
                </a:lnTo>
                <a:lnTo>
                  <a:pt x="6096" y="0"/>
                </a:lnTo>
                <a:lnTo>
                  <a:pt x="0" y="0"/>
                </a:lnTo>
                <a:lnTo>
                  <a:pt x="0" y="146304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0" name="Freeform 620"/>
          <p:cNvSpPr/>
          <p:nvPr/>
        </p:nvSpPr>
        <p:spPr>
          <a:xfrm rot="0" flipH="0" flipV="0">
            <a:off x="4714621" y="6972047"/>
            <a:ext cx="6096" cy="146304"/>
          </a:xfrm>
          <a:custGeom>
            <a:pathLst>
              <a:path w="6096" h="146304">
                <a:moveTo>
                  <a:pt x="0" y="146304"/>
                </a:moveTo>
                <a:lnTo>
                  <a:pt x="6096" y="146304"/>
                </a:lnTo>
                <a:lnTo>
                  <a:pt x="6096" y="0"/>
                </a:lnTo>
                <a:lnTo>
                  <a:pt x="0" y="0"/>
                </a:lnTo>
                <a:lnTo>
                  <a:pt x="0" y="146304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1" name="Freeform 621"/>
          <p:cNvSpPr/>
          <p:nvPr/>
        </p:nvSpPr>
        <p:spPr>
          <a:xfrm rot="0" flipH="0" flipV="0">
            <a:off x="5975350" y="6972047"/>
            <a:ext cx="6096" cy="146304"/>
          </a:xfrm>
          <a:custGeom>
            <a:pathLst>
              <a:path w="6096" h="146304">
                <a:moveTo>
                  <a:pt x="0" y="146304"/>
                </a:moveTo>
                <a:lnTo>
                  <a:pt x="6096" y="146304"/>
                </a:lnTo>
                <a:lnTo>
                  <a:pt x="6096" y="0"/>
                </a:lnTo>
                <a:lnTo>
                  <a:pt x="0" y="0"/>
                </a:lnTo>
                <a:lnTo>
                  <a:pt x="0" y="146304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2" name="Freeform 622"/>
          <p:cNvSpPr/>
          <p:nvPr/>
        </p:nvSpPr>
        <p:spPr>
          <a:xfrm rot="0" flipH="0" flipV="0">
            <a:off x="7135114" y="6972047"/>
            <a:ext cx="6096" cy="146304"/>
          </a:xfrm>
          <a:custGeom>
            <a:pathLst>
              <a:path w="6096" h="146304">
                <a:moveTo>
                  <a:pt x="0" y="146304"/>
                </a:moveTo>
                <a:lnTo>
                  <a:pt x="6096" y="146304"/>
                </a:lnTo>
                <a:lnTo>
                  <a:pt x="6096" y="0"/>
                </a:lnTo>
                <a:lnTo>
                  <a:pt x="0" y="0"/>
                </a:lnTo>
                <a:lnTo>
                  <a:pt x="0" y="146304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3" name="Freeform 623"/>
          <p:cNvSpPr/>
          <p:nvPr/>
        </p:nvSpPr>
        <p:spPr>
          <a:xfrm rot="0" flipH="0" flipV="0">
            <a:off x="362711" y="7118351"/>
            <a:ext cx="6096" cy="6095"/>
          </a:xfrm>
          <a:custGeom>
            <a:pathLst>
              <a:path w="6096" h="6095">
                <a:moveTo>
                  <a:pt x="0" y="6095"/>
                </a:moveTo>
                <a:lnTo>
                  <a:pt x="6096" y="6095"/>
                </a:lnTo>
                <a:lnTo>
                  <a:pt x="6096" y="0"/>
                </a:lnTo>
                <a:lnTo>
                  <a:pt x="0" y="0"/>
                </a:lnTo>
                <a:lnTo>
                  <a:pt x="0" y="6095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4" name="Freeform 624"/>
          <p:cNvSpPr/>
          <p:nvPr/>
        </p:nvSpPr>
        <p:spPr>
          <a:xfrm rot="0" flipH="0" flipV="0">
            <a:off x="368808" y="7118351"/>
            <a:ext cx="2333879" cy="6095"/>
          </a:xfrm>
          <a:custGeom>
            <a:pathLst>
              <a:path w="2333879" h="6095">
                <a:moveTo>
                  <a:pt x="0" y="6095"/>
                </a:moveTo>
                <a:lnTo>
                  <a:pt x="2333879" y="6095"/>
                </a:lnTo>
                <a:lnTo>
                  <a:pt x="2333879" y="0"/>
                </a:lnTo>
                <a:lnTo>
                  <a:pt x="0" y="0"/>
                </a:lnTo>
                <a:lnTo>
                  <a:pt x="0" y="6095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5" name="Freeform 625"/>
          <p:cNvSpPr/>
          <p:nvPr/>
        </p:nvSpPr>
        <p:spPr>
          <a:xfrm rot="0" flipH="0" flipV="0">
            <a:off x="2702686" y="7118351"/>
            <a:ext cx="6096" cy="6095"/>
          </a:xfrm>
          <a:custGeom>
            <a:pathLst>
              <a:path w="6096" h="6095">
                <a:moveTo>
                  <a:pt x="0" y="6095"/>
                </a:moveTo>
                <a:lnTo>
                  <a:pt x="6096" y="6095"/>
                </a:lnTo>
                <a:lnTo>
                  <a:pt x="6096" y="0"/>
                </a:lnTo>
                <a:lnTo>
                  <a:pt x="0" y="0"/>
                </a:lnTo>
                <a:lnTo>
                  <a:pt x="0" y="6095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6" name="Freeform 626"/>
          <p:cNvSpPr/>
          <p:nvPr/>
        </p:nvSpPr>
        <p:spPr>
          <a:xfrm rot="0" flipH="0" flipV="0">
            <a:off x="3516503" y="7118351"/>
            <a:ext cx="6096" cy="6095"/>
          </a:xfrm>
          <a:custGeom>
            <a:pathLst>
              <a:path w="6096" h="6095">
                <a:moveTo>
                  <a:pt x="0" y="6095"/>
                </a:moveTo>
                <a:lnTo>
                  <a:pt x="6096" y="6095"/>
                </a:lnTo>
                <a:lnTo>
                  <a:pt x="6096" y="0"/>
                </a:lnTo>
                <a:lnTo>
                  <a:pt x="0" y="0"/>
                </a:lnTo>
                <a:lnTo>
                  <a:pt x="0" y="6095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7" name="Freeform 627"/>
          <p:cNvSpPr/>
          <p:nvPr/>
        </p:nvSpPr>
        <p:spPr>
          <a:xfrm rot="0" flipH="0" flipV="0">
            <a:off x="4714621" y="7118351"/>
            <a:ext cx="6096" cy="6095"/>
          </a:xfrm>
          <a:custGeom>
            <a:pathLst>
              <a:path w="6096" h="6095">
                <a:moveTo>
                  <a:pt x="0" y="6095"/>
                </a:moveTo>
                <a:lnTo>
                  <a:pt x="6096" y="6095"/>
                </a:lnTo>
                <a:lnTo>
                  <a:pt x="6096" y="0"/>
                </a:lnTo>
                <a:lnTo>
                  <a:pt x="0" y="0"/>
                </a:lnTo>
                <a:lnTo>
                  <a:pt x="0" y="6095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8" name="Freeform 628"/>
          <p:cNvSpPr/>
          <p:nvPr/>
        </p:nvSpPr>
        <p:spPr>
          <a:xfrm rot="0" flipH="0" flipV="0">
            <a:off x="5975350" y="7118351"/>
            <a:ext cx="6096" cy="6095"/>
          </a:xfrm>
          <a:custGeom>
            <a:pathLst>
              <a:path w="6096" h="6095">
                <a:moveTo>
                  <a:pt x="0" y="6095"/>
                </a:moveTo>
                <a:lnTo>
                  <a:pt x="6096" y="6095"/>
                </a:lnTo>
                <a:lnTo>
                  <a:pt x="6096" y="0"/>
                </a:lnTo>
                <a:lnTo>
                  <a:pt x="0" y="0"/>
                </a:lnTo>
                <a:lnTo>
                  <a:pt x="0" y="6095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9" name="Freeform 629"/>
          <p:cNvSpPr/>
          <p:nvPr/>
        </p:nvSpPr>
        <p:spPr>
          <a:xfrm rot="0" flipH="0" flipV="0">
            <a:off x="7135114" y="7118351"/>
            <a:ext cx="6096" cy="6095"/>
          </a:xfrm>
          <a:custGeom>
            <a:pathLst>
              <a:path w="6096" h="6095">
                <a:moveTo>
                  <a:pt x="0" y="6095"/>
                </a:moveTo>
                <a:lnTo>
                  <a:pt x="6096" y="6095"/>
                </a:lnTo>
                <a:lnTo>
                  <a:pt x="6096" y="0"/>
                </a:lnTo>
                <a:lnTo>
                  <a:pt x="0" y="0"/>
                </a:lnTo>
                <a:lnTo>
                  <a:pt x="0" y="6095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0" name="Freeform 630"/>
          <p:cNvSpPr/>
          <p:nvPr/>
        </p:nvSpPr>
        <p:spPr>
          <a:xfrm rot="0" flipH="0" flipV="0">
            <a:off x="362711" y="7124447"/>
            <a:ext cx="6096" cy="146304"/>
          </a:xfrm>
          <a:custGeom>
            <a:pathLst>
              <a:path w="6096" h="146304">
                <a:moveTo>
                  <a:pt x="0" y="146304"/>
                </a:moveTo>
                <a:lnTo>
                  <a:pt x="6096" y="146304"/>
                </a:lnTo>
                <a:lnTo>
                  <a:pt x="6096" y="0"/>
                </a:lnTo>
                <a:lnTo>
                  <a:pt x="0" y="0"/>
                </a:lnTo>
                <a:lnTo>
                  <a:pt x="0" y="146304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1" name="Freeform 631"/>
          <p:cNvSpPr/>
          <p:nvPr/>
        </p:nvSpPr>
        <p:spPr>
          <a:xfrm rot="0" flipH="0" flipV="0">
            <a:off x="2702686" y="7124447"/>
            <a:ext cx="6096" cy="146304"/>
          </a:xfrm>
          <a:custGeom>
            <a:pathLst>
              <a:path w="6096" h="146304">
                <a:moveTo>
                  <a:pt x="0" y="146304"/>
                </a:moveTo>
                <a:lnTo>
                  <a:pt x="6096" y="146304"/>
                </a:lnTo>
                <a:lnTo>
                  <a:pt x="6096" y="0"/>
                </a:lnTo>
                <a:lnTo>
                  <a:pt x="0" y="0"/>
                </a:lnTo>
                <a:lnTo>
                  <a:pt x="0" y="146304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2" name="Freeform 632"/>
          <p:cNvSpPr/>
          <p:nvPr/>
        </p:nvSpPr>
        <p:spPr>
          <a:xfrm rot="0" flipH="0" flipV="0">
            <a:off x="3516503" y="7124447"/>
            <a:ext cx="6096" cy="146304"/>
          </a:xfrm>
          <a:custGeom>
            <a:pathLst>
              <a:path w="6096" h="146304">
                <a:moveTo>
                  <a:pt x="0" y="146304"/>
                </a:moveTo>
                <a:lnTo>
                  <a:pt x="6096" y="146304"/>
                </a:lnTo>
                <a:lnTo>
                  <a:pt x="6096" y="0"/>
                </a:lnTo>
                <a:lnTo>
                  <a:pt x="0" y="0"/>
                </a:lnTo>
                <a:lnTo>
                  <a:pt x="0" y="146304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3" name="Freeform 633"/>
          <p:cNvSpPr/>
          <p:nvPr/>
        </p:nvSpPr>
        <p:spPr>
          <a:xfrm rot="0" flipH="0" flipV="0">
            <a:off x="4714621" y="7124447"/>
            <a:ext cx="6096" cy="146304"/>
          </a:xfrm>
          <a:custGeom>
            <a:pathLst>
              <a:path w="6096" h="146304">
                <a:moveTo>
                  <a:pt x="0" y="146304"/>
                </a:moveTo>
                <a:lnTo>
                  <a:pt x="6096" y="146304"/>
                </a:lnTo>
                <a:lnTo>
                  <a:pt x="6096" y="0"/>
                </a:lnTo>
                <a:lnTo>
                  <a:pt x="0" y="0"/>
                </a:lnTo>
                <a:lnTo>
                  <a:pt x="0" y="146304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4" name="Freeform 634"/>
          <p:cNvSpPr/>
          <p:nvPr/>
        </p:nvSpPr>
        <p:spPr>
          <a:xfrm rot="0" flipH="0" flipV="0">
            <a:off x="5975350" y="7124447"/>
            <a:ext cx="6096" cy="146304"/>
          </a:xfrm>
          <a:custGeom>
            <a:pathLst>
              <a:path w="6096" h="146304">
                <a:moveTo>
                  <a:pt x="0" y="146304"/>
                </a:moveTo>
                <a:lnTo>
                  <a:pt x="6096" y="146304"/>
                </a:lnTo>
                <a:lnTo>
                  <a:pt x="6096" y="0"/>
                </a:lnTo>
                <a:lnTo>
                  <a:pt x="0" y="0"/>
                </a:lnTo>
                <a:lnTo>
                  <a:pt x="0" y="146304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5" name="Freeform 635"/>
          <p:cNvSpPr/>
          <p:nvPr/>
        </p:nvSpPr>
        <p:spPr>
          <a:xfrm rot="0" flipH="0" flipV="0">
            <a:off x="7135114" y="7124447"/>
            <a:ext cx="6096" cy="146304"/>
          </a:xfrm>
          <a:custGeom>
            <a:pathLst>
              <a:path w="6096" h="146304">
                <a:moveTo>
                  <a:pt x="0" y="146304"/>
                </a:moveTo>
                <a:lnTo>
                  <a:pt x="6096" y="146304"/>
                </a:lnTo>
                <a:lnTo>
                  <a:pt x="6096" y="0"/>
                </a:lnTo>
                <a:lnTo>
                  <a:pt x="0" y="0"/>
                </a:lnTo>
                <a:lnTo>
                  <a:pt x="0" y="146304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6" name="Freeform 636"/>
          <p:cNvSpPr/>
          <p:nvPr/>
        </p:nvSpPr>
        <p:spPr>
          <a:xfrm rot="0" flipH="0" flipV="0">
            <a:off x="362711" y="7270751"/>
            <a:ext cx="6096" cy="6095"/>
          </a:xfrm>
          <a:custGeom>
            <a:pathLst>
              <a:path w="6096" h="6095">
                <a:moveTo>
                  <a:pt x="0" y="6095"/>
                </a:moveTo>
                <a:lnTo>
                  <a:pt x="6096" y="6095"/>
                </a:lnTo>
                <a:lnTo>
                  <a:pt x="6096" y="0"/>
                </a:lnTo>
                <a:lnTo>
                  <a:pt x="0" y="0"/>
                </a:lnTo>
                <a:lnTo>
                  <a:pt x="0" y="6095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7" name="Freeform 637"/>
          <p:cNvSpPr/>
          <p:nvPr/>
        </p:nvSpPr>
        <p:spPr>
          <a:xfrm rot="0" flipH="0" flipV="0">
            <a:off x="368808" y="7270751"/>
            <a:ext cx="2333879" cy="6095"/>
          </a:xfrm>
          <a:custGeom>
            <a:pathLst>
              <a:path w="2333879" h="6095">
                <a:moveTo>
                  <a:pt x="0" y="6095"/>
                </a:moveTo>
                <a:lnTo>
                  <a:pt x="2333879" y="6095"/>
                </a:lnTo>
                <a:lnTo>
                  <a:pt x="2333879" y="0"/>
                </a:lnTo>
                <a:lnTo>
                  <a:pt x="0" y="0"/>
                </a:lnTo>
                <a:lnTo>
                  <a:pt x="0" y="6095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8" name="Freeform 638"/>
          <p:cNvSpPr/>
          <p:nvPr/>
        </p:nvSpPr>
        <p:spPr>
          <a:xfrm rot="0" flipH="0" flipV="0">
            <a:off x="2702686" y="7270751"/>
            <a:ext cx="6096" cy="6095"/>
          </a:xfrm>
          <a:custGeom>
            <a:pathLst>
              <a:path w="6096" h="6095">
                <a:moveTo>
                  <a:pt x="0" y="6095"/>
                </a:moveTo>
                <a:lnTo>
                  <a:pt x="6096" y="6095"/>
                </a:lnTo>
                <a:lnTo>
                  <a:pt x="6096" y="0"/>
                </a:lnTo>
                <a:lnTo>
                  <a:pt x="0" y="0"/>
                </a:lnTo>
                <a:lnTo>
                  <a:pt x="0" y="6095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9" name="Freeform 639"/>
          <p:cNvSpPr/>
          <p:nvPr/>
        </p:nvSpPr>
        <p:spPr>
          <a:xfrm rot="0" flipH="0" flipV="0">
            <a:off x="3516503" y="7270751"/>
            <a:ext cx="6096" cy="6095"/>
          </a:xfrm>
          <a:custGeom>
            <a:pathLst>
              <a:path w="6096" h="6095">
                <a:moveTo>
                  <a:pt x="0" y="6095"/>
                </a:moveTo>
                <a:lnTo>
                  <a:pt x="6096" y="6095"/>
                </a:lnTo>
                <a:lnTo>
                  <a:pt x="6096" y="0"/>
                </a:lnTo>
                <a:lnTo>
                  <a:pt x="0" y="0"/>
                </a:lnTo>
                <a:lnTo>
                  <a:pt x="0" y="6095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0" name="Freeform 640"/>
          <p:cNvSpPr/>
          <p:nvPr/>
        </p:nvSpPr>
        <p:spPr>
          <a:xfrm rot="0" flipH="0" flipV="0">
            <a:off x="4714621" y="7270751"/>
            <a:ext cx="6096" cy="6095"/>
          </a:xfrm>
          <a:custGeom>
            <a:pathLst>
              <a:path w="6096" h="6095">
                <a:moveTo>
                  <a:pt x="0" y="6095"/>
                </a:moveTo>
                <a:lnTo>
                  <a:pt x="6096" y="6095"/>
                </a:lnTo>
                <a:lnTo>
                  <a:pt x="6096" y="0"/>
                </a:lnTo>
                <a:lnTo>
                  <a:pt x="0" y="0"/>
                </a:lnTo>
                <a:lnTo>
                  <a:pt x="0" y="6095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1" name="Freeform 641"/>
          <p:cNvSpPr/>
          <p:nvPr/>
        </p:nvSpPr>
        <p:spPr>
          <a:xfrm rot="0" flipH="0" flipV="0">
            <a:off x="5975350" y="7270751"/>
            <a:ext cx="6096" cy="6095"/>
          </a:xfrm>
          <a:custGeom>
            <a:pathLst>
              <a:path w="6096" h="6095">
                <a:moveTo>
                  <a:pt x="0" y="6095"/>
                </a:moveTo>
                <a:lnTo>
                  <a:pt x="6096" y="6095"/>
                </a:lnTo>
                <a:lnTo>
                  <a:pt x="6096" y="0"/>
                </a:lnTo>
                <a:lnTo>
                  <a:pt x="0" y="0"/>
                </a:lnTo>
                <a:lnTo>
                  <a:pt x="0" y="6095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2" name="Freeform 642"/>
          <p:cNvSpPr/>
          <p:nvPr/>
        </p:nvSpPr>
        <p:spPr>
          <a:xfrm rot="0" flipH="0" flipV="0">
            <a:off x="5981446" y="7270751"/>
            <a:ext cx="1153668" cy="6095"/>
          </a:xfrm>
          <a:custGeom>
            <a:pathLst>
              <a:path w="1153668" h="6095">
                <a:moveTo>
                  <a:pt x="0" y="6095"/>
                </a:moveTo>
                <a:lnTo>
                  <a:pt x="1153668" y="6095"/>
                </a:lnTo>
                <a:lnTo>
                  <a:pt x="1153668" y="0"/>
                </a:lnTo>
                <a:lnTo>
                  <a:pt x="0" y="0"/>
                </a:lnTo>
                <a:lnTo>
                  <a:pt x="0" y="6095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3" name="Freeform 643"/>
          <p:cNvSpPr/>
          <p:nvPr/>
        </p:nvSpPr>
        <p:spPr>
          <a:xfrm rot="0" flipH="0" flipV="0">
            <a:off x="7135114" y="7270751"/>
            <a:ext cx="6096" cy="6095"/>
          </a:xfrm>
          <a:custGeom>
            <a:pathLst>
              <a:path w="6096" h="6095">
                <a:moveTo>
                  <a:pt x="0" y="6095"/>
                </a:moveTo>
                <a:lnTo>
                  <a:pt x="6096" y="6095"/>
                </a:lnTo>
                <a:lnTo>
                  <a:pt x="6096" y="0"/>
                </a:lnTo>
                <a:lnTo>
                  <a:pt x="0" y="0"/>
                </a:lnTo>
                <a:lnTo>
                  <a:pt x="0" y="6095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4" name="Freeform 644"/>
          <p:cNvSpPr/>
          <p:nvPr/>
        </p:nvSpPr>
        <p:spPr>
          <a:xfrm rot="0" flipH="0" flipV="0">
            <a:off x="362711" y="7276847"/>
            <a:ext cx="6096" cy="146304"/>
          </a:xfrm>
          <a:custGeom>
            <a:pathLst>
              <a:path w="6096" h="146304">
                <a:moveTo>
                  <a:pt x="0" y="146304"/>
                </a:moveTo>
                <a:lnTo>
                  <a:pt x="6096" y="146304"/>
                </a:lnTo>
                <a:lnTo>
                  <a:pt x="6096" y="0"/>
                </a:lnTo>
                <a:lnTo>
                  <a:pt x="0" y="0"/>
                </a:lnTo>
                <a:lnTo>
                  <a:pt x="0" y="146304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5" name="Freeform 645"/>
          <p:cNvSpPr/>
          <p:nvPr/>
        </p:nvSpPr>
        <p:spPr>
          <a:xfrm rot="0" flipH="0" flipV="0">
            <a:off x="2702686" y="7276847"/>
            <a:ext cx="6096" cy="146304"/>
          </a:xfrm>
          <a:custGeom>
            <a:pathLst>
              <a:path w="6096" h="146304">
                <a:moveTo>
                  <a:pt x="0" y="146304"/>
                </a:moveTo>
                <a:lnTo>
                  <a:pt x="6096" y="146304"/>
                </a:lnTo>
                <a:lnTo>
                  <a:pt x="6096" y="0"/>
                </a:lnTo>
                <a:lnTo>
                  <a:pt x="0" y="0"/>
                </a:lnTo>
                <a:lnTo>
                  <a:pt x="0" y="146304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6" name="Freeform 646"/>
          <p:cNvSpPr/>
          <p:nvPr/>
        </p:nvSpPr>
        <p:spPr>
          <a:xfrm rot="0" flipH="0" flipV="0">
            <a:off x="3516503" y="7276847"/>
            <a:ext cx="6096" cy="146304"/>
          </a:xfrm>
          <a:custGeom>
            <a:pathLst>
              <a:path w="6096" h="146304">
                <a:moveTo>
                  <a:pt x="0" y="146304"/>
                </a:moveTo>
                <a:lnTo>
                  <a:pt x="6096" y="146304"/>
                </a:lnTo>
                <a:lnTo>
                  <a:pt x="6096" y="0"/>
                </a:lnTo>
                <a:lnTo>
                  <a:pt x="0" y="0"/>
                </a:lnTo>
                <a:lnTo>
                  <a:pt x="0" y="146304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7" name="Freeform 647"/>
          <p:cNvSpPr/>
          <p:nvPr/>
        </p:nvSpPr>
        <p:spPr>
          <a:xfrm rot="0" flipH="0" flipV="0">
            <a:off x="4714621" y="7276847"/>
            <a:ext cx="6096" cy="146304"/>
          </a:xfrm>
          <a:custGeom>
            <a:pathLst>
              <a:path w="6096" h="146304">
                <a:moveTo>
                  <a:pt x="0" y="146304"/>
                </a:moveTo>
                <a:lnTo>
                  <a:pt x="6096" y="146304"/>
                </a:lnTo>
                <a:lnTo>
                  <a:pt x="6096" y="0"/>
                </a:lnTo>
                <a:lnTo>
                  <a:pt x="0" y="0"/>
                </a:lnTo>
                <a:lnTo>
                  <a:pt x="0" y="146304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8" name="Freeform 648"/>
          <p:cNvSpPr/>
          <p:nvPr/>
        </p:nvSpPr>
        <p:spPr>
          <a:xfrm rot="0" flipH="0" flipV="0">
            <a:off x="5975350" y="7276847"/>
            <a:ext cx="6096" cy="146304"/>
          </a:xfrm>
          <a:custGeom>
            <a:pathLst>
              <a:path w="6096" h="146304">
                <a:moveTo>
                  <a:pt x="0" y="146304"/>
                </a:moveTo>
                <a:lnTo>
                  <a:pt x="6096" y="146304"/>
                </a:lnTo>
                <a:lnTo>
                  <a:pt x="6096" y="0"/>
                </a:lnTo>
                <a:lnTo>
                  <a:pt x="0" y="0"/>
                </a:lnTo>
                <a:lnTo>
                  <a:pt x="0" y="146304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9" name="Freeform 649"/>
          <p:cNvSpPr/>
          <p:nvPr/>
        </p:nvSpPr>
        <p:spPr>
          <a:xfrm rot="0" flipH="0" flipV="0">
            <a:off x="7135114" y="7276847"/>
            <a:ext cx="6096" cy="146304"/>
          </a:xfrm>
          <a:custGeom>
            <a:pathLst>
              <a:path w="6096" h="146304">
                <a:moveTo>
                  <a:pt x="0" y="146304"/>
                </a:moveTo>
                <a:lnTo>
                  <a:pt x="6096" y="146304"/>
                </a:lnTo>
                <a:lnTo>
                  <a:pt x="6096" y="0"/>
                </a:lnTo>
                <a:lnTo>
                  <a:pt x="0" y="0"/>
                </a:lnTo>
                <a:lnTo>
                  <a:pt x="0" y="146304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0" name="Freeform 650"/>
          <p:cNvSpPr/>
          <p:nvPr/>
        </p:nvSpPr>
        <p:spPr>
          <a:xfrm rot="0" flipH="0" flipV="0">
            <a:off x="362711" y="7423151"/>
            <a:ext cx="6096" cy="6095"/>
          </a:xfrm>
          <a:custGeom>
            <a:pathLst>
              <a:path w="6096" h="6095">
                <a:moveTo>
                  <a:pt x="0" y="6095"/>
                </a:moveTo>
                <a:lnTo>
                  <a:pt x="6096" y="6095"/>
                </a:lnTo>
                <a:lnTo>
                  <a:pt x="6096" y="0"/>
                </a:lnTo>
                <a:lnTo>
                  <a:pt x="0" y="0"/>
                </a:lnTo>
                <a:lnTo>
                  <a:pt x="0" y="6095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1" name="Freeform 651"/>
          <p:cNvSpPr/>
          <p:nvPr/>
        </p:nvSpPr>
        <p:spPr>
          <a:xfrm rot="0" flipH="0" flipV="0">
            <a:off x="368808" y="7423151"/>
            <a:ext cx="2333879" cy="6095"/>
          </a:xfrm>
          <a:custGeom>
            <a:pathLst>
              <a:path w="2333879" h="6095">
                <a:moveTo>
                  <a:pt x="0" y="6095"/>
                </a:moveTo>
                <a:lnTo>
                  <a:pt x="2333879" y="6095"/>
                </a:lnTo>
                <a:lnTo>
                  <a:pt x="2333879" y="0"/>
                </a:lnTo>
                <a:lnTo>
                  <a:pt x="0" y="0"/>
                </a:lnTo>
                <a:lnTo>
                  <a:pt x="0" y="6095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2" name="Freeform 652"/>
          <p:cNvSpPr/>
          <p:nvPr/>
        </p:nvSpPr>
        <p:spPr>
          <a:xfrm rot="0" flipH="0" flipV="0">
            <a:off x="2702686" y="7423151"/>
            <a:ext cx="6096" cy="6095"/>
          </a:xfrm>
          <a:custGeom>
            <a:pathLst>
              <a:path w="6096" h="6095">
                <a:moveTo>
                  <a:pt x="0" y="6095"/>
                </a:moveTo>
                <a:lnTo>
                  <a:pt x="6096" y="6095"/>
                </a:lnTo>
                <a:lnTo>
                  <a:pt x="6096" y="0"/>
                </a:lnTo>
                <a:lnTo>
                  <a:pt x="0" y="0"/>
                </a:lnTo>
                <a:lnTo>
                  <a:pt x="0" y="6095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3" name="Freeform 653"/>
          <p:cNvSpPr/>
          <p:nvPr/>
        </p:nvSpPr>
        <p:spPr>
          <a:xfrm rot="0" flipH="0" flipV="0">
            <a:off x="3516503" y="7423151"/>
            <a:ext cx="6096" cy="6095"/>
          </a:xfrm>
          <a:custGeom>
            <a:pathLst>
              <a:path w="6096" h="6095">
                <a:moveTo>
                  <a:pt x="0" y="6095"/>
                </a:moveTo>
                <a:lnTo>
                  <a:pt x="6096" y="6095"/>
                </a:lnTo>
                <a:lnTo>
                  <a:pt x="6096" y="0"/>
                </a:lnTo>
                <a:lnTo>
                  <a:pt x="0" y="0"/>
                </a:lnTo>
                <a:lnTo>
                  <a:pt x="0" y="6095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4" name="Freeform 654"/>
          <p:cNvSpPr/>
          <p:nvPr/>
        </p:nvSpPr>
        <p:spPr>
          <a:xfrm rot="0" flipH="0" flipV="0">
            <a:off x="4714621" y="7423151"/>
            <a:ext cx="6096" cy="6095"/>
          </a:xfrm>
          <a:custGeom>
            <a:pathLst>
              <a:path w="6096" h="6095">
                <a:moveTo>
                  <a:pt x="0" y="6095"/>
                </a:moveTo>
                <a:lnTo>
                  <a:pt x="6096" y="6095"/>
                </a:lnTo>
                <a:lnTo>
                  <a:pt x="6096" y="0"/>
                </a:lnTo>
                <a:lnTo>
                  <a:pt x="0" y="0"/>
                </a:lnTo>
                <a:lnTo>
                  <a:pt x="0" y="6095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5" name="Freeform 655"/>
          <p:cNvSpPr/>
          <p:nvPr/>
        </p:nvSpPr>
        <p:spPr>
          <a:xfrm rot="0" flipH="0" flipV="0">
            <a:off x="5975350" y="7423151"/>
            <a:ext cx="6096" cy="6095"/>
          </a:xfrm>
          <a:custGeom>
            <a:pathLst>
              <a:path w="6096" h="6095">
                <a:moveTo>
                  <a:pt x="0" y="6095"/>
                </a:moveTo>
                <a:lnTo>
                  <a:pt x="6096" y="6095"/>
                </a:lnTo>
                <a:lnTo>
                  <a:pt x="6096" y="0"/>
                </a:lnTo>
                <a:lnTo>
                  <a:pt x="0" y="0"/>
                </a:lnTo>
                <a:lnTo>
                  <a:pt x="0" y="6095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6" name="Freeform 656"/>
          <p:cNvSpPr/>
          <p:nvPr/>
        </p:nvSpPr>
        <p:spPr>
          <a:xfrm rot="0" flipH="0" flipV="0">
            <a:off x="5981446" y="7423151"/>
            <a:ext cx="1153668" cy="6095"/>
          </a:xfrm>
          <a:custGeom>
            <a:pathLst>
              <a:path w="1153668" h="6095">
                <a:moveTo>
                  <a:pt x="0" y="6095"/>
                </a:moveTo>
                <a:lnTo>
                  <a:pt x="1153668" y="6095"/>
                </a:lnTo>
                <a:lnTo>
                  <a:pt x="1153668" y="0"/>
                </a:lnTo>
                <a:lnTo>
                  <a:pt x="0" y="0"/>
                </a:lnTo>
                <a:lnTo>
                  <a:pt x="0" y="6095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7" name="Freeform 657"/>
          <p:cNvSpPr/>
          <p:nvPr/>
        </p:nvSpPr>
        <p:spPr>
          <a:xfrm rot="0" flipH="0" flipV="0">
            <a:off x="7135114" y="7423151"/>
            <a:ext cx="6096" cy="6095"/>
          </a:xfrm>
          <a:custGeom>
            <a:pathLst>
              <a:path w="6096" h="6095">
                <a:moveTo>
                  <a:pt x="0" y="6095"/>
                </a:moveTo>
                <a:lnTo>
                  <a:pt x="6096" y="6095"/>
                </a:lnTo>
                <a:lnTo>
                  <a:pt x="6096" y="0"/>
                </a:lnTo>
                <a:lnTo>
                  <a:pt x="0" y="0"/>
                </a:lnTo>
                <a:lnTo>
                  <a:pt x="0" y="6095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8" name="Freeform 658"/>
          <p:cNvSpPr/>
          <p:nvPr/>
        </p:nvSpPr>
        <p:spPr>
          <a:xfrm rot="0" flipH="0" flipV="0">
            <a:off x="362711" y="7429246"/>
            <a:ext cx="6096" cy="146304"/>
          </a:xfrm>
          <a:custGeom>
            <a:pathLst>
              <a:path w="6096" h="146304">
                <a:moveTo>
                  <a:pt x="0" y="146304"/>
                </a:moveTo>
                <a:lnTo>
                  <a:pt x="6096" y="146304"/>
                </a:lnTo>
                <a:lnTo>
                  <a:pt x="6096" y="0"/>
                </a:lnTo>
                <a:lnTo>
                  <a:pt x="0" y="0"/>
                </a:lnTo>
                <a:lnTo>
                  <a:pt x="0" y="146304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9" name="Freeform 659"/>
          <p:cNvSpPr/>
          <p:nvPr/>
        </p:nvSpPr>
        <p:spPr>
          <a:xfrm rot="0" flipH="0" flipV="0">
            <a:off x="2702686" y="7429246"/>
            <a:ext cx="6096" cy="146304"/>
          </a:xfrm>
          <a:custGeom>
            <a:pathLst>
              <a:path w="6096" h="146304">
                <a:moveTo>
                  <a:pt x="0" y="146304"/>
                </a:moveTo>
                <a:lnTo>
                  <a:pt x="6096" y="146304"/>
                </a:lnTo>
                <a:lnTo>
                  <a:pt x="6096" y="0"/>
                </a:lnTo>
                <a:lnTo>
                  <a:pt x="0" y="0"/>
                </a:lnTo>
                <a:lnTo>
                  <a:pt x="0" y="146304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0" name="Freeform 660"/>
          <p:cNvSpPr/>
          <p:nvPr/>
        </p:nvSpPr>
        <p:spPr>
          <a:xfrm rot="0" flipH="0" flipV="0">
            <a:off x="3516503" y="7429246"/>
            <a:ext cx="6096" cy="146304"/>
          </a:xfrm>
          <a:custGeom>
            <a:pathLst>
              <a:path w="6096" h="146304">
                <a:moveTo>
                  <a:pt x="0" y="146304"/>
                </a:moveTo>
                <a:lnTo>
                  <a:pt x="6096" y="146304"/>
                </a:lnTo>
                <a:lnTo>
                  <a:pt x="6096" y="0"/>
                </a:lnTo>
                <a:lnTo>
                  <a:pt x="0" y="0"/>
                </a:lnTo>
                <a:lnTo>
                  <a:pt x="0" y="146304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1" name="Freeform 661"/>
          <p:cNvSpPr/>
          <p:nvPr/>
        </p:nvSpPr>
        <p:spPr>
          <a:xfrm rot="0" flipH="0" flipV="0">
            <a:off x="4714621" y="7429246"/>
            <a:ext cx="6096" cy="146304"/>
          </a:xfrm>
          <a:custGeom>
            <a:pathLst>
              <a:path w="6096" h="146304">
                <a:moveTo>
                  <a:pt x="0" y="146304"/>
                </a:moveTo>
                <a:lnTo>
                  <a:pt x="6096" y="146304"/>
                </a:lnTo>
                <a:lnTo>
                  <a:pt x="6096" y="0"/>
                </a:lnTo>
                <a:lnTo>
                  <a:pt x="0" y="0"/>
                </a:lnTo>
                <a:lnTo>
                  <a:pt x="0" y="146304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2" name="Freeform 662"/>
          <p:cNvSpPr/>
          <p:nvPr/>
        </p:nvSpPr>
        <p:spPr>
          <a:xfrm rot="0" flipH="0" flipV="0">
            <a:off x="5975350" y="7429246"/>
            <a:ext cx="6096" cy="146304"/>
          </a:xfrm>
          <a:custGeom>
            <a:pathLst>
              <a:path w="6096" h="146304">
                <a:moveTo>
                  <a:pt x="0" y="146304"/>
                </a:moveTo>
                <a:lnTo>
                  <a:pt x="6096" y="146304"/>
                </a:lnTo>
                <a:lnTo>
                  <a:pt x="6096" y="0"/>
                </a:lnTo>
                <a:lnTo>
                  <a:pt x="0" y="0"/>
                </a:lnTo>
                <a:lnTo>
                  <a:pt x="0" y="146304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3" name="Freeform 663"/>
          <p:cNvSpPr/>
          <p:nvPr/>
        </p:nvSpPr>
        <p:spPr>
          <a:xfrm rot="0" flipH="0" flipV="0">
            <a:off x="7135114" y="7429246"/>
            <a:ext cx="6096" cy="146304"/>
          </a:xfrm>
          <a:custGeom>
            <a:pathLst>
              <a:path w="6096" h="146304">
                <a:moveTo>
                  <a:pt x="0" y="146304"/>
                </a:moveTo>
                <a:lnTo>
                  <a:pt x="6096" y="146304"/>
                </a:lnTo>
                <a:lnTo>
                  <a:pt x="6096" y="0"/>
                </a:lnTo>
                <a:lnTo>
                  <a:pt x="0" y="0"/>
                </a:lnTo>
                <a:lnTo>
                  <a:pt x="0" y="146304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4" name="Freeform 664"/>
          <p:cNvSpPr/>
          <p:nvPr/>
        </p:nvSpPr>
        <p:spPr>
          <a:xfrm rot="0" flipH="0" flipV="0">
            <a:off x="362711" y="7575551"/>
            <a:ext cx="6096" cy="6096"/>
          </a:xfrm>
          <a:custGeom>
            <a:pathLst>
              <a:path w="6096" h="6096">
                <a:moveTo>
                  <a:pt x="0" y="6096"/>
                </a:moveTo>
                <a:lnTo>
                  <a:pt x="6096" y="6096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5" name="Freeform 665"/>
          <p:cNvSpPr/>
          <p:nvPr/>
        </p:nvSpPr>
        <p:spPr>
          <a:xfrm rot="0" flipH="0" flipV="0">
            <a:off x="368808" y="7575551"/>
            <a:ext cx="2333879" cy="6096"/>
          </a:xfrm>
          <a:custGeom>
            <a:pathLst>
              <a:path w="2333879" h="6096">
                <a:moveTo>
                  <a:pt x="0" y="6096"/>
                </a:moveTo>
                <a:lnTo>
                  <a:pt x="2333879" y="6096"/>
                </a:lnTo>
                <a:lnTo>
                  <a:pt x="2333879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6" name="Freeform 666"/>
          <p:cNvSpPr/>
          <p:nvPr/>
        </p:nvSpPr>
        <p:spPr>
          <a:xfrm rot="0" flipH="0" flipV="0">
            <a:off x="2702686" y="7575551"/>
            <a:ext cx="6096" cy="6096"/>
          </a:xfrm>
          <a:custGeom>
            <a:pathLst>
              <a:path w="6096" h="6096">
                <a:moveTo>
                  <a:pt x="0" y="6096"/>
                </a:moveTo>
                <a:lnTo>
                  <a:pt x="6096" y="6096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7" name="Freeform 667"/>
          <p:cNvSpPr/>
          <p:nvPr/>
        </p:nvSpPr>
        <p:spPr>
          <a:xfrm rot="0" flipH="0" flipV="0">
            <a:off x="3516503" y="7575551"/>
            <a:ext cx="6096" cy="6096"/>
          </a:xfrm>
          <a:custGeom>
            <a:pathLst>
              <a:path w="6096" h="6096">
                <a:moveTo>
                  <a:pt x="0" y="6096"/>
                </a:moveTo>
                <a:lnTo>
                  <a:pt x="6096" y="6096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8" name="Freeform 668"/>
          <p:cNvSpPr/>
          <p:nvPr/>
        </p:nvSpPr>
        <p:spPr>
          <a:xfrm rot="0" flipH="0" flipV="0">
            <a:off x="4714621" y="7575551"/>
            <a:ext cx="6096" cy="6096"/>
          </a:xfrm>
          <a:custGeom>
            <a:pathLst>
              <a:path w="6096" h="6096">
                <a:moveTo>
                  <a:pt x="0" y="6096"/>
                </a:moveTo>
                <a:lnTo>
                  <a:pt x="6096" y="6096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9" name="Freeform 669"/>
          <p:cNvSpPr/>
          <p:nvPr/>
        </p:nvSpPr>
        <p:spPr>
          <a:xfrm rot="0" flipH="0" flipV="0">
            <a:off x="5975350" y="7575551"/>
            <a:ext cx="6096" cy="6096"/>
          </a:xfrm>
          <a:custGeom>
            <a:pathLst>
              <a:path w="6096" h="6096">
                <a:moveTo>
                  <a:pt x="0" y="6096"/>
                </a:moveTo>
                <a:lnTo>
                  <a:pt x="6096" y="6096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0" name="Freeform 670"/>
          <p:cNvSpPr/>
          <p:nvPr/>
        </p:nvSpPr>
        <p:spPr>
          <a:xfrm rot="0" flipH="0" flipV="0">
            <a:off x="5981446" y="7575551"/>
            <a:ext cx="1153668" cy="6096"/>
          </a:xfrm>
          <a:custGeom>
            <a:pathLst>
              <a:path w="1153668" h="6096">
                <a:moveTo>
                  <a:pt x="0" y="6096"/>
                </a:moveTo>
                <a:lnTo>
                  <a:pt x="1153668" y="6096"/>
                </a:lnTo>
                <a:lnTo>
                  <a:pt x="1153668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1" name="Freeform 671"/>
          <p:cNvSpPr/>
          <p:nvPr/>
        </p:nvSpPr>
        <p:spPr>
          <a:xfrm rot="0" flipH="0" flipV="0">
            <a:off x="7135114" y="7575551"/>
            <a:ext cx="6096" cy="6096"/>
          </a:xfrm>
          <a:custGeom>
            <a:pathLst>
              <a:path w="6096" h="6096">
                <a:moveTo>
                  <a:pt x="0" y="6096"/>
                </a:moveTo>
                <a:lnTo>
                  <a:pt x="6096" y="6096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2" name="Freeform 672"/>
          <p:cNvSpPr/>
          <p:nvPr/>
        </p:nvSpPr>
        <p:spPr>
          <a:xfrm rot="0" flipH="0" flipV="0">
            <a:off x="362711" y="7581646"/>
            <a:ext cx="6096" cy="146304"/>
          </a:xfrm>
          <a:custGeom>
            <a:pathLst>
              <a:path w="6096" h="146304">
                <a:moveTo>
                  <a:pt x="0" y="146304"/>
                </a:moveTo>
                <a:lnTo>
                  <a:pt x="6096" y="146304"/>
                </a:lnTo>
                <a:lnTo>
                  <a:pt x="6096" y="0"/>
                </a:lnTo>
                <a:lnTo>
                  <a:pt x="0" y="0"/>
                </a:lnTo>
                <a:lnTo>
                  <a:pt x="0" y="146304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3" name="Freeform 673"/>
          <p:cNvSpPr/>
          <p:nvPr/>
        </p:nvSpPr>
        <p:spPr>
          <a:xfrm rot="0" flipH="0" flipV="0">
            <a:off x="2702686" y="7581646"/>
            <a:ext cx="6096" cy="146304"/>
          </a:xfrm>
          <a:custGeom>
            <a:pathLst>
              <a:path w="6096" h="146304">
                <a:moveTo>
                  <a:pt x="0" y="146304"/>
                </a:moveTo>
                <a:lnTo>
                  <a:pt x="6096" y="146304"/>
                </a:lnTo>
                <a:lnTo>
                  <a:pt x="6096" y="0"/>
                </a:lnTo>
                <a:lnTo>
                  <a:pt x="0" y="0"/>
                </a:lnTo>
                <a:lnTo>
                  <a:pt x="0" y="146304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4" name="Freeform 674"/>
          <p:cNvSpPr/>
          <p:nvPr/>
        </p:nvSpPr>
        <p:spPr>
          <a:xfrm rot="0" flipH="0" flipV="0">
            <a:off x="3516503" y="7581646"/>
            <a:ext cx="6096" cy="146304"/>
          </a:xfrm>
          <a:custGeom>
            <a:pathLst>
              <a:path w="6096" h="146304">
                <a:moveTo>
                  <a:pt x="0" y="146304"/>
                </a:moveTo>
                <a:lnTo>
                  <a:pt x="6096" y="146304"/>
                </a:lnTo>
                <a:lnTo>
                  <a:pt x="6096" y="0"/>
                </a:lnTo>
                <a:lnTo>
                  <a:pt x="0" y="0"/>
                </a:lnTo>
                <a:lnTo>
                  <a:pt x="0" y="146304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5" name="Freeform 675"/>
          <p:cNvSpPr/>
          <p:nvPr/>
        </p:nvSpPr>
        <p:spPr>
          <a:xfrm rot="0" flipH="0" flipV="0">
            <a:off x="4714621" y="7581646"/>
            <a:ext cx="6096" cy="146304"/>
          </a:xfrm>
          <a:custGeom>
            <a:pathLst>
              <a:path w="6096" h="146304">
                <a:moveTo>
                  <a:pt x="0" y="146304"/>
                </a:moveTo>
                <a:lnTo>
                  <a:pt x="6096" y="146304"/>
                </a:lnTo>
                <a:lnTo>
                  <a:pt x="6096" y="0"/>
                </a:lnTo>
                <a:lnTo>
                  <a:pt x="0" y="0"/>
                </a:lnTo>
                <a:lnTo>
                  <a:pt x="0" y="146304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6" name="Freeform 676"/>
          <p:cNvSpPr/>
          <p:nvPr/>
        </p:nvSpPr>
        <p:spPr>
          <a:xfrm rot="0" flipH="0" flipV="0">
            <a:off x="5975350" y="7581646"/>
            <a:ext cx="6096" cy="146304"/>
          </a:xfrm>
          <a:custGeom>
            <a:pathLst>
              <a:path w="6096" h="146304">
                <a:moveTo>
                  <a:pt x="0" y="146304"/>
                </a:moveTo>
                <a:lnTo>
                  <a:pt x="6096" y="146304"/>
                </a:lnTo>
                <a:lnTo>
                  <a:pt x="6096" y="0"/>
                </a:lnTo>
                <a:lnTo>
                  <a:pt x="0" y="0"/>
                </a:lnTo>
                <a:lnTo>
                  <a:pt x="0" y="146304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7" name="Freeform 677"/>
          <p:cNvSpPr/>
          <p:nvPr/>
        </p:nvSpPr>
        <p:spPr>
          <a:xfrm rot="0" flipH="0" flipV="0">
            <a:off x="7135114" y="7581646"/>
            <a:ext cx="6096" cy="146304"/>
          </a:xfrm>
          <a:custGeom>
            <a:pathLst>
              <a:path w="6096" h="146304">
                <a:moveTo>
                  <a:pt x="0" y="146304"/>
                </a:moveTo>
                <a:lnTo>
                  <a:pt x="6096" y="146304"/>
                </a:lnTo>
                <a:lnTo>
                  <a:pt x="6096" y="0"/>
                </a:lnTo>
                <a:lnTo>
                  <a:pt x="0" y="0"/>
                </a:lnTo>
                <a:lnTo>
                  <a:pt x="0" y="146304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8" name="Freeform 678"/>
          <p:cNvSpPr/>
          <p:nvPr/>
        </p:nvSpPr>
        <p:spPr>
          <a:xfrm rot="0" flipH="0" flipV="0">
            <a:off x="362711" y="7727951"/>
            <a:ext cx="6096" cy="6096"/>
          </a:xfrm>
          <a:custGeom>
            <a:pathLst>
              <a:path w="6096" h="6096">
                <a:moveTo>
                  <a:pt x="0" y="6096"/>
                </a:moveTo>
                <a:lnTo>
                  <a:pt x="6096" y="6096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9" name="Freeform 679"/>
          <p:cNvSpPr/>
          <p:nvPr/>
        </p:nvSpPr>
        <p:spPr>
          <a:xfrm rot="0" flipH="0" flipV="0">
            <a:off x="368808" y="7727951"/>
            <a:ext cx="2333879" cy="6096"/>
          </a:xfrm>
          <a:custGeom>
            <a:pathLst>
              <a:path w="2333879" h="6096">
                <a:moveTo>
                  <a:pt x="0" y="6096"/>
                </a:moveTo>
                <a:lnTo>
                  <a:pt x="2333879" y="6096"/>
                </a:lnTo>
                <a:lnTo>
                  <a:pt x="2333879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0" name="Freeform 680"/>
          <p:cNvSpPr/>
          <p:nvPr/>
        </p:nvSpPr>
        <p:spPr>
          <a:xfrm rot="0" flipH="0" flipV="0">
            <a:off x="2702686" y="7727951"/>
            <a:ext cx="6096" cy="6096"/>
          </a:xfrm>
          <a:custGeom>
            <a:pathLst>
              <a:path w="6096" h="6096">
                <a:moveTo>
                  <a:pt x="0" y="6096"/>
                </a:moveTo>
                <a:lnTo>
                  <a:pt x="6096" y="6096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1" name="Freeform 681"/>
          <p:cNvSpPr/>
          <p:nvPr/>
        </p:nvSpPr>
        <p:spPr>
          <a:xfrm rot="0" flipH="0" flipV="0">
            <a:off x="3516503" y="7727951"/>
            <a:ext cx="6096" cy="6096"/>
          </a:xfrm>
          <a:custGeom>
            <a:pathLst>
              <a:path w="6096" h="6096">
                <a:moveTo>
                  <a:pt x="0" y="6096"/>
                </a:moveTo>
                <a:lnTo>
                  <a:pt x="6096" y="6096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2" name="Freeform 682"/>
          <p:cNvSpPr/>
          <p:nvPr/>
        </p:nvSpPr>
        <p:spPr>
          <a:xfrm rot="0" flipH="0" flipV="0">
            <a:off x="4714621" y="7727951"/>
            <a:ext cx="6096" cy="6096"/>
          </a:xfrm>
          <a:custGeom>
            <a:pathLst>
              <a:path w="6096" h="6096">
                <a:moveTo>
                  <a:pt x="0" y="6096"/>
                </a:moveTo>
                <a:lnTo>
                  <a:pt x="6096" y="6096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3" name="Freeform 683"/>
          <p:cNvSpPr/>
          <p:nvPr/>
        </p:nvSpPr>
        <p:spPr>
          <a:xfrm rot="0" flipH="0" flipV="0">
            <a:off x="5975350" y="7727951"/>
            <a:ext cx="6096" cy="6096"/>
          </a:xfrm>
          <a:custGeom>
            <a:pathLst>
              <a:path w="6096" h="6096">
                <a:moveTo>
                  <a:pt x="0" y="6096"/>
                </a:moveTo>
                <a:lnTo>
                  <a:pt x="6096" y="6096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4" name="Freeform 684"/>
          <p:cNvSpPr/>
          <p:nvPr/>
        </p:nvSpPr>
        <p:spPr>
          <a:xfrm rot="0" flipH="0" flipV="0">
            <a:off x="5981446" y="7727951"/>
            <a:ext cx="1153668" cy="6096"/>
          </a:xfrm>
          <a:custGeom>
            <a:pathLst>
              <a:path w="1153668" h="6096">
                <a:moveTo>
                  <a:pt x="0" y="6096"/>
                </a:moveTo>
                <a:lnTo>
                  <a:pt x="1153668" y="6096"/>
                </a:lnTo>
                <a:lnTo>
                  <a:pt x="1153668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5" name="Freeform 685"/>
          <p:cNvSpPr/>
          <p:nvPr/>
        </p:nvSpPr>
        <p:spPr>
          <a:xfrm rot="0" flipH="0" flipV="0">
            <a:off x="7135114" y="7727951"/>
            <a:ext cx="6096" cy="6096"/>
          </a:xfrm>
          <a:custGeom>
            <a:pathLst>
              <a:path w="6096" h="6096">
                <a:moveTo>
                  <a:pt x="0" y="6096"/>
                </a:moveTo>
                <a:lnTo>
                  <a:pt x="6096" y="6096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6" name="Freeform 686"/>
          <p:cNvSpPr/>
          <p:nvPr/>
        </p:nvSpPr>
        <p:spPr>
          <a:xfrm rot="0" flipH="0" flipV="0">
            <a:off x="362711" y="7734046"/>
            <a:ext cx="6096" cy="146304"/>
          </a:xfrm>
          <a:custGeom>
            <a:pathLst>
              <a:path w="6096" h="146304">
                <a:moveTo>
                  <a:pt x="0" y="146304"/>
                </a:moveTo>
                <a:lnTo>
                  <a:pt x="6096" y="146304"/>
                </a:lnTo>
                <a:lnTo>
                  <a:pt x="6096" y="0"/>
                </a:lnTo>
                <a:lnTo>
                  <a:pt x="0" y="0"/>
                </a:lnTo>
                <a:lnTo>
                  <a:pt x="0" y="146304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7" name="Freeform 687"/>
          <p:cNvSpPr/>
          <p:nvPr/>
        </p:nvSpPr>
        <p:spPr>
          <a:xfrm rot="0" flipH="0" flipV="0">
            <a:off x="2702686" y="7734046"/>
            <a:ext cx="6096" cy="146304"/>
          </a:xfrm>
          <a:custGeom>
            <a:pathLst>
              <a:path w="6096" h="146304">
                <a:moveTo>
                  <a:pt x="0" y="146304"/>
                </a:moveTo>
                <a:lnTo>
                  <a:pt x="6096" y="146304"/>
                </a:lnTo>
                <a:lnTo>
                  <a:pt x="6096" y="0"/>
                </a:lnTo>
                <a:lnTo>
                  <a:pt x="0" y="0"/>
                </a:lnTo>
                <a:lnTo>
                  <a:pt x="0" y="146304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8" name="Freeform 688"/>
          <p:cNvSpPr/>
          <p:nvPr/>
        </p:nvSpPr>
        <p:spPr>
          <a:xfrm rot="0" flipH="0" flipV="0">
            <a:off x="3516503" y="7734046"/>
            <a:ext cx="6096" cy="146304"/>
          </a:xfrm>
          <a:custGeom>
            <a:pathLst>
              <a:path w="6096" h="146304">
                <a:moveTo>
                  <a:pt x="0" y="146304"/>
                </a:moveTo>
                <a:lnTo>
                  <a:pt x="6096" y="146304"/>
                </a:lnTo>
                <a:lnTo>
                  <a:pt x="6096" y="0"/>
                </a:lnTo>
                <a:lnTo>
                  <a:pt x="0" y="0"/>
                </a:lnTo>
                <a:lnTo>
                  <a:pt x="0" y="146304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9" name="Freeform 689"/>
          <p:cNvSpPr/>
          <p:nvPr/>
        </p:nvSpPr>
        <p:spPr>
          <a:xfrm rot="0" flipH="0" flipV="0">
            <a:off x="4714621" y="7734046"/>
            <a:ext cx="6096" cy="146304"/>
          </a:xfrm>
          <a:custGeom>
            <a:pathLst>
              <a:path w="6096" h="146304">
                <a:moveTo>
                  <a:pt x="0" y="146304"/>
                </a:moveTo>
                <a:lnTo>
                  <a:pt x="6096" y="146304"/>
                </a:lnTo>
                <a:lnTo>
                  <a:pt x="6096" y="0"/>
                </a:lnTo>
                <a:lnTo>
                  <a:pt x="0" y="0"/>
                </a:lnTo>
                <a:lnTo>
                  <a:pt x="0" y="146304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0" name="Freeform 690"/>
          <p:cNvSpPr/>
          <p:nvPr/>
        </p:nvSpPr>
        <p:spPr>
          <a:xfrm rot="0" flipH="0" flipV="0">
            <a:off x="5975350" y="7734046"/>
            <a:ext cx="6096" cy="146304"/>
          </a:xfrm>
          <a:custGeom>
            <a:pathLst>
              <a:path w="6096" h="146304">
                <a:moveTo>
                  <a:pt x="0" y="146304"/>
                </a:moveTo>
                <a:lnTo>
                  <a:pt x="6096" y="146304"/>
                </a:lnTo>
                <a:lnTo>
                  <a:pt x="6096" y="0"/>
                </a:lnTo>
                <a:lnTo>
                  <a:pt x="0" y="0"/>
                </a:lnTo>
                <a:lnTo>
                  <a:pt x="0" y="146304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1" name="Freeform 691"/>
          <p:cNvSpPr/>
          <p:nvPr/>
        </p:nvSpPr>
        <p:spPr>
          <a:xfrm rot="0" flipH="0" flipV="0">
            <a:off x="7135114" y="7734046"/>
            <a:ext cx="6096" cy="146304"/>
          </a:xfrm>
          <a:custGeom>
            <a:pathLst>
              <a:path w="6096" h="146304">
                <a:moveTo>
                  <a:pt x="0" y="146304"/>
                </a:moveTo>
                <a:lnTo>
                  <a:pt x="6096" y="146304"/>
                </a:lnTo>
                <a:lnTo>
                  <a:pt x="6096" y="0"/>
                </a:lnTo>
                <a:lnTo>
                  <a:pt x="0" y="0"/>
                </a:lnTo>
                <a:lnTo>
                  <a:pt x="0" y="146304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2" name="Freeform 692"/>
          <p:cNvSpPr/>
          <p:nvPr/>
        </p:nvSpPr>
        <p:spPr>
          <a:xfrm rot="0" flipH="0" flipV="0">
            <a:off x="362711" y="7880351"/>
            <a:ext cx="6096" cy="6096"/>
          </a:xfrm>
          <a:custGeom>
            <a:pathLst>
              <a:path w="6096" h="6096">
                <a:moveTo>
                  <a:pt x="0" y="6096"/>
                </a:moveTo>
                <a:lnTo>
                  <a:pt x="6096" y="6096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3" name="Freeform 693"/>
          <p:cNvSpPr/>
          <p:nvPr/>
        </p:nvSpPr>
        <p:spPr>
          <a:xfrm rot="0" flipH="0" flipV="0">
            <a:off x="368808" y="7880351"/>
            <a:ext cx="2333879" cy="6096"/>
          </a:xfrm>
          <a:custGeom>
            <a:pathLst>
              <a:path w="2333879" h="6096">
                <a:moveTo>
                  <a:pt x="0" y="6096"/>
                </a:moveTo>
                <a:lnTo>
                  <a:pt x="2333879" y="6096"/>
                </a:lnTo>
                <a:lnTo>
                  <a:pt x="2333879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4" name="Freeform 694"/>
          <p:cNvSpPr/>
          <p:nvPr/>
        </p:nvSpPr>
        <p:spPr>
          <a:xfrm rot="0" flipH="0" flipV="0">
            <a:off x="2702686" y="7880351"/>
            <a:ext cx="6096" cy="6096"/>
          </a:xfrm>
          <a:custGeom>
            <a:pathLst>
              <a:path w="6096" h="6096">
                <a:moveTo>
                  <a:pt x="0" y="6096"/>
                </a:moveTo>
                <a:lnTo>
                  <a:pt x="6096" y="6096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5" name="Freeform 695"/>
          <p:cNvSpPr/>
          <p:nvPr/>
        </p:nvSpPr>
        <p:spPr>
          <a:xfrm rot="0" flipH="0" flipV="0">
            <a:off x="3516503" y="7880351"/>
            <a:ext cx="6096" cy="6096"/>
          </a:xfrm>
          <a:custGeom>
            <a:pathLst>
              <a:path w="6096" h="6096">
                <a:moveTo>
                  <a:pt x="0" y="6096"/>
                </a:moveTo>
                <a:lnTo>
                  <a:pt x="6096" y="6096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6" name="Freeform 696"/>
          <p:cNvSpPr/>
          <p:nvPr/>
        </p:nvSpPr>
        <p:spPr>
          <a:xfrm rot="0" flipH="0" flipV="0">
            <a:off x="4714621" y="7880351"/>
            <a:ext cx="6096" cy="6096"/>
          </a:xfrm>
          <a:custGeom>
            <a:pathLst>
              <a:path w="6096" h="6096">
                <a:moveTo>
                  <a:pt x="0" y="6096"/>
                </a:moveTo>
                <a:lnTo>
                  <a:pt x="6096" y="6096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7" name="Freeform 697"/>
          <p:cNvSpPr/>
          <p:nvPr/>
        </p:nvSpPr>
        <p:spPr>
          <a:xfrm rot="0" flipH="0" flipV="0">
            <a:off x="5975350" y="7880351"/>
            <a:ext cx="6096" cy="6096"/>
          </a:xfrm>
          <a:custGeom>
            <a:pathLst>
              <a:path w="6096" h="6096">
                <a:moveTo>
                  <a:pt x="0" y="6096"/>
                </a:moveTo>
                <a:lnTo>
                  <a:pt x="6096" y="6096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8" name="Freeform 698"/>
          <p:cNvSpPr/>
          <p:nvPr/>
        </p:nvSpPr>
        <p:spPr>
          <a:xfrm rot="0" flipH="0" flipV="0">
            <a:off x="5981446" y="7880351"/>
            <a:ext cx="1153668" cy="6096"/>
          </a:xfrm>
          <a:custGeom>
            <a:pathLst>
              <a:path w="1153668" h="6096">
                <a:moveTo>
                  <a:pt x="0" y="6096"/>
                </a:moveTo>
                <a:lnTo>
                  <a:pt x="1153668" y="6096"/>
                </a:lnTo>
                <a:lnTo>
                  <a:pt x="1153668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9" name="Freeform 699"/>
          <p:cNvSpPr/>
          <p:nvPr/>
        </p:nvSpPr>
        <p:spPr>
          <a:xfrm rot="0" flipH="0" flipV="0">
            <a:off x="7135114" y="7880351"/>
            <a:ext cx="6096" cy="6096"/>
          </a:xfrm>
          <a:custGeom>
            <a:pathLst>
              <a:path w="6096" h="6096">
                <a:moveTo>
                  <a:pt x="0" y="6096"/>
                </a:moveTo>
                <a:lnTo>
                  <a:pt x="6096" y="6096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00" name="Freeform 700"/>
          <p:cNvSpPr/>
          <p:nvPr/>
        </p:nvSpPr>
        <p:spPr>
          <a:xfrm rot="0" flipH="0" flipV="0">
            <a:off x="362711" y="7886446"/>
            <a:ext cx="6096" cy="146304"/>
          </a:xfrm>
          <a:custGeom>
            <a:pathLst>
              <a:path w="6096" h="146304">
                <a:moveTo>
                  <a:pt x="0" y="146304"/>
                </a:moveTo>
                <a:lnTo>
                  <a:pt x="6096" y="146304"/>
                </a:lnTo>
                <a:lnTo>
                  <a:pt x="6096" y="0"/>
                </a:lnTo>
                <a:lnTo>
                  <a:pt x="0" y="0"/>
                </a:lnTo>
                <a:lnTo>
                  <a:pt x="0" y="146304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01" name="Freeform 701"/>
          <p:cNvSpPr/>
          <p:nvPr/>
        </p:nvSpPr>
        <p:spPr>
          <a:xfrm rot="0" flipH="0" flipV="0">
            <a:off x="2702686" y="7886446"/>
            <a:ext cx="6096" cy="146304"/>
          </a:xfrm>
          <a:custGeom>
            <a:pathLst>
              <a:path w="6096" h="146304">
                <a:moveTo>
                  <a:pt x="0" y="146304"/>
                </a:moveTo>
                <a:lnTo>
                  <a:pt x="6096" y="146304"/>
                </a:lnTo>
                <a:lnTo>
                  <a:pt x="6096" y="0"/>
                </a:lnTo>
                <a:lnTo>
                  <a:pt x="0" y="0"/>
                </a:lnTo>
                <a:lnTo>
                  <a:pt x="0" y="146304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02" name="Freeform 702"/>
          <p:cNvSpPr/>
          <p:nvPr/>
        </p:nvSpPr>
        <p:spPr>
          <a:xfrm rot="0" flipH="0" flipV="0">
            <a:off x="3516503" y="7886446"/>
            <a:ext cx="6096" cy="146304"/>
          </a:xfrm>
          <a:custGeom>
            <a:pathLst>
              <a:path w="6096" h="146304">
                <a:moveTo>
                  <a:pt x="0" y="146304"/>
                </a:moveTo>
                <a:lnTo>
                  <a:pt x="6096" y="146304"/>
                </a:lnTo>
                <a:lnTo>
                  <a:pt x="6096" y="0"/>
                </a:lnTo>
                <a:lnTo>
                  <a:pt x="0" y="0"/>
                </a:lnTo>
                <a:lnTo>
                  <a:pt x="0" y="146304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03" name="Freeform 703"/>
          <p:cNvSpPr/>
          <p:nvPr/>
        </p:nvSpPr>
        <p:spPr>
          <a:xfrm rot="0" flipH="0" flipV="0">
            <a:off x="4714621" y="7886446"/>
            <a:ext cx="6096" cy="146304"/>
          </a:xfrm>
          <a:custGeom>
            <a:pathLst>
              <a:path w="6096" h="146304">
                <a:moveTo>
                  <a:pt x="0" y="146304"/>
                </a:moveTo>
                <a:lnTo>
                  <a:pt x="6096" y="146304"/>
                </a:lnTo>
                <a:lnTo>
                  <a:pt x="6096" y="0"/>
                </a:lnTo>
                <a:lnTo>
                  <a:pt x="0" y="0"/>
                </a:lnTo>
                <a:lnTo>
                  <a:pt x="0" y="146304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04" name="Freeform 704"/>
          <p:cNvSpPr/>
          <p:nvPr/>
        </p:nvSpPr>
        <p:spPr>
          <a:xfrm rot="0" flipH="0" flipV="0">
            <a:off x="5975350" y="7886446"/>
            <a:ext cx="6096" cy="146304"/>
          </a:xfrm>
          <a:custGeom>
            <a:pathLst>
              <a:path w="6096" h="146304">
                <a:moveTo>
                  <a:pt x="0" y="146304"/>
                </a:moveTo>
                <a:lnTo>
                  <a:pt x="6096" y="146304"/>
                </a:lnTo>
                <a:lnTo>
                  <a:pt x="6096" y="0"/>
                </a:lnTo>
                <a:lnTo>
                  <a:pt x="0" y="0"/>
                </a:lnTo>
                <a:lnTo>
                  <a:pt x="0" y="146304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05" name="Freeform 705"/>
          <p:cNvSpPr/>
          <p:nvPr/>
        </p:nvSpPr>
        <p:spPr>
          <a:xfrm rot="0" flipH="0" flipV="0">
            <a:off x="7135114" y="7886446"/>
            <a:ext cx="6096" cy="146304"/>
          </a:xfrm>
          <a:custGeom>
            <a:pathLst>
              <a:path w="6096" h="146304">
                <a:moveTo>
                  <a:pt x="0" y="146304"/>
                </a:moveTo>
                <a:lnTo>
                  <a:pt x="6096" y="146304"/>
                </a:lnTo>
                <a:lnTo>
                  <a:pt x="6096" y="0"/>
                </a:lnTo>
                <a:lnTo>
                  <a:pt x="0" y="0"/>
                </a:lnTo>
                <a:lnTo>
                  <a:pt x="0" y="146304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06" name="Freeform 706"/>
          <p:cNvSpPr/>
          <p:nvPr/>
        </p:nvSpPr>
        <p:spPr>
          <a:xfrm rot="0" flipH="0" flipV="0">
            <a:off x="362711" y="8032751"/>
            <a:ext cx="6096" cy="6096"/>
          </a:xfrm>
          <a:custGeom>
            <a:pathLst>
              <a:path w="6096" h="6096">
                <a:moveTo>
                  <a:pt x="0" y="6096"/>
                </a:moveTo>
                <a:lnTo>
                  <a:pt x="6096" y="6096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07" name="Freeform 707"/>
          <p:cNvSpPr/>
          <p:nvPr/>
        </p:nvSpPr>
        <p:spPr>
          <a:xfrm rot="0" flipH="0" flipV="0">
            <a:off x="368808" y="8032751"/>
            <a:ext cx="2333879" cy="6096"/>
          </a:xfrm>
          <a:custGeom>
            <a:pathLst>
              <a:path w="2333879" h="6096">
                <a:moveTo>
                  <a:pt x="0" y="6096"/>
                </a:moveTo>
                <a:lnTo>
                  <a:pt x="2333879" y="6096"/>
                </a:lnTo>
                <a:lnTo>
                  <a:pt x="2333879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08" name="Freeform 708"/>
          <p:cNvSpPr/>
          <p:nvPr/>
        </p:nvSpPr>
        <p:spPr>
          <a:xfrm rot="0" flipH="0" flipV="0">
            <a:off x="2702686" y="8032751"/>
            <a:ext cx="6096" cy="6096"/>
          </a:xfrm>
          <a:custGeom>
            <a:pathLst>
              <a:path w="6096" h="6096">
                <a:moveTo>
                  <a:pt x="0" y="6096"/>
                </a:moveTo>
                <a:lnTo>
                  <a:pt x="6096" y="6096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09" name="Freeform 709"/>
          <p:cNvSpPr/>
          <p:nvPr/>
        </p:nvSpPr>
        <p:spPr>
          <a:xfrm rot="0" flipH="0" flipV="0">
            <a:off x="3516503" y="8032751"/>
            <a:ext cx="6096" cy="6096"/>
          </a:xfrm>
          <a:custGeom>
            <a:pathLst>
              <a:path w="6096" h="6096">
                <a:moveTo>
                  <a:pt x="0" y="6096"/>
                </a:moveTo>
                <a:lnTo>
                  <a:pt x="6096" y="6096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10" name="Freeform 710"/>
          <p:cNvSpPr/>
          <p:nvPr/>
        </p:nvSpPr>
        <p:spPr>
          <a:xfrm rot="0" flipH="0" flipV="0">
            <a:off x="4714621" y="8032751"/>
            <a:ext cx="6096" cy="6096"/>
          </a:xfrm>
          <a:custGeom>
            <a:pathLst>
              <a:path w="6096" h="6096">
                <a:moveTo>
                  <a:pt x="0" y="6096"/>
                </a:moveTo>
                <a:lnTo>
                  <a:pt x="6096" y="6096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11" name="Freeform 711"/>
          <p:cNvSpPr/>
          <p:nvPr/>
        </p:nvSpPr>
        <p:spPr>
          <a:xfrm rot="0" flipH="0" flipV="0">
            <a:off x="5975350" y="8032751"/>
            <a:ext cx="6096" cy="6096"/>
          </a:xfrm>
          <a:custGeom>
            <a:pathLst>
              <a:path w="6096" h="6096">
                <a:moveTo>
                  <a:pt x="0" y="6096"/>
                </a:moveTo>
                <a:lnTo>
                  <a:pt x="6096" y="6096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12" name="Freeform 712"/>
          <p:cNvSpPr/>
          <p:nvPr/>
        </p:nvSpPr>
        <p:spPr>
          <a:xfrm rot="0" flipH="0" flipV="0">
            <a:off x="7135114" y="8032751"/>
            <a:ext cx="6096" cy="6096"/>
          </a:xfrm>
          <a:custGeom>
            <a:pathLst>
              <a:path w="6096" h="6096">
                <a:moveTo>
                  <a:pt x="0" y="6096"/>
                </a:moveTo>
                <a:lnTo>
                  <a:pt x="6096" y="6096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13" name="Freeform 713"/>
          <p:cNvSpPr/>
          <p:nvPr/>
        </p:nvSpPr>
        <p:spPr>
          <a:xfrm rot="0" flipH="0" flipV="0">
            <a:off x="362711" y="8038846"/>
            <a:ext cx="6096" cy="146304"/>
          </a:xfrm>
          <a:custGeom>
            <a:pathLst>
              <a:path w="6096" h="146304">
                <a:moveTo>
                  <a:pt x="0" y="146304"/>
                </a:moveTo>
                <a:lnTo>
                  <a:pt x="6096" y="146304"/>
                </a:lnTo>
                <a:lnTo>
                  <a:pt x="6096" y="0"/>
                </a:lnTo>
                <a:lnTo>
                  <a:pt x="0" y="0"/>
                </a:lnTo>
                <a:lnTo>
                  <a:pt x="0" y="146304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14" name="Freeform 714"/>
          <p:cNvSpPr/>
          <p:nvPr/>
        </p:nvSpPr>
        <p:spPr>
          <a:xfrm rot="0" flipH="0" flipV="0">
            <a:off x="2702686" y="8038846"/>
            <a:ext cx="6096" cy="146304"/>
          </a:xfrm>
          <a:custGeom>
            <a:pathLst>
              <a:path w="6096" h="146304">
                <a:moveTo>
                  <a:pt x="0" y="146304"/>
                </a:moveTo>
                <a:lnTo>
                  <a:pt x="6096" y="146304"/>
                </a:lnTo>
                <a:lnTo>
                  <a:pt x="6096" y="0"/>
                </a:lnTo>
                <a:lnTo>
                  <a:pt x="0" y="0"/>
                </a:lnTo>
                <a:lnTo>
                  <a:pt x="0" y="146304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15" name="Freeform 715"/>
          <p:cNvSpPr/>
          <p:nvPr/>
        </p:nvSpPr>
        <p:spPr>
          <a:xfrm rot="0" flipH="0" flipV="0">
            <a:off x="3516503" y="8038846"/>
            <a:ext cx="6096" cy="146304"/>
          </a:xfrm>
          <a:custGeom>
            <a:pathLst>
              <a:path w="6096" h="146304">
                <a:moveTo>
                  <a:pt x="0" y="146304"/>
                </a:moveTo>
                <a:lnTo>
                  <a:pt x="6096" y="146304"/>
                </a:lnTo>
                <a:lnTo>
                  <a:pt x="6096" y="0"/>
                </a:lnTo>
                <a:lnTo>
                  <a:pt x="0" y="0"/>
                </a:lnTo>
                <a:lnTo>
                  <a:pt x="0" y="146304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16" name="Freeform 716"/>
          <p:cNvSpPr/>
          <p:nvPr/>
        </p:nvSpPr>
        <p:spPr>
          <a:xfrm rot="0" flipH="0" flipV="0">
            <a:off x="4714621" y="8038846"/>
            <a:ext cx="6096" cy="146304"/>
          </a:xfrm>
          <a:custGeom>
            <a:pathLst>
              <a:path w="6096" h="146304">
                <a:moveTo>
                  <a:pt x="0" y="146304"/>
                </a:moveTo>
                <a:lnTo>
                  <a:pt x="6096" y="146304"/>
                </a:lnTo>
                <a:lnTo>
                  <a:pt x="6096" y="0"/>
                </a:lnTo>
                <a:lnTo>
                  <a:pt x="0" y="0"/>
                </a:lnTo>
                <a:lnTo>
                  <a:pt x="0" y="146304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17" name="Freeform 717"/>
          <p:cNvSpPr/>
          <p:nvPr/>
        </p:nvSpPr>
        <p:spPr>
          <a:xfrm rot="0" flipH="0" flipV="0">
            <a:off x="5975350" y="8038846"/>
            <a:ext cx="6096" cy="146304"/>
          </a:xfrm>
          <a:custGeom>
            <a:pathLst>
              <a:path w="6096" h="146304">
                <a:moveTo>
                  <a:pt x="0" y="146304"/>
                </a:moveTo>
                <a:lnTo>
                  <a:pt x="6096" y="146304"/>
                </a:lnTo>
                <a:lnTo>
                  <a:pt x="6096" y="0"/>
                </a:lnTo>
                <a:lnTo>
                  <a:pt x="0" y="0"/>
                </a:lnTo>
                <a:lnTo>
                  <a:pt x="0" y="146304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18" name="Freeform 718"/>
          <p:cNvSpPr/>
          <p:nvPr/>
        </p:nvSpPr>
        <p:spPr>
          <a:xfrm rot="0" flipH="0" flipV="0">
            <a:off x="7135114" y="8038846"/>
            <a:ext cx="6096" cy="146304"/>
          </a:xfrm>
          <a:custGeom>
            <a:pathLst>
              <a:path w="6096" h="146304">
                <a:moveTo>
                  <a:pt x="0" y="146304"/>
                </a:moveTo>
                <a:lnTo>
                  <a:pt x="6096" y="146304"/>
                </a:lnTo>
                <a:lnTo>
                  <a:pt x="6096" y="0"/>
                </a:lnTo>
                <a:lnTo>
                  <a:pt x="0" y="0"/>
                </a:lnTo>
                <a:lnTo>
                  <a:pt x="0" y="146304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19" name="Freeform 719"/>
          <p:cNvSpPr/>
          <p:nvPr/>
        </p:nvSpPr>
        <p:spPr>
          <a:xfrm rot="0" flipH="0" flipV="0">
            <a:off x="362711" y="8185151"/>
            <a:ext cx="6096" cy="6096"/>
          </a:xfrm>
          <a:custGeom>
            <a:pathLst>
              <a:path w="6096" h="6096">
                <a:moveTo>
                  <a:pt x="0" y="6096"/>
                </a:moveTo>
                <a:lnTo>
                  <a:pt x="6096" y="6096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20" name="Freeform 720"/>
          <p:cNvSpPr/>
          <p:nvPr/>
        </p:nvSpPr>
        <p:spPr>
          <a:xfrm rot="0" flipH="0" flipV="0">
            <a:off x="368808" y="8185151"/>
            <a:ext cx="2333879" cy="6096"/>
          </a:xfrm>
          <a:custGeom>
            <a:pathLst>
              <a:path w="2333879" h="6096">
                <a:moveTo>
                  <a:pt x="0" y="6096"/>
                </a:moveTo>
                <a:lnTo>
                  <a:pt x="2333879" y="6096"/>
                </a:lnTo>
                <a:lnTo>
                  <a:pt x="2333879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21" name="Freeform 721"/>
          <p:cNvSpPr/>
          <p:nvPr/>
        </p:nvSpPr>
        <p:spPr>
          <a:xfrm rot="0" flipH="0" flipV="0">
            <a:off x="2702686" y="8185151"/>
            <a:ext cx="6096" cy="6096"/>
          </a:xfrm>
          <a:custGeom>
            <a:pathLst>
              <a:path w="6096" h="6096">
                <a:moveTo>
                  <a:pt x="0" y="6096"/>
                </a:moveTo>
                <a:lnTo>
                  <a:pt x="6096" y="6096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22" name="Freeform 722"/>
          <p:cNvSpPr/>
          <p:nvPr/>
        </p:nvSpPr>
        <p:spPr>
          <a:xfrm rot="0" flipH="0" flipV="0">
            <a:off x="3516503" y="8185151"/>
            <a:ext cx="6096" cy="6096"/>
          </a:xfrm>
          <a:custGeom>
            <a:pathLst>
              <a:path w="6096" h="6096">
                <a:moveTo>
                  <a:pt x="0" y="6096"/>
                </a:moveTo>
                <a:lnTo>
                  <a:pt x="6096" y="6096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23" name="Freeform 723"/>
          <p:cNvSpPr/>
          <p:nvPr/>
        </p:nvSpPr>
        <p:spPr>
          <a:xfrm rot="0" flipH="0" flipV="0">
            <a:off x="4714621" y="8185151"/>
            <a:ext cx="6096" cy="6096"/>
          </a:xfrm>
          <a:custGeom>
            <a:pathLst>
              <a:path w="6096" h="6096">
                <a:moveTo>
                  <a:pt x="0" y="6096"/>
                </a:moveTo>
                <a:lnTo>
                  <a:pt x="6096" y="6096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24" name="Freeform 724"/>
          <p:cNvSpPr/>
          <p:nvPr/>
        </p:nvSpPr>
        <p:spPr>
          <a:xfrm rot="0" flipH="0" flipV="0">
            <a:off x="5975350" y="8185151"/>
            <a:ext cx="6096" cy="6096"/>
          </a:xfrm>
          <a:custGeom>
            <a:pathLst>
              <a:path w="6096" h="6096">
                <a:moveTo>
                  <a:pt x="0" y="6096"/>
                </a:moveTo>
                <a:lnTo>
                  <a:pt x="6096" y="6096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25" name="Freeform 725"/>
          <p:cNvSpPr/>
          <p:nvPr/>
        </p:nvSpPr>
        <p:spPr>
          <a:xfrm rot="0" flipH="0" flipV="0">
            <a:off x="7135114" y="8185151"/>
            <a:ext cx="6096" cy="6096"/>
          </a:xfrm>
          <a:custGeom>
            <a:pathLst>
              <a:path w="6096" h="6096">
                <a:moveTo>
                  <a:pt x="0" y="6096"/>
                </a:moveTo>
                <a:lnTo>
                  <a:pt x="6096" y="6096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26" name="Freeform 726"/>
          <p:cNvSpPr/>
          <p:nvPr/>
        </p:nvSpPr>
        <p:spPr>
          <a:xfrm rot="0" flipH="0" flipV="0">
            <a:off x="362711" y="8191246"/>
            <a:ext cx="6096" cy="146304"/>
          </a:xfrm>
          <a:custGeom>
            <a:pathLst>
              <a:path w="6096" h="146304">
                <a:moveTo>
                  <a:pt x="0" y="146304"/>
                </a:moveTo>
                <a:lnTo>
                  <a:pt x="6096" y="146304"/>
                </a:lnTo>
                <a:lnTo>
                  <a:pt x="6096" y="0"/>
                </a:lnTo>
                <a:lnTo>
                  <a:pt x="0" y="0"/>
                </a:lnTo>
                <a:lnTo>
                  <a:pt x="0" y="146304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27" name="Freeform 727"/>
          <p:cNvSpPr/>
          <p:nvPr/>
        </p:nvSpPr>
        <p:spPr>
          <a:xfrm rot="0" flipH="0" flipV="0">
            <a:off x="2702686" y="8191246"/>
            <a:ext cx="6096" cy="146304"/>
          </a:xfrm>
          <a:custGeom>
            <a:pathLst>
              <a:path w="6096" h="146304">
                <a:moveTo>
                  <a:pt x="0" y="146304"/>
                </a:moveTo>
                <a:lnTo>
                  <a:pt x="6096" y="146304"/>
                </a:lnTo>
                <a:lnTo>
                  <a:pt x="6096" y="0"/>
                </a:lnTo>
                <a:lnTo>
                  <a:pt x="0" y="0"/>
                </a:lnTo>
                <a:lnTo>
                  <a:pt x="0" y="146304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28" name="Freeform 728"/>
          <p:cNvSpPr/>
          <p:nvPr/>
        </p:nvSpPr>
        <p:spPr>
          <a:xfrm rot="0" flipH="0" flipV="0">
            <a:off x="3516503" y="8191246"/>
            <a:ext cx="6096" cy="146304"/>
          </a:xfrm>
          <a:custGeom>
            <a:pathLst>
              <a:path w="6096" h="146304">
                <a:moveTo>
                  <a:pt x="0" y="146304"/>
                </a:moveTo>
                <a:lnTo>
                  <a:pt x="6096" y="146304"/>
                </a:lnTo>
                <a:lnTo>
                  <a:pt x="6096" y="0"/>
                </a:lnTo>
                <a:lnTo>
                  <a:pt x="0" y="0"/>
                </a:lnTo>
                <a:lnTo>
                  <a:pt x="0" y="146304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29" name="Freeform 729"/>
          <p:cNvSpPr/>
          <p:nvPr/>
        </p:nvSpPr>
        <p:spPr>
          <a:xfrm rot="0" flipH="0" flipV="0">
            <a:off x="4714621" y="8191246"/>
            <a:ext cx="6096" cy="146304"/>
          </a:xfrm>
          <a:custGeom>
            <a:pathLst>
              <a:path w="6096" h="146304">
                <a:moveTo>
                  <a:pt x="0" y="146304"/>
                </a:moveTo>
                <a:lnTo>
                  <a:pt x="6096" y="146304"/>
                </a:lnTo>
                <a:lnTo>
                  <a:pt x="6096" y="0"/>
                </a:lnTo>
                <a:lnTo>
                  <a:pt x="0" y="0"/>
                </a:lnTo>
                <a:lnTo>
                  <a:pt x="0" y="146304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30" name="Freeform 730"/>
          <p:cNvSpPr/>
          <p:nvPr/>
        </p:nvSpPr>
        <p:spPr>
          <a:xfrm rot="0" flipH="0" flipV="0">
            <a:off x="5975350" y="8191246"/>
            <a:ext cx="6096" cy="146304"/>
          </a:xfrm>
          <a:custGeom>
            <a:pathLst>
              <a:path w="6096" h="146304">
                <a:moveTo>
                  <a:pt x="0" y="146304"/>
                </a:moveTo>
                <a:lnTo>
                  <a:pt x="6096" y="146304"/>
                </a:lnTo>
                <a:lnTo>
                  <a:pt x="6096" y="0"/>
                </a:lnTo>
                <a:lnTo>
                  <a:pt x="0" y="0"/>
                </a:lnTo>
                <a:lnTo>
                  <a:pt x="0" y="146304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31" name="Freeform 731"/>
          <p:cNvSpPr/>
          <p:nvPr/>
        </p:nvSpPr>
        <p:spPr>
          <a:xfrm rot="0" flipH="0" flipV="0">
            <a:off x="7135114" y="8191246"/>
            <a:ext cx="6096" cy="146304"/>
          </a:xfrm>
          <a:custGeom>
            <a:pathLst>
              <a:path w="6096" h="146304">
                <a:moveTo>
                  <a:pt x="0" y="146304"/>
                </a:moveTo>
                <a:lnTo>
                  <a:pt x="6096" y="146304"/>
                </a:lnTo>
                <a:lnTo>
                  <a:pt x="6096" y="0"/>
                </a:lnTo>
                <a:lnTo>
                  <a:pt x="0" y="0"/>
                </a:lnTo>
                <a:lnTo>
                  <a:pt x="0" y="146304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32" name="Freeform 732"/>
          <p:cNvSpPr/>
          <p:nvPr/>
        </p:nvSpPr>
        <p:spPr>
          <a:xfrm rot="0" flipH="0" flipV="0">
            <a:off x="362711" y="8337551"/>
            <a:ext cx="6096" cy="6096"/>
          </a:xfrm>
          <a:custGeom>
            <a:pathLst>
              <a:path w="6096" h="6096">
                <a:moveTo>
                  <a:pt x="0" y="6096"/>
                </a:moveTo>
                <a:lnTo>
                  <a:pt x="6096" y="6096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33" name="Freeform 733"/>
          <p:cNvSpPr/>
          <p:nvPr/>
        </p:nvSpPr>
        <p:spPr>
          <a:xfrm rot="0" flipH="0" flipV="0">
            <a:off x="368808" y="8337551"/>
            <a:ext cx="2333879" cy="6096"/>
          </a:xfrm>
          <a:custGeom>
            <a:pathLst>
              <a:path w="2333879" h="6096">
                <a:moveTo>
                  <a:pt x="0" y="6096"/>
                </a:moveTo>
                <a:lnTo>
                  <a:pt x="2333879" y="6096"/>
                </a:lnTo>
                <a:lnTo>
                  <a:pt x="2333879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34" name="Freeform 734"/>
          <p:cNvSpPr/>
          <p:nvPr/>
        </p:nvSpPr>
        <p:spPr>
          <a:xfrm rot="0" flipH="0" flipV="0">
            <a:off x="2702686" y="8337551"/>
            <a:ext cx="6096" cy="6096"/>
          </a:xfrm>
          <a:custGeom>
            <a:pathLst>
              <a:path w="6096" h="6096">
                <a:moveTo>
                  <a:pt x="0" y="6096"/>
                </a:moveTo>
                <a:lnTo>
                  <a:pt x="6096" y="6096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35" name="Freeform 735"/>
          <p:cNvSpPr/>
          <p:nvPr/>
        </p:nvSpPr>
        <p:spPr>
          <a:xfrm rot="0" flipH="0" flipV="0">
            <a:off x="3516503" y="8337551"/>
            <a:ext cx="6096" cy="6096"/>
          </a:xfrm>
          <a:custGeom>
            <a:pathLst>
              <a:path w="6096" h="6096">
                <a:moveTo>
                  <a:pt x="0" y="6096"/>
                </a:moveTo>
                <a:lnTo>
                  <a:pt x="6096" y="6096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36" name="Freeform 736"/>
          <p:cNvSpPr/>
          <p:nvPr/>
        </p:nvSpPr>
        <p:spPr>
          <a:xfrm rot="0" flipH="0" flipV="0">
            <a:off x="4714621" y="8337551"/>
            <a:ext cx="6096" cy="6096"/>
          </a:xfrm>
          <a:custGeom>
            <a:pathLst>
              <a:path w="6096" h="6096">
                <a:moveTo>
                  <a:pt x="0" y="6096"/>
                </a:moveTo>
                <a:lnTo>
                  <a:pt x="6096" y="6096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37" name="Freeform 737"/>
          <p:cNvSpPr/>
          <p:nvPr/>
        </p:nvSpPr>
        <p:spPr>
          <a:xfrm rot="0" flipH="0" flipV="0">
            <a:off x="5975350" y="8337551"/>
            <a:ext cx="6096" cy="6096"/>
          </a:xfrm>
          <a:custGeom>
            <a:pathLst>
              <a:path w="6096" h="6096">
                <a:moveTo>
                  <a:pt x="0" y="6096"/>
                </a:moveTo>
                <a:lnTo>
                  <a:pt x="6096" y="6096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38" name="Freeform 738"/>
          <p:cNvSpPr/>
          <p:nvPr/>
        </p:nvSpPr>
        <p:spPr>
          <a:xfrm rot="0" flipH="0" flipV="0">
            <a:off x="7135114" y="8337551"/>
            <a:ext cx="6096" cy="6096"/>
          </a:xfrm>
          <a:custGeom>
            <a:pathLst>
              <a:path w="6096" h="6096">
                <a:moveTo>
                  <a:pt x="0" y="6096"/>
                </a:moveTo>
                <a:lnTo>
                  <a:pt x="6096" y="6096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39" name="Freeform 739"/>
          <p:cNvSpPr/>
          <p:nvPr/>
        </p:nvSpPr>
        <p:spPr>
          <a:xfrm rot="0" flipH="0" flipV="0">
            <a:off x="362711" y="8343646"/>
            <a:ext cx="6096" cy="146304"/>
          </a:xfrm>
          <a:custGeom>
            <a:pathLst>
              <a:path w="6096" h="146304">
                <a:moveTo>
                  <a:pt x="0" y="146304"/>
                </a:moveTo>
                <a:lnTo>
                  <a:pt x="6096" y="146304"/>
                </a:lnTo>
                <a:lnTo>
                  <a:pt x="6096" y="0"/>
                </a:lnTo>
                <a:lnTo>
                  <a:pt x="0" y="0"/>
                </a:lnTo>
                <a:lnTo>
                  <a:pt x="0" y="146304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40" name="Freeform 740"/>
          <p:cNvSpPr/>
          <p:nvPr/>
        </p:nvSpPr>
        <p:spPr>
          <a:xfrm rot="0" flipH="0" flipV="0">
            <a:off x="2702686" y="8343646"/>
            <a:ext cx="6096" cy="146304"/>
          </a:xfrm>
          <a:custGeom>
            <a:pathLst>
              <a:path w="6096" h="146304">
                <a:moveTo>
                  <a:pt x="0" y="146304"/>
                </a:moveTo>
                <a:lnTo>
                  <a:pt x="6096" y="146304"/>
                </a:lnTo>
                <a:lnTo>
                  <a:pt x="6096" y="0"/>
                </a:lnTo>
                <a:lnTo>
                  <a:pt x="0" y="0"/>
                </a:lnTo>
                <a:lnTo>
                  <a:pt x="0" y="146304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41" name="Freeform 741"/>
          <p:cNvSpPr/>
          <p:nvPr/>
        </p:nvSpPr>
        <p:spPr>
          <a:xfrm rot="0" flipH="0" flipV="0">
            <a:off x="3516503" y="8343646"/>
            <a:ext cx="6096" cy="146304"/>
          </a:xfrm>
          <a:custGeom>
            <a:pathLst>
              <a:path w="6096" h="146304">
                <a:moveTo>
                  <a:pt x="0" y="146304"/>
                </a:moveTo>
                <a:lnTo>
                  <a:pt x="6096" y="146304"/>
                </a:lnTo>
                <a:lnTo>
                  <a:pt x="6096" y="0"/>
                </a:lnTo>
                <a:lnTo>
                  <a:pt x="0" y="0"/>
                </a:lnTo>
                <a:lnTo>
                  <a:pt x="0" y="146304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42" name="Freeform 742"/>
          <p:cNvSpPr/>
          <p:nvPr/>
        </p:nvSpPr>
        <p:spPr>
          <a:xfrm rot="0" flipH="0" flipV="0">
            <a:off x="4714621" y="8343646"/>
            <a:ext cx="6096" cy="146304"/>
          </a:xfrm>
          <a:custGeom>
            <a:pathLst>
              <a:path w="6096" h="146304">
                <a:moveTo>
                  <a:pt x="0" y="146304"/>
                </a:moveTo>
                <a:lnTo>
                  <a:pt x="6096" y="146304"/>
                </a:lnTo>
                <a:lnTo>
                  <a:pt x="6096" y="0"/>
                </a:lnTo>
                <a:lnTo>
                  <a:pt x="0" y="0"/>
                </a:lnTo>
                <a:lnTo>
                  <a:pt x="0" y="146304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43" name="Freeform 743"/>
          <p:cNvSpPr/>
          <p:nvPr/>
        </p:nvSpPr>
        <p:spPr>
          <a:xfrm rot="0" flipH="0" flipV="0">
            <a:off x="5975350" y="8343646"/>
            <a:ext cx="6096" cy="146304"/>
          </a:xfrm>
          <a:custGeom>
            <a:pathLst>
              <a:path w="6096" h="146304">
                <a:moveTo>
                  <a:pt x="0" y="146304"/>
                </a:moveTo>
                <a:lnTo>
                  <a:pt x="6096" y="146304"/>
                </a:lnTo>
                <a:lnTo>
                  <a:pt x="6096" y="0"/>
                </a:lnTo>
                <a:lnTo>
                  <a:pt x="0" y="0"/>
                </a:lnTo>
                <a:lnTo>
                  <a:pt x="0" y="146304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44" name="Freeform 744"/>
          <p:cNvSpPr/>
          <p:nvPr/>
        </p:nvSpPr>
        <p:spPr>
          <a:xfrm rot="0" flipH="0" flipV="0">
            <a:off x="7135114" y="8343646"/>
            <a:ext cx="6096" cy="146304"/>
          </a:xfrm>
          <a:custGeom>
            <a:pathLst>
              <a:path w="6096" h="146304">
                <a:moveTo>
                  <a:pt x="0" y="146304"/>
                </a:moveTo>
                <a:lnTo>
                  <a:pt x="6096" y="146304"/>
                </a:lnTo>
                <a:lnTo>
                  <a:pt x="6096" y="0"/>
                </a:lnTo>
                <a:lnTo>
                  <a:pt x="0" y="0"/>
                </a:lnTo>
                <a:lnTo>
                  <a:pt x="0" y="146304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45" name="Freeform 745"/>
          <p:cNvSpPr/>
          <p:nvPr/>
        </p:nvSpPr>
        <p:spPr>
          <a:xfrm rot="0" flipH="0" flipV="0">
            <a:off x="362711" y="8489951"/>
            <a:ext cx="6096" cy="6096"/>
          </a:xfrm>
          <a:custGeom>
            <a:pathLst>
              <a:path w="6096" h="6096">
                <a:moveTo>
                  <a:pt x="0" y="6096"/>
                </a:moveTo>
                <a:lnTo>
                  <a:pt x="6096" y="6096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46" name="Freeform 746"/>
          <p:cNvSpPr/>
          <p:nvPr/>
        </p:nvSpPr>
        <p:spPr>
          <a:xfrm rot="0" flipH="0" flipV="0">
            <a:off x="368808" y="8489951"/>
            <a:ext cx="2333879" cy="6096"/>
          </a:xfrm>
          <a:custGeom>
            <a:pathLst>
              <a:path w="2333879" h="6096">
                <a:moveTo>
                  <a:pt x="0" y="6096"/>
                </a:moveTo>
                <a:lnTo>
                  <a:pt x="2333879" y="6096"/>
                </a:lnTo>
                <a:lnTo>
                  <a:pt x="2333879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47" name="Freeform 747"/>
          <p:cNvSpPr/>
          <p:nvPr/>
        </p:nvSpPr>
        <p:spPr>
          <a:xfrm rot="0" flipH="0" flipV="0">
            <a:off x="2702686" y="8489951"/>
            <a:ext cx="6096" cy="6096"/>
          </a:xfrm>
          <a:custGeom>
            <a:pathLst>
              <a:path w="6096" h="6096">
                <a:moveTo>
                  <a:pt x="0" y="6096"/>
                </a:moveTo>
                <a:lnTo>
                  <a:pt x="6096" y="6096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48" name="Freeform 748"/>
          <p:cNvSpPr/>
          <p:nvPr/>
        </p:nvSpPr>
        <p:spPr>
          <a:xfrm rot="0" flipH="0" flipV="0">
            <a:off x="2708782" y="8489951"/>
            <a:ext cx="807720" cy="6096"/>
          </a:xfrm>
          <a:custGeom>
            <a:pathLst>
              <a:path w="807720" h="6096">
                <a:moveTo>
                  <a:pt x="0" y="6096"/>
                </a:moveTo>
                <a:lnTo>
                  <a:pt x="807720" y="6096"/>
                </a:lnTo>
                <a:lnTo>
                  <a:pt x="807720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49" name="Freeform 749"/>
          <p:cNvSpPr/>
          <p:nvPr/>
        </p:nvSpPr>
        <p:spPr>
          <a:xfrm rot="0" flipH="0" flipV="0">
            <a:off x="3516503" y="8489951"/>
            <a:ext cx="6096" cy="6096"/>
          </a:xfrm>
          <a:custGeom>
            <a:pathLst>
              <a:path w="6096" h="6096">
                <a:moveTo>
                  <a:pt x="0" y="6096"/>
                </a:moveTo>
                <a:lnTo>
                  <a:pt x="6096" y="6096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50" name="Freeform 750"/>
          <p:cNvSpPr/>
          <p:nvPr/>
        </p:nvSpPr>
        <p:spPr>
          <a:xfrm rot="0" flipH="0" flipV="0">
            <a:off x="3522598" y="8489951"/>
            <a:ext cx="1192073" cy="6096"/>
          </a:xfrm>
          <a:custGeom>
            <a:pathLst>
              <a:path w="1192073" h="6096">
                <a:moveTo>
                  <a:pt x="0" y="6096"/>
                </a:moveTo>
                <a:lnTo>
                  <a:pt x="1192073" y="6096"/>
                </a:lnTo>
                <a:lnTo>
                  <a:pt x="1192073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51" name="Freeform 751"/>
          <p:cNvSpPr/>
          <p:nvPr/>
        </p:nvSpPr>
        <p:spPr>
          <a:xfrm rot="0" flipH="0" flipV="0">
            <a:off x="4714621" y="8489951"/>
            <a:ext cx="6096" cy="6096"/>
          </a:xfrm>
          <a:custGeom>
            <a:pathLst>
              <a:path w="6096" h="6096">
                <a:moveTo>
                  <a:pt x="0" y="6096"/>
                </a:moveTo>
                <a:lnTo>
                  <a:pt x="6096" y="6096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52" name="Freeform 752"/>
          <p:cNvSpPr/>
          <p:nvPr/>
        </p:nvSpPr>
        <p:spPr>
          <a:xfrm rot="0" flipH="0" flipV="0">
            <a:off x="5975350" y="8489951"/>
            <a:ext cx="6096" cy="6096"/>
          </a:xfrm>
          <a:custGeom>
            <a:pathLst>
              <a:path w="6096" h="6096">
                <a:moveTo>
                  <a:pt x="0" y="6096"/>
                </a:moveTo>
                <a:lnTo>
                  <a:pt x="6096" y="6096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53" name="Freeform 753"/>
          <p:cNvSpPr/>
          <p:nvPr/>
        </p:nvSpPr>
        <p:spPr>
          <a:xfrm rot="0" flipH="0" flipV="0">
            <a:off x="7135114" y="8489951"/>
            <a:ext cx="6096" cy="6096"/>
          </a:xfrm>
          <a:custGeom>
            <a:pathLst>
              <a:path w="6096" h="6096">
                <a:moveTo>
                  <a:pt x="0" y="6096"/>
                </a:moveTo>
                <a:lnTo>
                  <a:pt x="6096" y="6096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54" name="Freeform 754"/>
          <p:cNvSpPr/>
          <p:nvPr/>
        </p:nvSpPr>
        <p:spPr>
          <a:xfrm rot="0" flipH="0" flipV="0">
            <a:off x="362711" y="8495996"/>
            <a:ext cx="6096" cy="583997"/>
          </a:xfrm>
          <a:custGeom>
            <a:pathLst>
              <a:path w="6096" h="583997">
                <a:moveTo>
                  <a:pt x="0" y="583997"/>
                </a:moveTo>
                <a:lnTo>
                  <a:pt x="6096" y="583997"/>
                </a:lnTo>
                <a:lnTo>
                  <a:pt x="6096" y="0"/>
                </a:lnTo>
                <a:lnTo>
                  <a:pt x="0" y="0"/>
                </a:lnTo>
                <a:lnTo>
                  <a:pt x="0" y="583997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55" name="Freeform 755"/>
          <p:cNvSpPr/>
          <p:nvPr/>
        </p:nvSpPr>
        <p:spPr>
          <a:xfrm rot="0" flipH="0" flipV="0">
            <a:off x="362711" y="9079993"/>
            <a:ext cx="6096" cy="6095"/>
          </a:xfrm>
          <a:custGeom>
            <a:pathLst>
              <a:path w="6096" h="6095">
                <a:moveTo>
                  <a:pt x="0" y="6095"/>
                </a:moveTo>
                <a:lnTo>
                  <a:pt x="6096" y="6095"/>
                </a:lnTo>
                <a:lnTo>
                  <a:pt x="6096" y="0"/>
                </a:lnTo>
                <a:lnTo>
                  <a:pt x="0" y="0"/>
                </a:lnTo>
                <a:lnTo>
                  <a:pt x="0" y="6095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56" name="Freeform 756"/>
          <p:cNvSpPr/>
          <p:nvPr/>
        </p:nvSpPr>
        <p:spPr>
          <a:xfrm rot="0" flipH="0" flipV="0">
            <a:off x="362711" y="9079993"/>
            <a:ext cx="6096" cy="6095"/>
          </a:xfrm>
          <a:custGeom>
            <a:pathLst>
              <a:path w="6096" h="6095">
                <a:moveTo>
                  <a:pt x="0" y="6095"/>
                </a:moveTo>
                <a:lnTo>
                  <a:pt x="6096" y="6095"/>
                </a:lnTo>
                <a:lnTo>
                  <a:pt x="6096" y="0"/>
                </a:lnTo>
                <a:lnTo>
                  <a:pt x="0" y="0"/>
                </a:lnTo>
                <a:lnTo>
                  <a:pt x="0" y="6095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57" name="Freeform 757"/>
          <p:cNvSpPr/>
          <p:nvPr/>
        </p:nvSpPr>
        <p:spPr>
          <a:xfrm rot="0" flipH="0" flipV="0">
            <a:off x="368808" y="9079993"/>
            <a:ext cx="2333879" cy="6095"/>
          </a:xfrm>
          <a:custGeom>
            <a:pathLst>
              <a:path w="2333879" h="6095">
                <a:moveTo>
                  <a:pt x="0" y="6095"/>
                </a:moveTo>
                <a:lnTo>
                  <a:pt x="2333879" y="6095"/>
                </a:lnTo>
                <a:lnTo>
                  <a:pt x="2333879" y="0"/>
                </a:lnTo>
                <a:lnTo>
                  <a:pt x="0" y="0"/>
                </a:lnTo>
                <a:lnTo>
                  <a:pt x="0" y="6095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58" name="Freeform 758"/>
          <p:cNvSpPr/>
          <p:nvPr/>
        </p:nvSpPr>
        <p:spPr>
          <a:xfrm rot="0" flipH="0" flipV="0">
            <a:off x="2702686" y="8495996"/>
            <a:ext cx="6096" cy="583997"/>
          </a:xfrm>
          <a:custGeom>
            <a:pathLst>
              <a:path w="6096" h="583997">
                <a:moveTo>
                  <a:pt x="0" y="583997"/>
                </a:moveTo>
                <a:lnTo>
                  <a:pt x="6096" y="583997"/>
                </a:lnTo>
                <a:lnTo>
                  <a:pt x="6096" y="0"/>
                </a:lnTo>
                <a:lnTo>
                  <a:pt x="0" y="0"/>
                </a:lnTo>
                <a:lnTo>
                  <a:pt x="0" y="583997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59" name="Freeform 759"/>
          <p:cNvSpPr/>
          <p:nvPr/>
        </p:nvSpPr>
        <p:spPr>
          <a:xfrm rot="0" flipH="0" flipV="0">
            <a:off x="2702686" y="9079993"/>
            <a:ext cx="6096" cy="6095"/>
          </a:xfrm>
          <a:custGeom>
            <a:pathLst>
              <a:path w="6096" h="6095">
                <a:moveTo>
                  <a:pt x="0" y="6095"/>
                </a:moveTo>
                <a:lnTo>
                  <a:pt x="6096" y="6095"/>
                </a:lnTo>
                <a:lnTo>
                  <a:pt x="6096" y="0"/>
                </a:lnTo>
                <a:lnTo>
                  <a:pt x="0" y="0"/>
                </a:lnTo>
                <a:lnTo>
                  <a:pt x="0" y="6095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60" name="Freeform 760"/>
          <p:cNvSpPr/>
          <p:nvPr/>
        </p:nvSpPr>
        <p:spPr>
          <a:xfrm rot="0" flipH="0" flipV="0">
            <a:off x="2708782" y="9079993"/>
            <a:ext cx="807720" cy="6095"/>
          </a:xfrm>
          <a:custGeom>
            <a:pathLst>
              <a:path w="807720" h="6095">
                <a:moveTo>
                  <a:pt x="0" y="6095"/>
                </a:moveTo>
                <a:lnTo>
                  <a:pt x="807720" y="6095"/>
                </a:lnTo>
                <a:lnTo>
                  <a:pt x="807720" y="0"/>
                </a:lnTo>
                <a:lnTo>
                  <a:pt x="0" y="0"/>
                </a:lnTo>
                <a:lnTo>
                  <a:pt x="0" y="6095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61" name="Freeform 761"/>
          <p:cNvSpPr/>
          <p:nvPr/>
        </p:nvSpPr>
        <p:spPr>
          <a:xfrm rot="0" flipH="0" flipV="0">
            <a:off x="3516503" y="8495996"/>
            <a:ext cx="6096" cy="583997"/>
          </a:xfrm>
          <a:custGeom>
            <a:pathLst>
              <a:path w="6096" h="583997">
                <a:moveTo>
                  <a:pt x="0" y="583997"/>
                </a:moveTo>
                <a:lnTo>
                  <a:pt x="6096" y="583997"/>
                </a:lnTo>
                <a:lnTo>
                  <a:pt x="6096" y="0"/>
                </a:lnTo>
                <a:lnTo>
                  <a:pt x="0" y="0"/>
                </a:lnTo>
                <a:lnTo>
                  <a:pt x="0" y="583997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62" name="Freeform 762"/>
          <p:cNvSpPr/>
          <p:nvPr/>
        </p:nvSpPr>
        <p:spPr>
          <a:xfrm rot="0" flipH="0" flipV="0">
            <a:off x="3516503" y="9079993"/>
            <a:ext cx="6096" cy="6095"/>
          </a:xfrm>
          <a:custGeom>
            <a:pathLst>
              <a:path w="6096" h="6095">
                <a:moveTo>
                  <a:pt x="0" y="6095"/>
                </a:moveTo>
                <a:lnTo>
                  <a:pt x="6096" y="6095"/>
                </a:lnTo>
                <a:lnTo>
                  <a:pt x="6096" y="0"/>
                </a:lnTo>
                <a:lnTo>
                  <a:pt x="0" y="0"/>
                </a:lnTo>
                <a:lnTo>
                  <a:pt x="0" y="6095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63" name="Freeform 763"/>
          <p:cNvSpPr/>
          <p:nvPr/>
        </p:nvSpPr>
        <p:spPr>
          <a:xfrm rot="0" flipH="0" flipV="0">
            <a:off x="3522598" y="9079993"/>
            <a:ext cx="1192073" cy="6095"/>
          </a:xfrm>
          <a:custGeom>
            <a:pathLst>
              <a:path w="1192073" h="6095">
                <a:moveTo>
                  <a:pt x="0" y="6095"/>
                </a:moveTo>
                <a:lnTo>
                  <a:pt x="1192073" y="6095"/>
                </a:lnTo>
                <a:lnTo>
                  <a:pt x="1192073" y="0"/>
                </a:lnTo>
                <a:lnTo>
                  <a:pt x="0" y="0"/>
                </a:lnTo>
                <a:lnTo>
                  <a:pt x="0" y="6095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64" name="Freeform 764"/>
          <p:cNvSpPr/>
          <p:nvPr/>
        </p:nvSpPr>
        <p:spPr>
          <a:xfrm rot="0" flipH="0" flipV="0">
            <a:off x="4714621" y="8495996"/>
            <a:ext cx="6096" cy="583997"/>
          </a:xfrm>
          <a:custGeom>
            <a:pathLst>
              <a:path w="6096" h="583997">
                <a:moveTo>
                  <a:pt x="0" y="583997"/>
                </a:moveTo>
                <a:lnTo>
                  <a:pt x="6096" y="583997"/>
                </a:lnTo>
                <a:lnTo>
                  <a:pt x="6096" y="0"/>
                </a:lnTo>
                <a:lnTo>
                  <a:pt x="0" y="0"/>
                </a:lnTo>
                <a:lnTo>
                  <a:pt x="0" y="583997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65" name="Freeform 765"/>
          <p:cNvSpPr/>
          <p:nvPr/>
        </p:nvSpPr>
        <p:spPr>
          <a:xfrm rot="0" flipH="0" flipV="0">
            <a:off x="4714621" y="9079993"/>
            <a:ext cx="6096" cy="6095"/>
          </a:xfrm>
          <a:custGeom>
            <a:pathLst>
              <a:path w="6096" h="6095">
                <a:moveTo>
                  <a:pt x="0" y="6095"/>
                </a:moveTo>
                <a:lnTo>
                  <a:pt x="6096" y="6095"/>
                </a:lnTo>
                <a:lnTo>
                  <a:pt x="6096" y="0"/>
                </a:lnTo>
                <a:lnTo>
                  <a:pt x="0" y="0"/>
                </a:lnTo>
                <a:lnTo>
                  <a:pt x="0" y="6095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66" name="Freeform 766"/>
          <p:cNvSpPr/>
          <p:nvPr/>
        </p:nvSpPr>
        <p:spPr>
          <a:xfrm rot="0" flipH="0" flipV="0">
            <a:off x="4720716" y="9079993"/>
            <a:ext cx="2414270" cy="6095"/>
          </a:xfrm>
          <a:custGeom>
            <a:pathLst>
              <a:path w="2414270" h="6095">
                <a:moveTo>
                  <a:pt x="0" y="6095"/>
                </a:moveTo>
                <a:lnTo>
                  <a:pt x="2414270" y="6095"/>
                </a:lnTo>
                <a:lnTo>
                  <a:pt x="2414270" y="0"/>
                </a:lnTo>
                <a:lnTo>
                  <a:pt x="0" y="0"/>
                </a:lnTo>
                <a:lnTo>
                  <a:pt x="0" y="6095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67" name="Freeform 767"/>
          <p:cNvSpPr/>
          <p:nvPr/>
        </p:nvSpPr>
        <p:spPr>
          <a:xfrm rot="0" flipH="0" flipV="0">
            <a:off x="7135114" y="8495996"/>
            <a:ext cx="6096" cy="583997"/>
          </a:xfrm>
          <a:custGeom>
            <a:pathLst>
              <a:path w="6096" h="583997">
                <a:moveTo>
                  <a:pt x="0" y="583997"/>
                </a:moveTo>
                <a:lnTo>
                  <a:pt x="6096" y="583997"/>
                </a:lnTo>
                <a:lnTo>
                  <a:pt x="6096" y="0"/>
                </a:lnTo>
                <a:lnTo>
                  <a:pt x="0" y="0"/>
                </a:lnTo>
                <a:lnTo>
                  <a:pt x="0" y="583997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68" name="Freeform 768"/>
          <p:cNvSpPr/>
          <p:nvPr/>
        </p:nvSpPr>
        <p:spPr>
          <a:xfrm rot="0" flipH="0" flipV="0">
            <a:off x="7135114" y="9079993"/>
            <a:ext cx="6096" cy="6095"/>
          </a:xfrm>
          <a:custGeom>
            <a:pathLst>
              <a:path w="6096" h="6095">
                <a:moveTo>
                  <a:pt x="0" y="6095"/>
                </a:moveTo>
                <a:lnTo>
                  <a:pt x="6096" y="6095"/>
                </a:lnTo>
                <a:lnTo>
                  <a:pt x="6096" y="0"/>
                </a:lnTo>
                <a:lnTo>
                  <a:pt x="0" y="0"/>
                </a:lnTo>
                <a:lnTo>
                  <a:pt x="0" y="6095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69" name="Freeform 769"/>
          <p:cNvSpPr/>
          <p:nvPr/>
        </p:nvSpPr>
        <p:spPr>
          <a:xfrm rot="0" flipH="0" flipV="0">
            <a:off x="7135114" y="9079993"/>
            <a:ext cx="6096" cy="6095"/>
          </a:xfrm>
          <a:custGeom>
            <a:pathLst>
              <a:path w="6096" h="6095">
                <a:moveTo>
                  <a:pt x="0" y="6095"/>
                </a:moveTo>
                <a:lnTo>
                  <a:pt x="6096" y="6095"/>
                </a:lnTo>
                <a:lnTo>
                  <a:pt x="6096" y="0"/>
                </a:lnTo>
                <a:lnTo>
                  <a:pt x="0" y="0"/>
                </a:lnTo>
                <a:lnTo>
                  <a:pt x="0" y="6095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70" name="Picture 770"/>
          <p:cNvPicPr>
            <a:picLocks noChangeAspect="0" noChangeArrowheads="1"/>
          </p:cNvPicPr>
          <p:nvPr/>
        </p:nvPicPr>
        <p:blipFill>
          <a:blip r:embed="rId77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 flipH="0" flipV="0">
            <a:off x="446405" y="9175687"/>
            <a:ext cx="328561" cy="342900"/>
          </a:xfrm>
          <a:prstGeom prst="rect">
            <a:avLst/>
          </a:prstGeom>
          <a:noFill/>
          <a:extLst/>
        </p:spPr>
      </p:pic>
      <p:sp>
        <p:nvSpPr>
          <p:cNvPr id="771" name="Rectangle 771"/>
          <p:cNvSpPr/>
          <p:nvPr/>
        </p:nvSpPr>
        <p:spPr>
          <a:xfrm rot="0" flipH="0" flipV="0">
            <a:off x="216408" y="9969041"/>
            <a:ext cx="6881559" cy="158594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>
              <a:tabLst>
                <a:tab pos="143255" algn="l"/>
                <a:tab pos="2844419" algn="l"/>
                <a:tab pos="5645784" algn="l"/>
              </a:tabLst>
            </a:pPr>
            <a:r>
              <a:rPr lang="it-IT" sz="1509" baseline="-31325" b="0" i="0" dirty="0" spc="0">
                <a:solidFill>
                  <a:srgbClr val="000000"/>
                </a:solidFill>
                <a:latin typeface="Arial" pitchFamily="0" charset="1"/>
              </a:rPr>
              <a:t> 	</a:t>
            </a:r>
            <a:r>
              <a:rPr lang="it-IT" sz="803" baseline="0" b="1" i="0" dirty="0" spc="0">
                <a:solidFill>
                  <a:srgbClr val="000000"/>
                </a:solidFill>
                <a:latin typeface="Arial" pitchFamily="0" charset="1"/>
              </a:rPr>
              <a:t>GENERASalute RSM 	</a:t>
            </a:r>
            <a:r>
              <a:rPr lang="it-IT" sz="803" baseline="0" b="0" i="0" dirty="0" spc="0">
                <a:solidFill>
                  <a:srgbClr val="000000"/>
                </a:solidFill>
                <a:latin typeface="Arial" pitchFamily="0" charset="1"/>
              </a:rPr>
              <a:t>Edizione 05.2022 	Condizioni di assicurazione </a:t>
            </a:r>
          </a:p>
        </p:txBody>
      </p:sp>
      <p:sp>
        <p:nvSpPr>
          <p:cNvPr id="772" name="Rectangle 772"/>
          <p:cNvSpPr/>
          <p:nvPr/>
        </p:nvSpPr>
        <p:spPr>
          <a:xfrm rot="0" flipH="0" flipV="0">
            <a:off x="437387" y="670386"/>
            <a:ext cx="5620370" cy="58630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>
              <a:tabLst>
                <a:tab pos="2343022" algn="l"/>
                <a:tab pos="3152266" algn="l"/>
                <a:tab pos="4350384" algn="l"/>
              </a:tabLst>
            </a:pP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Descrizione Garanzia 	</a:t>
            </a:r>
            <a:r>
              <a:rPr lang="it-IT" sz="996" baseline="0" b="1" i="0" dirty="0" spc="0" u="sng">
                <a:solidFill>
                  <a:srgbClr val="000000"/>
                </a:solidFill>
                <a:latin typeface="Arial" pitchFamily="0" charset="1"/>
              </a:rPr>
              <a:t>Art. 	Massimale 	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Scoperti e franchigie </a:t>
            </a:r>
          </a:p>
          <a:p>
            <a:pPr marL="0">
              <a:lnSpc>
                <a:spcPts val="1200"/>
              </a:lnSpc>
            </a:pP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Intervento</a:t>
            </a:r>
            <a:r>
              <a:rPr lang="it-IT" sz="996" baseline="0" b="1" i="0" dirty="0" spc="610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chirurgico</a:t>
            </a:r>
            <a:r>
              <a:rPr lang="it-IT" sz="996" baseline="0" b="1" i="0" dirty="0" spc="622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effettuato</a:t>
            </a:r>
            <a:r>
              <a:rPr lang="it-IT" sz="996" baseline="0" b="1" i="0" dirty="0" spc="610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in </a:t>
            </a:r>
          </a:p>
          <a:p>
            <a:pPr marL="0">
              <a:lnSpc>
                <a:spcPts val="1153"/>
              </a:lnSpc>
            </a:pP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regime di ricovero in istituto di cura, </a:t>
            </a:r>
          </a:p>
          <a:p>
            <a:pPr marL="0">
              <a:lnSpc>
                <a:spcPts val="1152"/>
              </a:lnSpc>
            </a:pP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Day Hospital o ambulatorio </a:t>
            </a:r>
          </a:p>
        </p:txBody>
      </p:sp>
      <p:sp>
        <p:nvSpPr>
          <p:cNvPr id="773" name="Rectangle 773"/>
          <p:cNvSpPr/>
          <p:nvPr/>
        </p:nvSpPr>
        <p:spPr>
          <a:xfrm rot="0" flipH="0" flipV="0">
            <a:off x="368808" y="1261951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774" name="Rectangle 774"/>
          <p:cNvSpPr/>
          <p:nvPr/>
        </p:nvSpPr>
        <p:spPr>
          <a:xfrm rot="0" flipH="0" flipV="0">
            <a:off x="368808" y="1408255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775" name="Rectangle 775"/>
          <p:cNvSpPr/>
          <p:nvPr/>
        </p:nvSpPr>
        <p:spPr>
          <a:xfrm rot="0" flipH="0" flipV="0">
            <a:off x="437387" y="1553036"/>
            <a:ext cx="1030590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Retta di degenza </a:t>
            </a:r>
          </a:p>
        </p:txBody>
      </p:sp>
      <p:sp>
        <p:nvSpPr>
          <p:cNvPr id="776" name="Rectangle 776"/>
          <p:cNvSpPr/>
          <p:nvPr/>
        </p:nvSpPr>
        <p:spPr>
          <a:xfrm rot="0" flipH="0" flipV="0">
            <a:off x="2780410" y="822786"/>
            <a:ext cx="139914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>
              <a:tabLst>
                <a:tab pos="809244" algn="l"/>
              </a:tabLst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art. 4.1 	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€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150.000 </a:t>
            </a:r>
          </a:p>
        </p:txBody>
      </p:sp>
      <p:sp>
        <p:nvSpPr>
          <p:cNvPr id="777" name="Rectangle 777"/>
          <p:cNvSpPr/>
          <p:nvPr/>
        </p:nvSpPr>
        <p:spPr>
          <a:xfrm rot="0" flipH="0" flipV="0">
            <a:off x="3521075" y="969343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778" name="Rectangle 778"/>
          <p:cNvSpPr/>
          <p:nvPr/>
        </p:nvSpPr>
        <p:spPr>
          <a:xfrm rot="0" flipH="0" flipV="0">
            <a:off x="3521075" y="1115648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779" name="Rectangle 779"/>
          <p:cNvSpPr/>
          <p:nvPr/>
        </p:nvSpPr>
        <p:spPr>
          <a:xfrm rot="0" flipH="0" flipV="0">
            <a:off x="3521075" y="1261951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780" name="Rectangle 780"/>
          <p:cNvSpPr/>
          <p:nvPr/>
        </p:nvSpPr>
        <p:spPr>
          <a:xfrm rot="0" flipH="0" flipV="0">
            <a:off x="3521075" y="1408255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781" name="Rectangle 781"/>
          <p:cNvSpPr/>
          <p:nvPr/>
        </p:nvSpPr>
        <p:spPr>
          <a:xfrm rot="0" flipH="0" flipV="0">
            <a:off x="3589654" y="1553036"/>
            <a:ext cx="981822" cy="28734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Limite giornaliero </a:t>
            </a:r>
          </a:p>
          <a:p>
            <a:pPr marL="0">
              <a:lnSpc>
                <a:spcPts val="1151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€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200 </a:t>
            </a:r>
          </a:p>
        </p:txBody>
      </p:sp>
      <p:sp>
        <p:nvSpPr>
          <p:cNvPr id="782" name="Rectangle 782"/>
          <p:cNvSpPr/>
          <p:nvPr/>
        </p:nvSpPr>
        <p:spPr>
          <a:xfrm rot="0" flipH="0" flipV="0">
            <a:off x="4787772" y="822786"/>
            <a:ext cx="2336785" cy="101759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 u="sng">
                <a:solidFill>
                  <a:srgbClr val="000000"/>
                </a:solidFill>
                <a:latin typeface="Arial" pitchFamily="0" charset="1"/>
              </a:rPr>
              <a:t>Scoperto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: </a:t>
            </a:r>
          </a:p>
          <a:p>
            <a:pPr marL="0">
              <a:lnSpc>
                <a:spcPts val="1153"/>
              </a:lnSpc>
            </a:pPr>
            <a:r>
              <a:rPr lang="it-IT" sz="996" baseline="0" b="0" i="1" dirty="0" spc="0">
                <a:solidFill>
                  <a:srgbClr val="000000"/>
                </a:solidFill>
                <a:latin typeface="Arial" pitchFamily="0" charset="1"/>
              </a:rPr>
              <a:t>in rete: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30% minimo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€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2.500 </a:t>
            </a:r>
          </a:p>
          <a:p>
            <a:pPr marL="0">
              <a:lnSpc>
                <a:spcPts val="115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intervento ambulatoriale: 40% </a:t>
            </a:r>
          </a:p>
          <a:p>
            <a:pPr marL="0">
              <a:lnSpc>
                <a:spcPts val="1151"/>
              </a:lnSpc>
            </a:pPr>
            <a:r>
              <a:rPr lang="it-IT" sz="996" baseline="0" b="0" i="1" dirty="0" spc="0">
                <a:solidFill>
                  <a:srgbClr val="000000"/>
                </a:solidFill>
                <a:latin typeface="Arial" pitchFamily="0" charset="1"/>
              </a:rPr>
              <a:t>fuori rete: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40% con franchigia min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€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5.000 </a:t>
            </a:r>
          </a:p>
          <a:p>
            <a:pPr marL="0">
              <a:lnSpc>
                <a:spcPts val="115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intervento ambulatoriale: rimborso </a:t>
            </a:r>
          </a:p>
          <a:p>
            <a:pPr marL="0">
              <a:lnSpc>
                <a:spcPts val="1140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non previsto </a:t>
            </a:r>
          </a:p>
          <a:p>
            <a:pPr marL="0">
              <a:lnSpc>
                <a:spcPts val="1151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Ticket: rimborso al 100% </a:t>
            </a:r>
          </a:p>
        </p:txBody>
      </p:sp>
      <p:sp>
        <p:nvSpPr>
          <p:cNvPr id="783" name="Rectangle 783"/>
          <p:cNvSpPr/>
          <p:nvPr/>
        </p:nvSpPr>
        <p:spPr>
          <a:xfrm rot="0" flipH="0" flipV="0">
            <a:off x="437387" y="1932511"/>
            <a:ext cx="2237979" cy="578426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Ricovero in istituto di cura od in re- </a:t>
            </a:r>
          </a:p>
          <a:p>
            <a:pPr marL="0">
              <a:lnSpc>
                <a:spcPts val="1152"/>
              </a:lnSpc>
            </a:pP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gime di Day Hospital, o prestazioni in </a:t>
            </a:r>
          </a:p>
          <a:p>
            <a:pPr marL="0">
              <a:lnSpc>
                <a:spcPts val="1140"/>
              </a:lnSpc>
              <a:tabLst>
                <a:tab pos="584772" algn="l"/>
                <a:tab pos="1580391" algn="l"/>
                <a:tab pos="1968721" algn="l"/>
              </a:tabLst>
            </a:pP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regime 	ambulatoriale 	che 	non </a:t>
            </a:r>
          </a:p>
          <a:p>
            <a:pPr marL="0">
              <a:lnSpc>
                <a:spcPts val="1151"/>
              </a:lnSpc>
            </a:pP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comporti intervento chirurgico </a:t>
            </a:r>
          </a:p>
        </p:txBody>
      </p:sp>
      <p:sp>
        <p:nvSpPr>
          <p:cNvPr id="784" name="Rectangle 784"/>
          <p:cNvSpPr/>
          <p:nvPr/>
        </p:nvSpPr>
        <p:spPr>
          <a:xfrm rot="0" flipH="0" flipV="0">
            <a:off x="368808" y="2516203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785" name="Rectangle 785"/>
          <p:cNvSpPr/>
          <p:nvPr/>
        </p:nvSpPr>
        <p:spPr>
          <a:xfrm rot="0" flipH="0" flipV="0">
            <a:off x="368808" y="2662507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786" name="Rectangle 786"/>
          <p:cNvSpPr/>
          <p:nvPr/>
        </p:nvSpPr>
        <p:spPr>
          <a:xfrm rot="0" flipH="0" flipV="0">
            <a:off x="437387" y="2809192"/>
            <a:ext cx="1030590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Retta di degenza </a:t>
            </a:r>
          </a:p>
        </p:txBody>
      </p:sp>
      <p:sp>
        <p:nvSpPr>
          <p:cNvPr id="787" name="Rectangle 787"/>
          <p:cNvSpPr/>
          <p:nvPr/>
        </p:nvSpPr>
        <p:spPr>
          <a:xfrm rot="0" flipH="0" flipV="0">
            <a:off x="2780410" y="1932511"/>
            <a:ext cx="775828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>
              <a:tabLst>
                <a:tab pos="740664" algn="l"/>
                <a:tab pos="740664" algn="l"/>
              </a:tabLst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art. 4.2 	 	</a:t>
            </a:r>
          </a:p>
        </p:txBody>
      </p:sp>
      <p:sp>
        <p:nvSpPr>
          <p:cNvPr id="788" name="Rectangle 788"/>
          <p:cNvSpPr/>
          <p:nvPr/>
        </p:nvSpPr>
        <p:spPr>
          <a:xfrm rot="0" flipH="0" flipV="0">
            <a:off x="3521075" y="2078815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789" name="Rectangle 789"/>
          <p:cNvSpPr/>
          <p:nvPr/>
        </p:nvSpPr>
        <p:spPr>
          <a:xfrm rot="0" flipH="0" flipV="0">
            <a:off x="3521075" y="2223595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790" name="Rectangle 790"/>
          <p:cNvSpPr/>
          <p:nvPr/>
        </p:nvSpPr>
        <p:spPr>
          <a:xfrm rot="0" flipH="0" flipV="0">
            <a:off x="3521075" y="2369899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791" name="Rectangle 791"/>
          <p:cNvSpPr/>
          <p:nvPr/>
        </p:nvSpPr>
        <p:spPr>
          <a:xfrm rot="0" flipH="0" flipV="0">
            <a:off x="3521075" y="2516203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792" name="Rectangle 792"/>
          <p:cNvSpPr/>
          <p:nvPr/>
        </p:nvSpPr>
        <p:spPr>
          <a:xfrm rot="0" flipH="0" flipV="0">
            <a:off x="3521075" y="2662507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793" name="Rectangle 793"/>
          <p:cNvSpPr/>
          <p:nvPr/>
        </p:nvSpPr>
        <p:spPr>
          <a:xfrm rot="0" flipH="0" flipV="0">
            <a:off x="3589654" y="2809192"/>
            <a:ext cx="981822" cy="28734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Limite giornaliero </a:t>
            </a:r>
          </a:p>
          <a:p>
            <a:pPr marL="0">
              <a:lnSpc>
                <a:spcPts val="115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€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200 </a:t>
            </a:r>
          </a:p>
        </p:txBody>
      </p:sp>
      <p:sp>
        <p:nvSpPr>
          <p:cNvPr id="794" name="Rectangle 794"/>
          <p:cNvSpPr/>
          <p:nvPr/>
        </p:nvSpPr>
        <p:spPr>
          <a:xfrm rot="0" flipH="0" flipV="0">
            <a:off x="4787772" y="1932511"/>
            <a:ext cx="2336785" cy="101771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 u="sng">
                <a:solidFill>
                  <a:srgbClr val="000000"/>
                </a:solidFill>
                <a:latin typeface="Arial" pitchFamily="0" charset="1"/>
              </a:rPr>
              <a:t>Scoperto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: </a:t>
            </a:r>
          </a:p>
          <a:p>
            <a:pPr marL="0">
              <a:lnSpc>
                <a:spcPts val="1152"/>
              </a:lnSpc>
            </a:pPr>
            <a:r>
              <a:rPr lang="it-IT" sz="996" baseline="0" b="0" i="1" dirty="0" spc="0">
                <a:solidFill>
                  <a:srgbClr val="000000"/>
                </a:solidFill>
                <a:latin typeface="Arial" pitchFamily="0" charset="1"/>
              </a:rPr>
              <a:t>in rete: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30% minimo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€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2.500 </a:t>
            </a:r>
          </a:p>
          <a:p>
            <a:pPr marL="0">
              <a:lnSpc>
                <a:spcPts val="1140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intervento ambulatoriale: 40% </a:t>
            </a:r>
          </a:p>
          <a:p>
            <a:pPr marL="0">
              <a:lnSpc>
                <a:spcPts val="1151"/>
              </a:lnSpc>
            </a:pPr>
            <a:r>
              <a:rPr lang="it-IT" sz="996" baseline="0" b="0" i="1" dirty="0" spc="0">
                <a:solidFill>
                  <a:srgbClr val="000000"/>
                </a:solidFill>
                <a:latin typeface="Arial" pitchFamily="0" charset="1"/>
              </a:rPr>
              <a:t>fuori rete: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40% con franchigia min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€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5.000 </a:t>
            </a:r>
          </a:p>
          <a:p>
            <a:pPr marL="0">
              <a:lnSpc>
                <a:spcPts val="115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intervento ambulatoriale: rimborso </a:t>
            </a:r>
          </a:p>
          <a:p>
            <a:pPr marL="0">
              <a:lnSpc>
                <a:spcPts val="115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non previsto </a:t>
            </a:r>
          </a:p>
          <a:p>
            <a:pPr marL="0">
              <a:lnSpc>
                <a:spcPts val="1154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Ticket: rimborso al 100% </a:t>
            </a:r>
          </a:p>
        </p:txBody>
      </p:sp>
      <p:sp>
        <p:nvSpPr>
          <p:cNvPr id="795" name="Rectangle 795"/>
          <p:cNvSpPr/>
          <p:nvPr/>
        </p:nvSpPr>
        <p:spPr>
          <a:xfrm rot="0" flipH="0" flipV="0">
            <a:off x="437387" y="3251152"/>
            <a:ext cx="6614018" cy="70949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>
              <a:tabLst>
                <a:tab pos="2343022" algn="l"/>
                <a:tab pos="3152266" algn="l"/>
              </a:tabLst>
            </a:pP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Indennità sostitutiva 	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art. 4.5 	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€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130 Fino al massimo di 100 giorni per annualità assicurativa </a:t>
            </a:r>
          </a:p>
          <a:p>
            <a:pPr marL="0">
              <a:lnSpc>
                <a:spcPts val="2123"/>
              </a:lnSpc>
              <a:tabLst>
                <a:tab pos="2343022" algn="l"/>
                <a:tab pos="3152266" algn="l"/>
                <a:tab pos="4350384" algn="l"/>
              </a:tabLst>
            </a:pP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Cure oncologiche 	</a:t>
            </a:r>
            <a:r>
              <a:rPr lang="it-IT" sz="996" baseline="0" b="0" i="0" dirty="0" spc="0" u="sng">
                <a:solidFill>
                  <a:srgbClr val="000000"/>
                </a:solidFill>
                <a:latin typeface="Arial" pitchFamily="0" charset="1"/>
              </a:rPr>
              <a:t>art. 5 	</a:t>
            </a:r>
            <a:r>
              <a:rPr lang="it-IT" sz="996" baseline="0" b="0" i="0" dirty="0" spc="0" u="sng">
                <a:solidFill>
                  <a:srgbClr val="000000"/>
                </a:solidFill>
                <a:latin typeface="ArialMT" pitchFamily="0" charset="1"/>
              </a:rPr>
              <a:t>€</a:t>
            </a:r>
            <a:r>
              <a:rPr lang="it-IT" sz="996" baseline="0" b="0" i="0" dirty="0" spc="0" u="sng">
                <a:solidFill>
                  <a:srgbClr val="000000"/>
                </a:solidFill>
                <a:latin typeface="Arial" pitchFamily="0" charset="1"/>
              </a:rPr>
              <a:t> 6.000 	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Riconoscimento al 100% della spesa </a:t>
            </a:r>
          </a:p>
          <a:p>
            <a:pPr marL="0">
              <a:lnSpc>
                <a:spcPts val="1200"/>
              </a:lnSpc>
            </a:pP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Prestazione</a:t>
            </a:r>
            <a:r>
              <a:rPr lang="it-IT" sz="996" baseline="0" b="1" i="0" dirty="0" spc="143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diagnostica</a:t>
            </a:r>
            <a:r>
              <a:rPr lang="it-IT" sz="996" baseline="0" b="1" i="0" dirty="0" spc="167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ad</a:t>
            </a:r>
            <a:r>
              <a:rPr lang="it-IT" sz="996" baseline="0" b="1" i="0" dirty="0" spc="143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alta</a:t>
            </a:r>
            <a:r>
              <a:rPr lang="it-IT" sz="996" baseline="0" b="1" i="0" dirty="0" spc="167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spe-</a:t>
            </a:r>
          </a:p>
          <a:p>
            <a:pPr marL="0">
              <a:lnSpc>
                <a:spcPts val="1152"/>
              </a:lnSpc>
            </a:pP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cializzazione </a:t>
            </a:r>
          </a:p>
        </p:txBody>
      </p:sp>
      <p:sp>
        <p:nvSpPr>
          <p:cNvPr id="796" name="Rectangle 796"/>
          <p:cNvSpPr/>
          <p:nvPr/>
        </p:nvSpPr>
        <p:spPr>
          <a:xfrm rot="0" flipH="0" flipV="0">
            <a:off x="368808" y="3965908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797" name="Rectangle 797"/>
          <p:cNvSpPr/>
          <p:nvPr/>
        </p:nvSpPr>
        <p:spPr>
          <a:xfrm rot="0" flipH="0" flipV="0">
            <a:off x="368808" y="4110688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798" name="Rectangle 798"/>
          <p:cNvSpPr/>
          <p:nvPr/>
        </p:nvSpPr>
        <p:spPr>
          <a:xfrm rot="0" flipH="0" flipV="0">
            <a:off x="368808" y="4256992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799" name="Rectangle 799"/>
          <p:cNvSpPr/>
          <p:nvPr/>
        </p:nvSpPr>
        <p:spPr>
          <a:xfrm rot="0" flipH="0" flipV="0">
            <a:off x="437387" y="4403296"/>
            <a:ext cx="2263224" cy="433646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271272"/>
            <a:r>
              <a:rPr lang="it-IT" sz="996" baseline="0" b="0" i="1" dirty="0" spc="0">
                <a:solidFill>
                  <a:srgbClr val="000000"/>
                </a:solidFill>
                <a:latin typeface="Arial" pitchFamily="0" charset="1"/>
              </a:rPr>
              <a:t>di cui </a:t>
            </a:r>
          </a:p>
          <a:p>
            <a:pPr marL="0">
              <a:lnSpc>
                <a:spcPts val="1153"/>
              </a:lnSpc>
            </a:pP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Visite</a:t>
            </a:r>
            <a:r>
              <a:rPr lang="it-IT" sz="996" baseline="0" b="1" i="0" dirty="0" spc="445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specialistiche</a:t>
            </a:r>
            <a:r>
              <a:rPr lang="it-IT" sz="996" baseline="0" b="1" i="0" dirty="0" spc="443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ed</a:t>
            </a:r>
            <a:r>
              <a:rPr lang="it-IT" sz="996" baseline="0" b="1" i="0" dirty="0" spc="419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esami</a:t>
            </a:r>
            <a:r>
              <a:rPr lang="it-IT" sz="996" baseline="0" b="1" i="0" dirty="0" spc="419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dia-</a:t>
            </a:r>
          </a:p>
          <a:p>
            <a:pPr marL="0">
              <a:lnSpc>
                <a:spcPts val="1151"/>
              </a:lnSpc>
            </a:pP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gnostici e di laboratorio </a:t>
            </a:r>
          </a:p>
        </p:txBody>
      </p:sp>
      <p:sp>
        <p:nvSpPr>
          <p:cNvPr id="800" name="Rectangle 800"/>
          <p:cNvSpPr/>
          <p:nvPr/>
        </p:nvSpPr>
        <p:spPr>
          <a:xfrm rot="0" flipH="0" flipV="0">
            <a:off x="368808" y="4842462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801" name="Rectangle 801"/>
          <p:cNvSpPr/>
          <p:nvPr/>
        </p:nvSpPr>
        <p:spPr>
          <a:xfrm rot="0" flipH="0" flipV="0">
            <a:off x="368808" y="4987242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802" name="Rectangle 802"/>
          <p:cNvSpPr/>
          <p:nvPr/>
        </p:nvSpPr>
        <p:spPr>
          <a:xfrm rot="0" flipH="0" flipV="0">
            <a:off x="708659" y="5133546"/>
            <a:ext cx="318933" cy="140785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1" dirty="0" spc="0">
                <a:solidFill>
                  <a:srgbClr val="000000"/>
                </a:solidFill>
                <a:latin typeface="Arial" pitchFamily="0" charset="1"/>
              </a:rPr>
              <a:t>di cui </a:t>
            </a:r>
          </a:p>
        </p:txBody>
      </p:sp>
      <p:sp>
        <p:nvSpPr>
          <p:cNvPr id="803" name="Rectangle 803"/>
          <p:cNvSpPr/>
          <p:nvPr/>
        </p:nvSpPr>
        <p:spPr>
          <a:xfrm rot="0" flipH="0" flipV="0">
            <a:off x="437387" y="5279850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804" name="Rectangle 804"/>
          <p:cNvSpPr/>
          <p:nvPr/>
        </p:nvSpPr>
        <p:spPr>
          <a:xfrm rot="0" flipH="0" flipV="0">
            <a:off x="437387" y="5426154"/>
            <a:ext cx="2298159" cy="28734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Protesi</a:t>
            </a:r>
            <a:r>
              <a:rPr lang="it-IT" sz="996" baseline="0" b="1" i="0" dirty="0" spc="683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ortopediche</a:t>
            </a:r>
            <a:r>
              <a:rPr lang="it-IT" sz="996" baseline="0" b="1" i="0" dirty="0" spc="683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e</a:t>
            </a:r>
            <a:r>
              <a:rPr lang="it-IT" sz="996" baseline="0" b="1" i="0" dirty="0" spc="683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apparecchi </a:t>
            </a:r>
          </a:p>
          <a:p>
            <a:pPr marL="0">
              <a:lnSpc>
                <a:spcPts val="1151"/>
              </a:lnSpc>
            </a:pP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acustici </a:t>
            </a:r>
          </a:p>
        </p:txBody>
      </p:sp>
      <p:sp>
        <p:nvSpPr>
          <p:cNvPr id="805" name="Rectangle 805"/>
          <p:cNvSpPr/>
          <p:nvPr/>
        </p:nvSpPr>
        <p:spPr>
          <a:xfrm rot="0" flipH="0" flipV="0">
            <a:off x="2780410" y="3673300"/>
            <a:ext cx="1329040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>
              <a:tabLst>
                <a:tab pos="809244" algn="l"/>
              </a:tabLst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art. 6 	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€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10.000 </a:t>
            </a:r>
          </a:p>
        </p:txBody>
      </p:sp>
      <p:sp>
        <p:nvSpPr>
          <p:cNvPr id="806" name="Rectangle 806"/>
          <p:cNvSpPr/>
          <p:nvPr/>
        </p:nvSpPr>
        <p:spPr>
          <a:xfrm rot="0" flipH="0" flipV="0">
            <a:off x="3521075" y="3819604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807" name="Rectangle 807"/>
          <p:cNvSpPr/>
          <p:nvPr/>
        </p:nvSpPr>
        <p:spPr>
          <a:xfrm rot="0" flipH="0" flipV="0">
            <a:off x="3521075" y="3965908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808" name="Rectangle 808"/>
          <p:cNvSpPr/>
          <p:nvPr/>
        </p:nvSpPr>
        <p:spPr>
          <a:xfrm rot="0" flipH="0" flipV="0">
            <a:off x="3521075" y="4110688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809" name="Rectangle 809"/>
          <p:cNvSpPr/>
          <p:nvPr/>
        </p:nvSpPr>
        <p:spPr>
          <a:xfrm rot="0" flipH="0" flipV="0">
            <a:off x="3521075" y="4256992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810" name="Rectangle 810"/>
          <p:cNvSpPr/>
          <p:nvPr/>
        </p:nvSpPr>
        <p:spPr>
          <a:xfrm rot="0" flipH="0" flipV="0">
            <a:off x="3521075" y="4403296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811" name="Rectangle 811"/>
          <p:cNvSpPr/>
          <p:nvPr/>
        </p:nvSpPr>
        <p:spPr>
          <a:xfrm rot="0" flipH="0" flipV="0">
            <a:off x="3521075" y="4549600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812" name="Rectangle 812"/>
          <p:cNvSpPr/>
          <p:nvPr/>
        </p:nvSpPr>
        <p:spPr>
          <a:xfrm rot="0" flipH="0" flipV="0">
            <a:off x="3521075" y="4695904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813" name="Rectangle 813"/>
          <p:cNvSpPr/>
          <p:nvPr/>
        </p:nvSpPr>
        <p:spPr>
          <a:xfrm rot="0" flipH="0" flipV="0">
            <a:off x="3521075" y="4842462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814" name="Rectangle 814"/>
          <p:cNvSpPr/>
          <p:nvPr/>
        </p:nvSpPr>
        <p:spPr>
          <a:xfrm rot="0" flipH="0" flipV="0">
            <a:off x="3521075" y="4987242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815" name="Rectangle 815"/>
          <p:cNvSpPr/>
          <p:nvPr/>
        </p:nvSpPr>
        <p:spPr>
          <a:xfrm rot="0" flipH="0" flipV="0">
            <a:off x="3521075" y="5133546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816" name="Rectangle 816"/>
          <p:cNvSpPr/>
          <p:nvPr/>
        </p:nvSpPr>
        <p:spPr>
          <a:xfrm rot="0" flipH="0" flipV="0">
            <a:off x="3521075" y="5279850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817" name="Rectangle 817"/>
          <p:cNvSpPr/>
          <p:nvPr/>
        </p:nvSpPr>
        <p:spPr>
          <a:xfrm rot="0" flipH="0" flipV="0">
            <a:off x="3589654" y="5426154"/>
            <a:ext cx="946770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sottolimite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€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500 </a:t>
            </a:r>
          </a:p>
        </p:txBody>
      </p:sp>
      <p:sp>
        <p:nvSpPr>
          <p:cNvPr id="818" name="Rectangle 818"/>
          <p:cNvSpPr/>
          <p:nvPr/>
        </p:nvSpPr>
        <p:spPr>
          <a:xfrm rot="0" flipH="0" flipV="0">
            <a:off x="4787772" y="3673300"/>
            <a:ext cx="1939022" cy="578426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 u="sng">
                <a:solidFill>
                  <a:srgbClr val="000000"/>
                </a:solidFill>
                <a:latin typeface="Arial" pitchFamily="0" charset="1"/>
              </a:rPr>
              <a:t>Scoperto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: </a:t>
            </a:r>
          </a:p>
          <a:p>
            <a:pPr marL="0">
              <a:lnSpc>
                <a:spcPts val="1152"/>
              </a:lnSpc>
            </a:pPr>
            <a:r>
              <a:rPr lang="it-IT" sz="996" baseline="0" b="0" i="1" dirty="0" spc="0">
                <a:solidFill>
                  <a:srgbClr val="000000"/>
                </a:solidFill>
                <a:latin typeface="Arial" pitchFamily="0" charset="1"/>
              </a:rPr>
              <a:t>in rete: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40% minimo € 50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  <a:p>
            <a:pPr marL="0">
              <a:lnSpc>
                <a:spcPts val="1152"/>
              </a:lnSpc>
            </a:pPr>
            <a:r>
              <a:rPr lang="it-IT" sz="996" baseline="0" b="0" i="1" dirty="0" spc="0">
                <a:solidFill>
                  <a:srgbClr val="000000"/>
                </a:solidFill>
                <a:latin typeface="Arial" pitchFamily="0" charset="1"/>
              </a:rPr>
              <a:t>fuori rete: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rimborso massimo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€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55  </a:t>
            </a:r>
          </a:p>
          <a:p>
            <a:pPr marL="0">
              <a:lnSpc>
                <a:spcPts val="1139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Ticket: rimborso al 100% </a:t>
            </a:r>
          </a:p>
        </p:txBody>
      </p:sp>
      <p:sp>
        <p:nvSpPr>
          <p:cNvPr id="819" name="Rectangle 819"/>
          <p:cNvSpPr/>
          <p:nvPr/>
        </p:nvSpPr>
        <p:spPr>
          <a:xfrm rot="0" flipH="0" flipV="0">
            <a:off x="4720716" y="4256992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820" name="Rectangle 820"/>
          <p:cNvSpPr/>
          <p:nvPr/>
        </p:nvSpPr>
        <p:spPr>
          <a:xfrm rot="0" flipH="0" flipV="0">
            <a:off x="4787772" y="4403296"/>
            <a:ext cx="1814053" cy="580204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 u="sng">
                <a:solidFill>
                  <a:srgbClr val="000000"/>
                </a:solidFill>
                <a:latin typeface="Arial" pitchFamily="0" charset="1"/>
              </a:rPr>
              <a:t>Scoperto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: </a:t>
            </a:r>
          </a:p>
          <a:p>
            <a:pPr marL="0">
              <a:lnSpc>
                <a:spcPts val="1152"/>
              </a:lnSpc>
            </a:pPr>
            <a:r>
              <a:rPr lang="it-IT" sz="996" baseline="0" b="0" i="1" dirty="0" spc="0">
                <a:solidFill>
                  <a:srgbClr val="000000"/>
                </a:solidFill>
                <a:latin typeface="Arial" pitchFamily="0" charset="1"/>
              </a:rPr>
              <a:t>in rete: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40% minimo €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40 </a:t>
            </a:r>
          </a:p>
          <a:p>
            <a:pPr marL="0">
              <a:lnSpc>
                <a:spcPts val="1151"/>
              </a:lnSpc>
            </a:pPr>
            <a:r>
              <a:rPr lang="it-IT" sz="996" baseline="0" b="0" i="1" dirty="0" spc="0">
                <a:solidFill>
                  <a:srgbClr val="000000"/>
                </a:solidFill>
                <a:latin typeface="Arial" pitchFamily="0" charset="1"/>
              </a:rPr>
              <a:t>fuori rete: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rimborso non previsto </a:t>
            </a:r>
          </a:p>
          <a:p>
            <a:pPr marL="0">
              <a:lnSpc>
                <a:spcPts val="1154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Ticket: rimborso al 100% </a:t>
            </a:r>
          </a:p>
        </p:txBody>
      </p:sp>
      <p:sp>
        <p:nvSpPr>
          <p:cNvPr id="821" name="Rectangle 821"/>
          <p:cNvSpPr/>
          <p:nvPr/>
        </p:nvSpPr>
        <p:spPr>
          <a:xfrm rot="0" flipH="0" flipV="0">
            <a:off x="4787772" y="4987242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822" name="Rectangle 822"/>
          <p:cNvSpPr/>
          <p:nvPr/>
        </p:nvSpPr>
        <p:spPr>
          <a:xfrm rot="0" flipH="0" flipV="0">
            <a:off x="4787772" y="5133546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823" name="Rectangle 823"/>
          <p:cNvSpPr/>
          <p:nvPr/>
        </p:nvSpPr>
        <p:spPr>
          <a:xfrm rot="0" flipH="0" flipV="0">
            <a:off x="4787772" y="5279850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824" name="Rectangle 824"/>
          <p:cNvSpPr/>
          <p:nvPr/>
        </p:nvSpPr>
        <p:spPr>
          <a:xfrm rot="0" flipH="0" flipV="0">
            <a:off x="4787772" y="5426154"/>
            <a:ext cx="1571738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 u="sng">
                <a:solidFill>
                  <a:srgbClr val="000000"/>
                </a:solidFill>
                <a:latin typeface="Arial" pitchFamily="0" charset="1"/>
              </a:rPr>
              <a:t>Scoperto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: 30%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minimo € 50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825" name="Rectangle 825"/>
          <p:cNvSpPr/>
          <p:nvPr/>
        </p:nvSpPr>
        <p:spPr>
          <a:xfrm rot="0" flipH="0" flipV="0">
            <a:off x="396240" y="5869638"/>
            <a:ext cx="6735937" cy="29168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41147">
              <a:tabLst>
                <a:tab pos="2384169" algn="l"/>
                <a:tab pos="3193413" algn="l"/>
                <a:tab pos="4391531" algn="l"/>
              </a:tabLst>
            </a:pP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Trattamenti fisioterapici 	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art. 7 	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€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500 	</a:t>
            </a:r>
            <a:r>
              <a:rPr lang="it-IT" sz="996" baseline="0" b="0" i="0" dirty="0" spc="0" u="sng">
                <a:solidFill>
                  <a:srgbClr val="000000"/>
                </a:solidFill>
                <a:latin typeface="Arial" pitchFamily="0" charset="1"/>
              </a:rPr>
              <a:t>Scoperto: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  <a:p>
            <a:pPr marL="4391532">
              <a:lnSpc>
                <a:spcPts val="1151"/>
              </a:lnSpc>
            </a:pPr>
            <a:r>
              <a:rPr lang="it-IT" sz="996" baseline="0" b="0" i="1" dirty="0" spc="0">
                <a:solidFill>
                  <a:srgbClr val="000000"/>
                </a:solidFill>
                <a:latin typeface="Arial" pitchFamily="0" charset="1"/>
              </a:rPr>
              <a:t>in rete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: 40% </a:t>
            </a:r>
          </a:p>
          <a:p>
            <a:pPr marL="4391532">
              <a:lnSpc>
                <a:spcPts val="1139"/>
              </a:lnSpc>
            </a:pPr>
            <a:r>
              <a:rPr lang="it-IT" sz="996" baseline="0" b="0" i="1" dirty="0" spc="0">
                <a:solidFill>
                  <a:srgbClr val="000000"/>
                </a:solidFill>
                <a:latin typeface="Arial" pitchFamily="0" charset="1"/>
              </a:rPr>
              <a:t>fuori rete: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rimborso non previsto </a:t>
            </a:r>
          </a:p>
          <a:p>
            <a:pPr marL="4391532">
              <a:lnSpc>
                <a:spcPts val="1151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Ticket: rimborso al 100% </a:t>
            </a:r>
          </a:p>
          <a:p>
            <a:pPr marL="41147">
              <a:lnSpc>
                <a:spcPts val="1716"/>
              </a:lnSpc>
              <a:tabLst>
                <a:tab pos="2384169" algn="l"/>
                <a:tab pos="3193413" algn="l"/>
                <a:tab pos="4391531" algn="l"/>
              </a:tabLst>
            </a:pP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Cure dentarie 	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art. 8 	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€ 2.000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	</a:t>
            </a:r>
            <a:r>
              <a:rPr lang="it-IT" sz="996" baseline="0" b="0" i="0" dirty="0" spc="0" u="sng">
                <a:solidFill>
                  <a:srgbClr val="000000"/>
                </a:solidFill>
                <a:latin typeface="Arial" pitchFamily="0" charset="1"/>
              </a:rPr>
              <a:t>Scoperto: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  <a:p>
            <a:pPr marL="4391532">
              <a:lnSpc>
                <a:spcPts val="1153"/>
              </a:lnSpc>
              <a:tabLst>
                <a:tab pos="5623305" algn="l"/>
              </a:tabLst>
            </a:pPr>
            <a:r>
              <a:rPr lang="it-IT" sz="996" baseline="0" b="0" i="1" dirty="0" spc="0">
                <a:solidFill>
                  <a:srgbClr val="000000"/>
                </a:solidFill>
                <a:latin typeface="Arial" pitchFamily="0" charset="1"/>
              </a:rPr>
              <a:t>in rete	fuori rete </a:t>
            </a:r>
          </a:p>
          <a:p>
            <a:pPr marL="0">
              <a:lnSpc>
                <a:spcPts val="1201"/>
              </a:lnSpc>
              <a:tabLst>
                <a:tab pos="4391532" algn="l"/>
                <a:tab pos="5585205" algn="l"/>
              </a:tabLst>
            </a:pP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Visite	</a:t>
            </a:r>
            <a:r>
              <a:rPr lang="it-IT" sz="996" baseline="0" b="0" i="0" dirty="0" spc="0" u="sng">
                <a:solidFill>
                  <a:srgbClr val="000000"/>
                </a:solidFill>
                <a:latin typeface="Arial" pitchFamily="0" charset="1"/>
              </a:rPr>
              <a:t>0% 	</a:t>
            </a:r>
            <a:r>
              <a:rPr lang="it-IT" sz="1363" baseline="10666" b="0" i="0" dirty="0" spc="0" u="sng">
                <a:solidFill>
                  <a:srgbClr val="000000"/>
                </a:solidFill>
                <a:latin typeface="Arial" pitchFamily="0" charset="1"/>
              </a:rPr>
              <a:t>Rimborso non previsto</a:t>
            </a:r>
            <a:r>
              <a:rPr lang="it-IT" sz="1509" baseline="9638" b="0" i="0" dirty="0" spc="0" u="sng">
                <a:solidFill>
                  <a:srgbClr val="000000"/>
                </a:solidFill>
                <a:latin typeface="Arial" pitchFamily="0" charset="1"/>
              </a:rPr>
              <a:t> </a:t>
            </a:r>
          </a:p>
          <a:p>
            <a:pPr marL="0">
              <a:lnSpc>
                <a:spcPts val="1200"/>
              </a:lnSpc>
              <a:tabLst>
                <a:tab pos="4391532" algn="l"/>
                <a:tab pos="5585205" algn="l"/>
              </a:tabLst>
            </a:pP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Igiene orale 	</a:t>
            </a:r>
            <a:r>
              <a:rPr lang="it-IT" sz="996" baseline="0" b="0" i="0" dirty="0" spc="0" u="sng">
                <a:solidFill>
                  <a:srgbClr val="000000"/>
                </a:solidFill>
                <a:latin typeface="Arial" pitchFamily="0" charset="1"/>
              </a:rPr>
              <a:t>0% 	</a:t>
            </a:r>
            <a:r>
              <a:rPr lang="it-IT" sz="1363" baseline="10666" b="0" i="0" dirty="0" spc="0" u="sng">
                <a:solidFill>
                  <a:srgbClr val="000000"/>
                </a:solidFill>
                <a:latin typeface="Arial" pitchFamily="0" charset="1"/>
              </a:rPr>
              <a:t>Rimborso non previsto</a:t>
            </a:r>
            <a:r>
              <a:rPr lang="it-IT" sz="1509" baseline="9638" b="0" i="0" dirty="0" spc="0" u="sng">
                <a:solidFill>
                  <a:srgbClr val="000000"/>
                </a:solidFill>
                <a:latin typeface="Arial" pitchFamily="0" charset="1"/>
              </a:rPr>
              <a:t> </a:t>
            </a:r>
          </a:p>
          <a:p>
            <a:pPr marL="0">
              <a:lnSpc>
                <a:spcPts val="1200"/>
              </a:lnSpc>
              <a:tabLst>
                <a:tab pos="4391532" algn="l"/>
                <a:tab pos="5763513" algn="l"/>
              </a:tabLst>
            </a:pP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Visita emergenza 	</a:t>
            </a:r>
            <a:r>
              <a:rPr lang="it-IT" sz="996" baseline="0" b="0" i="0" dirty="0" spc="0" u="sng">
                <a:solidFill>
                  <a:srgbClr val="000000"/>
                </a:solidFill>
                <a:latin typeface="Arial" pitchFamily="0" charset="1"/>
              </a:rPr>
              <a:t>0% 	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20% </a:t>
            </a:r>
          </a:p>
          <a:p>
            <a:pPr marL="0">
              <a:lnSpc>
                <a:spcPts val="1200"/>
              </a:lnSpc>
              <a:tabLst>
                <a:tab pos="4391532" algn="l"/>
                <a:tab pos="5763513" algn="l"/>
              </a:tabLst>
            </a:pP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Conservativa 	</a:t>
            </a:r>
            <a:r>
              <a:rPr lang="it-IT" sz="996" baseline="0" b="0" i="0" dirty="0" spc="0" u="sng">
                <a:solidFill>
                  <a:srgbClr val="000000"/>
                </a:solidFill>
                <a:latin typeface="Arial" pitchFamily="0" charset="1"/>
              </a:rPr>
              <a:t>50% 	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70% </a:t>
            </a:r>
          </a:p>
          <a:p>
            <a:pPr marL="0">
              <a:lnSpc>
                <a:spcPts val="1199"/>
              </a:lnSpc>
              <a:tabLst>
                <a:tab pos="4391532" algn="l"/>
                <a:tab pos="5763513" algn="l"/>
              </a:tabLst>
            </a:pP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Radiologia odontoiatrica 	</a:t>
            </a:r>
            <a:r>
              <a:rPr lang="it-IT" sz="996" baseline="0" b="0" i="0" dirty="0" spc="0" u="sng">
                <a:solidFill>
                  <a:srgbClr val="000000"/>
                </a:solidFill>
                <a:latin typeface="Arial" pitchFamily="0" charset="1"/>
              </a:rPr>
              <a:t>10% 	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50% </a:t>
            </a:r>
          </a:p>
          <a:p>
            <a:pPr marL="0">
              <a:lnSpc>
                <a:spcPts val="1200"/>
              </a:lnSpc>
              <a:tabLst>
                <a:tab pos="4391532" algn="l"/>
                <a:tab pos="5763513" algn="l"/>
              </a:tabLst>
            </a:pP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Chirurgia	</a:t>
            </a:r>
            <a:r>
              <a:rPr lang="it-IT" sz="996" baseline="0" b="0" i="0" dirty="0" spc="0" u="sng">
                <a:solidFill>
                  <a:srgbClr val="000000"/>
                </a:solidFill>
                <a:latin typeface="Arial" pitchFamily="0" charset="1"/>
              </a:rPr>
              <a:t>10% 	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50% </a:t>
            </a:r>
          </a:p>
          <a:p>
            <a:pPr marL="0">
              <a:lnSpc>
                <a:spcPts val="1200"/>
              </a:lnSpc>
              <a:tabLst>
                <a:tab pos="4391532" algn="l"/>
                <a:tab pos="5763513" algn="l"/>
              </a:tabLst>
            </a:pP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Endodonzia	</a:t>
            </a:r>
            <a:r>
              <a:rPr lang="it-IT" sz="996" baseline="0" b="0" i="0" dirty="0" spc="0" u="sng">
                <a:solidFill>
                  <a:srgbClr val="000000"/>
                </a:solidFill>
                <a:latin typeface="Arial" pitchFamily="0" charset="1"/>
              </a:rPr>
              <a:t>50% 	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70% </a:t>
            </a:r>
          </a:p>
          <a:p>
            <a:pPr marL="0">
              <a:lnSpc>
                <a:spcPts val="1200"/>
              </a:lnSpc>
              <a:tabLst>
                <a:tab pos="4391532" algn="l"/>
              </a:tabLst>
            </a:pP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Paradontologia	</a:t>
            </a:r>
            <a:r>
              <a:rPr lang="it-IT" sz="996" baseline="0" b="0" i="0" dirty="0" spc="0" u="sng">
                <a:solidFill>
                  <a:srgbClr val="000000"/>
                </a:solidFill>
                <a:latin typeface="Arial" pitchFamily="0" charset="1"/>
              </a:rPr>
              <a:t>Accesso al tariffario</a:t>
            </a:r>
            <a:r>
              <a:rPr lang="it-IT" sz="996" baseline="0" b="0" i="0" dirty="0" spc="554" u="sng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1363" baseline="10666" b="0" i="0" dirty="0" spc="0" u="sng">
                <a:solidFill>
                  <a:srgbClr val="000000"/>
                </a:solidFill>
                <a:latin typeface="Arial" pitchFamily="0" charset="1"/>
              </a:rPr>
              <a:t>Rimborso non previsto</a:t>
            </a:r>
            <a:r>
              <a:rPr lang="it-IT" sz="1509" baseline="9638" b="0" i="0" dirty="0" spc="0" u="sng">
                <a:solidFill>
                  <a:srgbClr val="000000"/>
                </a:solidFill>
                <a:latin typeface="Arial" pitchFamily="0" charset="1"/>
              </a:rPr>
              <a:t> </a:t>
            </a:r>
          </a:p>
          <a:p>
            <a:pPr marL="0">
              <a:lnSpc>
                <a:spcPts val="1200"/>
              </a:lnSpc>
              <a:tabLst>
                <a:tab pos="4391532" algn="l"/>
              </a:tabLst>
            </a:pP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Protesi	</a:t>
            </a:r>
            <a:r>
              <a:rPr lang="it-IT" sz="996" baseline="0" b="0" i="0" dirty="0" spc="0" u="sng">
                <a:solidFill>
                  <a:srgbClr val="000000"/>
                </a:solidFill>
                <a:latin typeface="Arial" pitchFamily="0" charset="1"/>
              </a:rPr>
              <a:t>Accesso al tariffario</a:t>
            </a:r>
            <a:r>
              <a:rPr lang="it-IT" sz="996" baseline="0" b="0" i="0" dirty="0" spc="554" u="sng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1363" baseline="10666" b="0" i="0" dirty="0" spc="0" u="sng">
                <a:solidFill>
                  <a:srgbClr val="000000"/>
                </a:solidFill>
                <a:latin typeface="Arial" pitchFamily="0" charset="1"/>
              </a:rPr>
              <a:t>Rimborso non previsto</a:t>
            </a:r>
            <a:r>
              <a:rPr lang="it-IT" sz="1509" baseline="9638" b="0" i="0" dirty="0" spc="0" u="sng">
                <a:solidFill>
                  <a:srgbClr val="000000"/>
                </a:solidFill>
                <a:latin typeface="Arial" pitchFamily="0" charset="1"/>
              </a:rPr>
              <a:t> </a:t>
            </a:r>
          </a:p>
          <a:p>
            <a:pPr marL="0">
              <a:lnSpc>
                <a:spcPts val="1200"/>
              </a:lnSpc>
              <a:tabLst>
                <a:tab pos="4391532" algn="l"/>
              </a:tabLst>
            </a:pP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Ortognatodonzia	</a:t>
            </a:r>
            <a:r>
              <a:rPr lang="it-IT" sz="996" baseline="0" b="0" i="0" dirty="0" spc="0" u="sng">
                <a:solidFill>
                  <a:srgbClr val="000000"/>
                </a:solidFill>
                <a:latin typeface="Arial" pitchFamily="0" charset="1"/>
              </a:rPr>
              <a:t>Accesso al tariffario</a:t>
            </a:r>
            <a:r>
              <a:rPr lang="it-IT" sz="996" baseline="0" b="0" i="0" dirty="0" spc="554" u="sng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1363" baseline="10666" b="0" i="0" dirty="0" spc="0" u="sng">
                <a:solidFill>
                  <a:srgbClr val="000000"/>
                </a:solidFill>
                <a:latin typeface="Arial" pitchFamily="0" charset="1"/>
              </a:rPr>
              <a:t>Rimborso non previsto</a:t>
            </a:r>
            <a:r>
              <a:rPr lang="it-IT" sz="1509" baseline="9638" b="0" i="0" dirty="0" spc="0" u="sng">
                <a:solidFill>
                  <a:srgbClr val="000000"/>
                </a:solidFill>
                <a:latin typeface="Arial" pitchFamily="0" charset="1"/>
              </a:rPr>
              <a:t> </a:t>
            </a:r>
          </a:p>
          <a:p>
            <a:pPr marL="0">
              <a:lnSpc>
                <a:spcPts val="1200"/>
              </a:lnSpc>
              <a:tabLst>
                <a:tab pos="4391532" algn="l"/>
              </a:tabLst>
            </a:pP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Implantologia	</a:t>
            </a:r>
            <a:r>
              <a:rPr lang="it-IT" sz="996" baseline="0" b="0" i="0" dirty="0" spc="0" u="sng">
                <a:solidFill>
                  <a:srgbClr val="000000"/>
                </a:solidFill>
                <a:latin typeface="Arial" pitchFamily="0" charset="1"/>
              </a:rPr>
              <a:t>Accesso al tariffario</a:t>
            </a:r>
            <a:r>
              <a:rPr lang="it-IT" sz="996" baseline="0" b="0" i="0" dirty="0" spc="554" u="sng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1363" baseline="10666" b="0" i="0" dirty="0" spc="0" u="sng">
                <a:solidFill>
                  <a:srgbClr val="000000"/>
                </a:solidFill>
                <a:latin typeface="Arial" pitchFamily="0" charset="1"/>
              </a:rPr>
              <a:t>Rimborso non previsto</a:t>
            </a:r>
            <a:r>
              <a:rPr lang="it-IT" sz="1509" baseline="9638" b="0" i="0" dirty="0" spc="0" u="sng">
                <a:solidFill>
                  <a:srgbClr val="000000"/>
                </a:solidFill>
                <a:latin typeface="Arial" pitchFamily="0" charset="1"/>
              </a:rPr>
              <a:t> </a:t>
            </a:r>
          </a:p>
          <a:p>
            <a:pPr marL="0">
              <a:lnSpc>
                <a:spcPts val="1200"/>
              </a:lnSpc>
            </a:pP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Interventi</a:t>
            </a:r>
            <a:r>
              <a:rPr lang="it-IT" sz="996" baseline="0" b="1" i="0" dirty="0" spc="827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Chirurgici</a:t>
            </a:r>
            <a:r>
              <a:rPr lang="it-IT" sz="996" baseline="0" b="1" i="0" dirty="0" spc="827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Odontoiatrici </a:t>
            </a:r>
          </a:p>
          <a:p>
            <a:pPr marL="0">
              <a:lnSpc>
                <a:spcPts val="1141"/>
              </a:lnSpc>
            </a:pP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Extraricovero </a:t>
            </a:r>
          </a:p>
        </p:txBody>
      </p:sp>
      <p:sp>
        <p:nvSpPr>
          <p:cNvPr id="826" name="Rectangle 826"/>
          <p:cNvSpPr/>
          <p:nvPr/>
        </p:nvSpPr>
        <p:spPr>
          <a:xfrm rot="0" flipH="0" flipV="0">
            <a:off x="2708782" y="8500443"/>
            <a:ext cx="3492231" cy="57868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>
              <a:tabLst>
                <a:tab pos="928116" algn="l"/>
                <a:tab pos="2080513" algn="l"/>
              </a:tabLst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art. 9	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€ 4.000</a:t>
            </a:r>
            <a:r>
              <a:rPr lang="it-IT" sz="100" baseline="0" b="0" i="0" dirty="0" spc="0">
                <a:solidFill>
                  <a:srgbClr val="000000"/>
                </a:solidFill>
                <a:latin typeface="Arial" pitchFamily="0" charset="1"/>
              </a:rPr>
              <a:t> 	</a:t>
            </a:r>
            <a:r>
              <a:rPr lang="it-IT" sz="996" baseline="0" b="0" i="0" dirty="0" spc="0" u="sng">
                <a:solidFill>
                  <a:srgbClr val="000000"/>
                </a:solidFill>
                <a:latin typeface="Arial" pitchFamily="0" charset="1"/>
              </a:rPr>
              <a:t>Scoperto: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  <a:p>
            <a:pPr marL="2080513">
              <a:lnSpc>
                <a:spcPts val="1141"/>
              </a:lnSpc>
            </a:pPr>
            <a:r>
              <a:rPr lang="it-IT" sz="996" baseline="0" b="0" i="1" dirty="0" spc="0">
                <a:solidFill>
                  <a:srgbClr val="000000"/>
                </a:solidFill>
                <a:latin typeface="Arial" pitchFamily="0" charset="1"/>
              </a:rPr>
              <a:t>in rete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: 30% </a:t>
            </a:r>
          </a:p>
          <a:p>
            <a:pPr marL="2080513">
              <a:lnSpc>
                <a:spcPts val="1151"/>
              </a:lnSpc>
            </a:pPr>
            <a:r>
              <a:rPr lang="it-IT" sz="996" baseline="0" b="0" i="1" dirty="0" spc="0">
                <a:solidFill>
                  <a:srgbClr val="000000"/>
                </a:solidFill>
                <a:latin typeface="Arial" pitchFamily="0" charset="1"/>
              </a:rPr>
              <a:t>fuori rete: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35% </a:t>
            </a:r>
          </a:p>
          <a:p>
            <a:pPr marL="2011933">
              <a:lnSpc>
                <a:spcPts val="115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 Ticket: rimborso al 100% </a:t>
            </a:r>
          </a:p>
        </p:txBody>
      </p:sp>
      <p:sp>
        <p:nvSpPr>
          <p:cNvPr id="827" name="Rectangle 827"/>
          <p:cNvSpPr/>
          <p:nvPr/>
        </p:nvSpPr>
        <p:spPr>
          <a:xfrm rot="0" flipH="0" flipV="0">
            <a:off x="216408" y="9087247"/>
            <a:ext cx="3389" cy="1359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</a:p>
        </p:txBody>
      </p:sp>
      <p:sp>
        <p:nvSpPr>
          <p:cNvPr id="828" name="Rectangle 828"/>
          <p:cNvSpPr/>
          <p:nvPr/>
        </p:nvSpPr>
        <p:spPr>
          <a:xfrm rot="0" flipH="0" flipV="0">
            <a:off x="774191" y="9406129"/>
            <a:ext cx="1824253" cy="15240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Times New Roman" pitchFamily="0" charset="1"/>
              </a:rPr>
              <a:t> </a:t>
            </a:r>
            <a:r>
              <a:rPr lang="it-IT" sz="1200" baseline="0" b="1" i="1" dirty="0" spc="0">
                <a:solidFill>
                  <a:srgbClr val="000000"/>
                </a:solidFill>
                <a:latin typeface="Calibri-BoldItalic" pitchFamily="0" charset="1"/>
              </a:rPr>
              <a:t>Che cosa NON è assicurato? </a:t>
            </a:r>
          </a:p>
        </p:txBody>
      </p:sp>
      <p:sp>
        <p:nvSpPr>
          <p:cNvPr id="829" name="Rectangle 829"/>
          <p:cNvSpPr/>
          <p:nvPr/>
        </p:nvSpPr>
        <p:spPr>
          <a:xfrm rot="0" flipH="0" flipV="0">
            <a:off x="446531" y="9592057"/>
            <a:ext cx="34442" cy="15240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1200" baseline="0" b="1" i="1" dirty="0" spc="0">
                <a:solidFill>
                  <a:srgbClr val="000000"/>
                </a:solidFill>
                <a:latin typeface="Calibri-BoldItalic" pitchFamily="0" charset="1"/>
              </a:rPr>
              <a:t> </a:t>
            </a:r>
          </a:p>
        </p:txBody>
      </p:sp>
      <p:sp>
        <p:nvSpPr>
          <p:cNvPr id="830" name="Rectangle 830"/>
          <p:cNvSpPr/>
          <p:nvPr/>
        </p:nvSpPr>
        <p:spPr>
          <a:xfrm rot="0" flipH="0" flipV="0">
            <a:off x="446531" y="9777985"/>
            <a:ext cx="2000656" cy="15240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1200" baseline="0" b="1" i="1" dirty="0" spc="0">
                <a:solidFill>
                  <a:srgbClr val="000000"/>
                </a:solidFill>
                <a:latin typeface="Calibri-BoldItalic" pitchFamily="0" charset="1"/>
              </a:rPr>
              <a:t>Art. 11 Persone non assicurabili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/>
      </p:grpSpPr>
      <p:pic>
        <p:nvPicPr>
          <p:cNvPr id="831" name="Picture 831"/>
          <p:cNvPicPr>
            <a:picLocks noChangeAspect="0" noChangeArrowheads="1"/>
          </p:cNvPicPr>
          <p:nvPr/>
        </p:nvPicPr>
        <p:blipFill>
          <a:blip r:embed="rId8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 flipH="0" flipV="0">
            <a:off x="445134" y="2014741"/>
            <a:ext cx="330834" cy="345427"/>
          </a:xfrm>
          <a:prstGeom prst="rect">
            <a:avLst/>
          </a:prstGeom>
          <a:noFill/>
          <a:extLst/>
        </p:spPr>
      </p:pic>
      <p:pic>
        <p:nvPicPr>
          <p:cNvPr id="832" name="Picture 428"/>
          <p:cNvPicPr>
            <a:picLocks noChangeAspect="0" noChangeArrowheads="1"/>
          </p:cNvPicPr>
          <p:nvPr/>
        </p:nvPicPr>
        <p:blipFill>
          <a:blip r:embed="rId8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 flipH="0" flipV="0">
            <a:off x="986104" y="4378960"/>
            <a:ext cx="279400" cy="251459"/>
          </a:xfrm>
          <a:prstGeom prst="rect">
            <a:avLst/>
          </a:prstGeom>
          <a:noFill/>
          <a:extLst/>
        </p:spPr>
      </p:pic>
      <p:sp>
        <p:nvSpPr>
          <p:cNvPr id="833" name="Freeform 833"/>
          <p:cNvSpPr/>
          <p:nvPr/>
        </p:nvSpPr>
        <p:spPr>
          <a:xfrm rot="0" flipH="0" flipV="0">
            <a:off x="916177" y="4363593"/>
            <a:ext cx="6355080" cy="455931"/>
          </a:xfrm>
          <a:custGeom>
            <a:pathLst>
              <a:path w="6355080" h="455931">
                <a:moveTo>
                  <a:pt x="0" y="455931"/>
                </a:moveTo>
                <a:lnTo>
                  <a:pt x="6355080" y="455931"/>
                </a:lnTo>
                <a:lnTo>
                  <a:pt x="6355080" y="0"/>
                </a:lnTo>
                <a:lnTo>
                  <a:pt x="0" y="0"/>
                </a:lnTo>
                <a:lnTo>
                  <a:pt x="0" y="455931"/>
                </a:lnTo>
                <a:close/>
              </a:path>
            </a:pathLst>
          </a:custGeom>
          <a:noFill/>
          <a:ln w="6095" cap="flat" cmpd="sng">
            <a:solidFill>
              <a:srgbClr val="000000">
                <a:alpha val="10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834" name="Picture 834"/>
          <p:cNvPicPr>
            <a:picLocks noChangeAspect="0" noChangeArrowheads="1"/>
          </p:cNvPicPr>
          <p:nvPr/>
        </p:nvPicPr>
        <p:blipFill>
          <a:blip r:embed="rId8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 flipH="0" flipV="0">
            <a:off x="918972" y="4366260"/>
            <a:ext cx="6348984" cy="449580"/>
          </a:xfrm>
          <a:prstGeom prst="rect">
            <a:avLst/>
          </a:prstGeom>
          <a:noFill/>
          <a:extLst/>
        </p:spPr>
      </p:pic>
      <p:pic>
        <p:nvPicPr>
          <p:cNvPr id="835" name="Picture 428"/>
          <p:cNvPicPr>
            <a:picLocks noChangeAspect="0" noChangeArrowheads="1"/>
          </p:cNvPicPr>
          <p:nvPr/>
        </p:nvPicPr>
        <p:blipFill>
          <a:blip r:embed="rId8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 flipH="0" flipV="0">
            <a:off x="900252" y="7090156"/>
            <a:ext cx="279400" cy="251459"/>
          </a:xfrm>
          <a:prstGeom prst="rect">
            <a:avLst/>
          </a:prstGeom>
          <a:noFill/>
          <a:extLst/>
        </p:spPr>
      </p:pic>
      <p:sp>
        <p:nvSpPr>
          <p:cNvPr id="836" name="Freeform 836"/>
          <p:cNvSpPr/>
          <p:nvPr/>
        </p:nvSpPr>
        <p:spPr>
          <a:xfrm rot="0" flipH="0" flipV="0">
            <a:off x="829183" y="7074282"/>
            <a:ext cx="6264909" cy="748665"/>
          </a:xfrm>
          <a:custGeom>
            <a:pathLst>
              <a:path w="6264909" h="748665">
                <a:moveTo>
                  <a:pt x="0" y="748665"/>
                </a:moveTo>
                <a:lnTo>
                  <a:pt x="6264909" y="748665"/>
                </a:lnTo>
                <a:lnTo>
                  <a:pt x="6264909" y="0"/>
                </a:lnTo>
                <a:lnTo>
                  <a:pt x="0" y="0"/>
                </a:lnTo>
                <a:lnTo>
                  <a:pt x="0" y="748665"/>
                </a:lnTo>
                <a:close/>
              </a:path>
            </a:pathLst>
          </a:custGeom>
          <a:noFill/>
          <a:ln w="6094" cap="flat" cmpd="sng">
            <a:solidFill>
              <a:srgbClr val="000000">
                <a:alpha val="10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837" name="Picture 837"/>
          <p:cNvPicPr>
            <a:picLocks noChangeAspect="0" noChangeArrowheads="1"/>
          </p:cNvPicPr>
          <p:nvPr/>
        </p:nvPicPr>
        <p:blipFill>
          <a:blip r:embed="rId8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 flipH="0" flipV="0">
            <a:off x="832103" y="7077456"/>
            <a:ext cx="6259067" cy="742187"/>
          </a:xfrm>
          <a:prstGeom prst="rect">
            <a:avLst/>
          </a:prstGeom>
          <a:noFill/>
          <a:extLst/>
        </p:spPr>
      </p:pic>
      <p:sp>
        <p:nvSpPr>
          <p:cNvPr id="838" name="Rectangle 838"/>
          <p:cNvSpPr/>
          <p:nvPr/>
        </p:nvSpPr>
        <p:spPr>
          <a:xfrm rot="0" flipH="0" flipV="0">
            <a:off x="216408" y="9969041"/>
            <a:ext cx="6881559" cy="158594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>
              <a:tabLst>
                <a:tab pos="143255" algn="l"/>
                <a:tab pos="2844419" algn="l"/>
                <a:tab pos="5645784" algn="l"/>
              </a:tabLst>
            </a:pPr>
            <a:r>
              <a:rPr lang="it-IT" sz="1509" baseline="-31325" b="0" i="0" dirty="0" spc="0">
                <a:solidFill>
                  <a:srgbClr val="000000"/>
                </a:solidFill>
                <a:latin typeface="Arial" pitchFamily="0" charset="1"/>
              </a:rPr>
              <a:t> 	</a:t>
            </a:r>
            <a:r>
              <a:rPr lang="it-IT" sz="803" baseline="0" b="1" i="0" dirty="0" spc="0">
                <a:solidFill>
                  <a:srgbClr val="000000"/>
                </a:solidFill>
                <a:latin typeface="Arial" pitchFamily="0" charset="1"/>
              </a:rPr>
              <a:t>GENERASalute RSM 	</a:t>
            </a:r>
            <a:r>
              <a:rPr lang="it-IT" sz="803" baseline="0" b="0" i="0" dirty="0" spc="0">
                <a:solidFill>
                  <a:srgbClr val="000000"/>
                </a:solidFill>
                <a:latin typeface="Arial" pitchFamily="0" charset="1"/>
              </a:rPr>
              <a:t>Edizione 05.2022 	Condizioni di assicurazione </a:t>
            </a:r>
          </a:p>
        </p:txBody>
      </p:sp>
      <p:sp>
        <p:nvSpPr>
          <p:cNvPr id="839" name="Rectangle 839"/>
          <p:cNvSpPr/>
          <p:nvPr/>
        </p:nvSpPr>
        <p:spPr>
          <a:xfrm rot="0" flipH="0" flipV="0">
            <a:off x="446531" y="664289"/>
            <a:ext cx="6641083" cy="43390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Non sono assicurabili le persone affette da alcoolismo, tossicodipendenza; al manifestarsi di tali affezioni nel corso del </a:t>
            </a:r>
          </a:p>
          <a:p>
            <a:pPr marL="0">
              <a:lnSpc>
                <a:spcPts val="115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contratto, l’assicurazione nei loro confronti viene a cessare indipendentemente dalla concreta valutazione dello stato </a:t>
            </a:r>
          </a:p>
          <a:p>
            <a:pPr marL="0">
              <a:lnSpc>
                <a:spcPts val="1153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di salute dell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’Assicurato.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840" name="Rectangle 840"/>
          <p:cNvSpPr/>
          <p:nvPr/>
        </p:nvSpPr>
        <p:spPr>
          <a:xfrm rot="0" flipH="0" flipV="0">
            <a:off x="216408" y="1103455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841" name="Rectangle 841"/>
          <p:cNvSpPr/>
          <p:nvPr/>
        </p:nvSpPr>
        <p:spPr>
          <a:xfrm rot="0" flipH="0" flipV="0">
            <a:off x="446531" y="1275843"/>
            <a:ext cx="6790328" cy="59196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1200" baseline="0" b="1" i="1" dirty="0" spc="0">
                <a:solidFill>
                  <a:srgbClr val="000000"/>
                </a:solidFill>
                <a:latin typeface="Calibri-BoldItalic" pitchFamily="0" charset="1"/>
              </a:rPr>
              <a:t>Art. 12 Permanenza in assicurazione </a:t>
            </a:r>
            <a:r>
              <a:rPr lang="it-IT" sz="1200" baseline="0" b="1" i="1" dirty="0" spc="0">
                <a:solidFill>
                  <a:srgbClr val="000000"/>
                </a:solidFill>
                <a:latin typeface="Calibri-BoldItalic" pitchFamily="0" charset="1"/>
              </a:rPr>
              <a:t>–</a:t>
            </a:r>
            <a:r>
              <a:rPr lang="it-IT" sz="1200" baseline="0" b="1" i="1" dirty="0" spc="0">
                <a:solidFill>
                  <a:srgbClr val="000000"/>
                </a:solidFill>
                <a:latin typeface="Calibri-BoldItalic" pitchFamily="0" charset="1"/>
              </a:rPr>
              <a:t> Limiti di età </a:t>
            </a:r>
          </a:p>
          <a:p>
            <a:pPr marL="0">
              <a:lnSpc>
                <a:spcPts val="1169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L’assicurazione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vale per le persone di età non superiore a 75 anni. </a:t>
            </a:r>
          </a:p>
          <a:p>
            <a:pPr marL="0">
              <a:lnSpc>
                <a:spcPts val="1140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Per coloro che compiono i 75 anni in corso di copertura, la stessa vale fino alla fine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dell’annualità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assicurativa e pertanto </a:t>
            </a:r>
          </a:p>
          <a:p>
            <a:pPr marL="0">
              <a:lnSpc>
                <a:spcPts val="115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non si darà seguito al rimborso del Premio che si considera acquisito. </a:t>
            </a:r>
          </a:p>
        </p:txBody>
      </p:sp>
      <p:sp>
        <p:nvSpPr>
          <p:cNvPr id="843" name="Rectangle 843"/>
          <p:cNvSpPr/>
          <p:nvPr/>
        </p:nvSpPr>
        <p:spPr>
          <a:xfrm rot="0" flipH="0" flipV="0">
            <a:off x="446531" y="1873075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844" name="Rectangle 844"/>
          <p:cNvSpPr/>
          <p:nvPr/>
        </p:nvSpPr>
        <p:spPr>
          <a:xfrm rot="0" flipH="0" flipV="0">
            <a:off x="775716" y="2246631"/>
            <a:ext cx="1784248" cy="15240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Times New Roman" pitchFamily="0" charset="1"/>
              </a:rPr>
              <a:t> </a:t>
            </a:r>
            <a:r>
              <a:rPr lang="it-IT" sz="1200" baseline="0" b="1" i="1" dirty="0" spc="0">
                <a:solidFill>
                  <a:srgbClr val="000000"/>
                </a:solidFill>
                <a:latin typeface="Calibri-BoldItalic" pitchFamily="0" charset="1"/>
              </a:rPr>
              <a:t>Ci sono limiti di copertura?  </a:t>
            </a:r>
          </a:p>
        </p:txBody>
      </p:sp>
      <p:sp>
        <p:nvSpPr>
          <p:cNvPr id="845" name="Rectangle 845"/>
          <p:cNvSpPr/>
          <p:nvPr/>
        </p:nvSpPr>
        <p:spPr>
          <a:xfrm rot="0" flipH="0" flipV="0">
            <a:off x="445008" y="2432559"/>
            <a:ext cx="34442" cy="15240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1200" baseline="0" b="1" i="1" dirty="0" spc="0">
                <a:solidFill>
                  <a:srgbClr val="000000"/>
                </a:solidFill>
                <a:latin typeface="Calibri-BoldItalic" pitchFamily="0" charset="1"/>
              </a:rPr>
              <a:t> </a:t>
            </a:r>
          </a:p>
        </p:txBody>
      </p:sp>
      <p:sp>
        <p:nvSpPr>
          <p:cNvPr id="846" name="Rectangle 846"/>
          <p:cNvSpPr/>
          <p:nvPr/>
        </p:nvSpPr>
        <p:spPr>
          <a:xfrm rot="0" flipH="0" flipV="0">
            <a:off x="445008" y="2618486"/>
            <a:ext cx="1838310" cy="29974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1200" baseline="0" b="1" i="1" dirty="0" spc="0">
                <a:solidFill>
                  <a:srgbClr val="000000"/>
                </a:solidFill>
                <a:latin typeface="Calibri-BoldItalic" pitchFamily="0" charset="1"/>
              </a:rPr>
              <a:t>Art. 13 Esclusioni </a:t>
            </a:r>
          </a:p>
          <a:p>
            <a:pPr marL="1523">
              <a:lnSpc>
                <a:spcPts val="1160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L’assicurazione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non comprende: </a:t>
            </a:r>
          </a:p>
        </p:txBody>
      </p:sp>
      <p:sp>
        <p:nvSpPr>
          <p:cNvPr id="847" name="Rectangle 847"/>
          <p:cNvSpPr/>
          <p:nvPr/>
        </p:nvSpPr>
        <p:spPr>
          <a:xfrm rot="0" flipH="0" flipV="0">
            <a:off x="216408" y="2923492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848" name="Rectangle 848"/>
          <p:cNvSpPr/>
          <p:nvPr/>
        </p:nvSpPr>
        <p:spPr>
          <a:xfrm rot="0" flipH="0" flipV="0">
            <a:off x="675131" y="3069797"/>
            <a:ext cx="6425042" cy="116364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-14">
                <a:solidFill>
                  <a:srgbClr val="000000"/>
                </a:solidFill>
                <a:latin typeface="Arial" pitchFamily="0" charset="1"/>
              </a:rPr>
              <a:t>a</a:t>
            </a:r>
            <a:r>
              <a:rPr lang="it-IT" sz="996" baseline="0" b="0" i="0" dirty="0" spc="-8">
                <a:solidFill>
                  <a:srgbClr val="000000"/>
                </a:solidFill>
                <a:latin typeface="Arial" pitchFamily="0" charset="1"/>
              </a:rPr>
              <a:t>)</a:t>
            </a:r>
            <a:r>
              <a:rPr lang="it-IT" sz="996" baseline="0" b="0" i="0" dirty="0" spc="668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gli infortuni derivanti dalla pratica degli sport aerei in genere o di qualsiasi sport esercitato professionalmente; </a:t>
            </a:r>
          </a:p>
          <a:p>
            <a:pPr marL="0">
              <a:lnSpc>
                <a:spcPts val="1151"/>
              </a:lnSpc>
            </a:pPr>
            <a:r>
              <a:rPr lang="it-IT" sz="996" baseline="0" b="0" i="0" dirty="0" spc="-14">
                <a:solidFill>
                  <a:srgbClr val="000000"/>
                </a:solidFill>
                <a:latin typeface="Arial" pitchFamily="0" charset="1"/>
              </a:rPr>
              <a:t>b</a:t>
            </a:r>
            <a:r>
              <a:rPr lang="it-IT" sz="996" baseline="0" b="0" i="0" dirty="0" spc="-8">
                <a:solidFill>
                  <a:srgbClr val="000000"/>
                </a:solidFill>
                <a:latin typeface="Arial" pitchFamily="0" charset="1"/>
              </a:rPr>
              <a:t>)</a:t>
            </a:r>
            <a:r>
              <a:rPr lang="it-IT" sz="996" baseline="0" b="0" i="0" dirty="0" spc="656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gli infortuni derivanti dalla partecipazione a corse o gare automobilistiche non di regolarità pura, motociclistiche </a:t>
            </a:r>
          </a:p>
          <a:p>
            <a:pPr marL="228904">
              <a:lnSpc>
                <a:spcPts val="115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e motonautiche, ed alle relative prove ed allenamenti; </a:t>
            </a:r>
          </a:p>
          <a:p>
            <a:pPr marL="0">
              <a:lnSpc>
                <a:spcPts val="1152"/>
              </a:lnSpc>
            </a:pPr>
            <a:r>
              <a:rPr lang="it-IT" sz="996" baseline="0" b="0" i="0" dirty="0" spc="-13">
                <a:solidFill>
                  <a:srgbClr val="000000"/>
                </a:solidFill>
                <a:latin typeface="Arial" pitchFamily="0" charset="1"/>
              </a:rPr>
              <a:t>c</a:t>
            </a:r>
            <a:r>
              <a:rPr lang="it-IT" sz="996" baseline="0" b="0" i="0" dirty="0" spc="-8">
                <a:solidFill>
                  <a:srgbClr val="000000"/>
                </a:solidFill>
                <a:latin typeface="Arial" pitchFamily="0" charset="1"/>
              </a:rPr>
              <a:t>)</a:t>
            </a:r>
            <a:r>
              <a:rPr lang="it-IT" sz="996" baseline="0" b="0" i="0" dirty="0" spc="704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gli infortuni determinati da ubriachezza o sofferti sotto influenza di allucinogeni, di stupefacenti e di psicofarmaci, </a:t>
            </a:r>
          </a:p>
          <a:p>
            <a:pPr marL="228904">
              <a:lnSpc>
                <a:spcPts val="1139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nonché in conseguenza di proprie azioni dolose delittuose; </a:t>
            </a:r>
          </a:p>
          <a:p>
            <a:pPr marL="0">
              <a:lnSpc>
                <a:spcPts val="1152"/>
              </a:lnSpc>
            </a:pPr>
            <a:r>
              <a:rPr lang="it-IT" sz="996" baseline="0" b="0" i="0" dirty="0" spc="-14">
                <a:solidFill>
                  <a:srgbClr val="000000"/>
                </a:solidFill>
                <a:latin typeface="Arial" pitchFamily="0" charset="1"/>
              </a:rPr>
              <a:t>d</a:t>
            </a:r>
            <a:r>
              <a:rPr lang="it-IT" sz="996" baseline="0" b="0" i="0" dirty="0" spc="-8">
                <a:solidFill>
                  <a:srgbClr val="000000"/>
                </a:solidFill>
                <a:latin typeface="Arial" pitchFamily="0" charset="1"/>
              </a:rPr>
              <a:t>)</a:t>
            </a:r>
            <a:r>
              <a:rPr lang="it-IT" sz="996" baseline="0" b="0" i="0" dirty="0" spc="656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gli infortuni sofferti e le malattie verificatesi durante lo svolgimento del servizio di leva od il servizio sostitutivo </a:t>
            </a:r>
          </a:p>
          <a:p>
            <a:pPr marL="228904">
              <a:lnSpc>
                <a:spcPts val="115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di questo, l’arruolamento volontario, il richiamo per mobilitazione o per motivi di carattere eccezionale;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  <a:p>
            <a:pPr marL="0">
              <a:lnSpc>
                <a:spcPts val="1151"/>
              </a:lnSpc>
            </a:pPr>
            <a:r>
              <a:rPr lang="it-IT" sz="996" baseline="0" b="0" i="0" dirty="0" spc="-14">
                <a:solidFill>
                  <a:srgbClr val="000000"/>
                </a:solidFill>
                <a:latin typeface="Arial" pitchFamily="0" charset="1"/>
              </a:rPr>
              <a:t>e</a:t>
            </a:r>
            <a:r>
              <a:rPr lang="it-IT" sz="996" baseline="0" b="0" i="0" dirty="0" spc="-8">
                <a:solidFill>
                  <a:srgbClr val="000000"/>
                </a:solidFill>
                <a:latin typeface="Arial" pitchFamily="0" charset="1"/>
              </a:rPr>
              <a:t>)</a:t>
            </a:r>
            <a:r>
              <a:rPr lang="it-IT" sz="996" baseline="0" b="0" i="0" dirty="0" spc="668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le cure e gli interventi per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l’eliminazione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o correzione di difetti fisici preesistenti alla stipulazione del contratto; </a:t>
            </a:r>
          </a:p>
        </p:txBody>
      </p:sp>
      <p:sp>
        <p:nvSpPr>
          <p:cNvPr id="849" name="Rectangle 849"/>
          <p:cNvSpPr/>
          <p:nvPr/>
        </p:nvSpPr>
        <p:spPr>
          <a:xfrm rot="0" flipH="0" flipV="0">
            <a:off x="216408" y="4237333"/>
            <a:ext cx="26691" cy="10705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755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850" name="Rectangle 850"/>
          <p:cNvSpPr/>
          <p:nvPr/>
        </p:nvSpPr>
        <p:spPr>
          <a:xfrm rot="0" flipH="0" flipV="0">
            <a:off x="673608" y="4903422"/>
            <a:ext cx="6426566" cy="204032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>
              <a:tabLst>
                <a:tab pos="230428" algn="l"/>
              </a:tabLst>
            </a:pPr>
            <a:r>
              <a:rPr lang="it-IT" sz="996" baseline="0" b="0" i="0" dirty="0" spc="-7">
                <a:solidFill>
                  <a:srgbClr val="000000"/>
                </a:solidFill>
                <a:latin typeface="Arial" pitchFamily="0" charset="1"/>
              </a:rPr>
              <a:t>f</a:t>
            </a:r>
            <a:r>
              <a:rPr lang="it-IT" sz="996" baseline="0" b="0" i="0" dirty="0" spc="-8">
                <a:solidFill>
                  <a:srgbClr val="000000"/>
                </a:solidFill>
                <a:latin typeface="Arial" pitchFamily="0" charset="1"/>
              </a:rPr>
              <a:t>)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	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l’intervento per deviazione del setto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nasale, se non a seguito di evento traumatico documentato da certificato </a:t>
            </a:r>
          </a:p>
          <a:p>
            <a:pPr marL="230428">
              <a:lnSpc>
                <a:spcPts val="1151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di pronto soccorso, anche se abbinato ad ipertrofia dei turbinati o poliposi; </a:t>
            </a:r>
          </a:p>
          <a:p>
            <a:pPr marL="1523">
              <a:lnSpc>
                <a:spcPts val="1152"/>
              </a:lnSpc>
            </a:pPr>
            <a:r>
              <a:rPr lang="it-IT" sz="996" baseline="0" b="0" i="0" dirty="0" spc="-14">
                <a:solidFill>
                  <a:srgbClr val="000000"/>
                </a:solidFill>
                <a:latin typeface="Arial" pitchFamily="0" charset="1"/>
              </a:rPr>
              <a:t>g</a:t>
            </a:r>
            <a:r>
              <a:rPr lang="it-IT" sz="996" baseline="0" b="0" i="0" dirty="0" spc="-8">
                <a:solidFill>
                  <a:srgbClr val="000000"/>
                </a:solidFill>
                <a:latin typeface="Arial" pitchFamily="0" charset="1"/>
              </a:rPr>
              <a:t>)</a:t>
            </a:r>
            <a:r>
              <a:rPr lang="it-IT" sz="996" baseline="0" b="0" i="0" dirty="0" spc="656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le cure e le visite specialistiche relative a malattie mentali e disturbi psichici in genere compresi i comportamenti </a:t>
            </a:r>
          </a:p>
          <a:p>
            <a:pPr marL="230428">
              <a:lnSpc>
                <a:spcPts val="1151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nevrotici; </a:t>
            </a:r>
          </a:p>
          <a:p>
            <a:pPr marL="1523">
              <a:lnSpc>
                <a:spcPts val="1152"/>
              </a:lnSpc>
            </a:pPr>
            <a:r>
              <a:rPr lang="it-IT" sz="996" baseline="0" b="0" i="0" dirty="0" spc="-14">
                <a:solidFill>
                  <a:srgbClr val="000000"/>
                </a:solidFill>
                <a:latin typeface="Arial" pitchFamily="0" charset="1"/>
              </a:rPr>
              <a:t>h</a:t>
            </a:r>
            <a:r>
              <a:rPr lang="it-IT" sz="996" baseline="0" b="0" i="0" dirty="0" spc="-8">
                <a:solidFill>
                  <a:srgbClr val="000000"/>
                </a:solidFill>
                <a:latin typeface="Arial" pitchFamily="0" charset="1"/>
              </a:rPr>
              <a:t>)</a:t>
            </a:r>
            <a:r>
              <a:rPr lang="it-IT" sz="996" baseline="0" b="0" i="0" dirty="0" spc="656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le intossicazioni conseguenti ad abuso di alcoolici e ad uso di allucinogeni, nonché ad uso non terapeutico di </a:t>
            </a:r>
          </a:p>
          <a:p>
            <a:pPr marL="230428">
              <a:lnSpc>
                <a:spcPts val="1151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psicofarmaci e di stupefacenti; </a:t>
            </a:r>
          </a:p>
          <a:p>
            <a:pPr marL="1523">
              <a:lnSpc>
                <a:spcPts val="1139"/>
              </a:lnSpc>
              <a:tabLst>
                <a:tab pos="230427" algn="l"/>
              </a:tabLst>
            </a:pPr>
            <a:r>
              <a:rPr lang="it-IT" sz="996" baseline="0" b="0" i="0" dirty="0" spc="-5">
                <a:solidFill>
                  <a:srgbClr val="000000"/>
                </a:solidFill>
                <a:latin typeface="Arial" pitchFamily="0" charset="1"/>
              </a:rPr>
              <a:t>i</a:t>
            </a:r>
            <a:r>
              <a:rPr lang="it-IT" sz="996" baseline="0" b="0" i="0" dirty="0" spc="-8">
                <a:solidFill>
                  <a:srgbClr val="000000"/>
                </a:solidFill>
                <a:latin typeface="Arial" pitchFamily="0" charset="1"/>
              </a:rPr>
              <a:t>)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	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le</a:t>
            </a:r>
            <a:r>
              <a:rPr lang="it-IT" sz="996" baseline="0" b="0" i="0" dirty="0" spc="239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cure</a:t>
            </a:r>
            <a:r>
              <a:rPr lang="it-IT" sz="996" baseline="0" b="0" i="0" dirty="0" spc="239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e</a:t>
            </a:r>
            <a:r>
              <a:rPr lang="it-IT" sz="996" baseline="0" b="0" i="0" dirty="0" spc="239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gli</a:t>
            </a:r>
            <a:r>
              <a:rPr lang="it-IT" sz="996" baseline="0" b="0" i="0" dirty="0" spc="251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interventi</a:t>
            </a:r>
            <a:r>
              <a:rPr lang="it-IT" sz="996" baseline="0" b="0" i="0" dirty="0" spc="239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finalizzati</a:t>
            </a:r>
            <a:r>
              <a:rPr lang="it-IT" sz="996" baseline="0" b="0" i="0" dirty="0" spc="227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al</a:t>
            </a:r>
            <a:r>
              <a:rPr lang="it-IT" sz="996" baseline="0" b="0" i="0" dirty="0" spc="239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trattamento</a:t>
            </a:r>
            <a:r>
              <a:rPr lang="it-IT" sz="996" baseline="0" b="0" i="0" dirty="0" spc="239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dell’infertilità</a:t>
            </a:r>
            <a:r>
              <a:rPr lang="it-IT" sz="996" baseline="0" b="0" i="0" dirty="0" spc="239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e</a:t>
            </a:r>
            <a:r>
              <a:rPr lang="it-IT" sz="996" baseline="0" b="0" i="0" dirty="0" spc="239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comunque</a:t>
            </a:r>
            <a:r>
              <a:rPr lang="it-IT" sz="996" baseline="0" b="0" i="0" dirty="0" spc="251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quelli</a:t>
            </a:r>
            <a:r>
              <a:rPr lang="it-IT" sz="996" baseline="0" b="0" i="0" dirty="0" spc="215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relativi</a:t>
            </a:r>
            <a:r>
              <a:rPr lang="it-IT" sz="996" baseline="0" b="0" i="0" dirty="0" spc="215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all’inseminazione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  <a:p>
            <a:pPr marL="230428">
              <a:lnSpc>
                <a:spcPts val="1151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artificiale, compresi tutti gli accertamenti effettuati dopo la prima diagnosi e propedeutici alle terapie; </a:t>
            </a:r>
          </a:p>
          <a:p>
            <a:pPr marL="1523">
              <a:lnSpc>
                <a:spcPts val="1152"/>
              </a:lnSpc>
              <a:tabLst>
                <a:tab pos="230427" algn="l"/>
              </a:tabLst>
            </a:pPr>
            <a:r>
              <a:rPr lang="it-IT" sz="996" baseline="0" b="0" i="0" dirty="0" spc="-5">
                <a:solidFill>
                  <a:srgbClr val="000000"/>
                </a:solidFill>
                <a:latin typeface="Arial" pitchFamily="0" charset="1"/>
              </a:rPr>
              <a:t>j</a:t>
            </a:r>
            <a:r>
              <a:rPr lang="it-IT" sz="996" baseline="0" b="0" i="0" dirty="0" spc="-8">
                <a:solidFill>
                  <a:srgbClr val="000000"/>
                </a:solidFill>
                <a:latin typeface="Arial" pitchFamily="0" charset="1"/>
              </a:rPr>
              <a:t>)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	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prestazioni mediche, trattamenti e interventi chirurgici aventi finalità estetiche nonché tutte le cure ad essi colle- </a:t>
            </a:r>
          </a:p>
          <a:p>
            <a:pPr marL="230428">
              <a:lnSpc>
                <a:spcPts val="1151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gabili o conseguenti a precedenti interventi chirurgici o cure a fine estetico. Fanno eccezione alla presente esclu-</a:t>
            </a:r>
          </a:p>
          <a:p>
            <a:pPr marL="230428">
              <a:lnSpc>
                <a:spcPts val="115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sione</a:t>
            </a:r>
            <a:r>
              <a:rPr lang="it-IT" sz="996" baseline="0" b="0" i="0" dirty="0" spc="128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le</a:t>
            </a:r>
            <a:r>
              <a:rPr lang="it-IT" sz="996" baseline="0" b="0" i="0" dirty="0" spc="128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prestazioni</a:t>
            </a:r>
            <a:r>
              <a:rPr lang="it-IT" sz="996" baseline="0" b="0" i="0" dirty="0" spc="130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aventi</a:t>
            </a:r>
            <a:r>
              <a:rPr lang="it-IT" sz="996" baseline="0" b="0" i="0" dirty="0" spc="130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finalità</a:t>
            </a:r>
            <a:r>
              <a:rPr lang="it-IT" sz="996" baseline="0" b="0" i="0" dirty="0" spc="128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ricostruttiva</a:t>
            </a:r>
            <a:r>
              <a:rPr lang="it-IT" sz="996" baseline="0" b="0" i="0" dirty="0" spc="128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conseguenti</a:t>
            </a:r>
            <a:r>
              <a:rPr lang="it-IT" sz="996" baseline="0" b="0" i="0" dirty="0" spc="130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ad</a:t>
            </a:r>
            <a:r>
              <a:rPr lang="it-IT" sz="996" baseline="0" b="0" i="0" dirty="0" spc="142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infortunio</a:t>
            </a:r>
            <a:r>
              <a:rPr lang="it-IT" sz="996" baseline="0" b="0" i="0" dirty="0" spc="128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o</a:t>
            </a:r>
            <a:r>
              <a:rPr lang="it-IT" sz="996" baseline="0" b="0" i="0" dirty="0" spc="128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intervento</a:t>
            </a:r>
            <a:r>
              <a:rPr lang="it-IT" sz="996" baseline="0" b="0" i="0" dirty="0" spc="127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chirurgico</a:t>
            </a:r>
            <a:r>
              <a:rPr lang="it-IT" sz="996" baseline="0" b="0" i="0" dirty="0" spc="128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oncologico. </a:t>
            </a:r>
          </a:p>
          <a:p>
            <a:pPr marL="230428">
              <a:lnSpc>
                <a:spcPts val="1139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Rela-</a:t>
            </a:r>
            <a:r>
              <a:rPr lang="it-IT" sz="996" baseline="0" b="0" i="0" dirty="0" spc="131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tivamente</a:t>
            </a:r>
            <a:r>
              <a:rPr lang="it-IT" sz="996" baseline="0" b="0" i="0" dirty="0" spc="116">
                <a:solidFill>
                  <a:srgbClr val="000000"/>
                </a:solidFill>
                <a:latin typeface="ArialMT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all’applicazione</a:t>
            </a:r>
            <a:r>
              <a:rPr lang="it-IT" sz="996" baseline="0" b="0" i="0" dirty="0" spc="118">
                <a:solidFill>
                  <a:srgbClr val="000000"/>
                </a:solidFill>
                <a:latin typeface="ArialMT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di</a:t>
            </a:r>
            <a:r>
              <a:rPr lang="it-IT" sz="996" baseline="0" b="0" i="0" dirty="0" spc="118">
                <a:solidFill>
                  <a:srgbClr val="000000"/>
                </a:solidFill>
                <a:latin typeface="ArialMT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endoprotesi</a:t>
            </a:r>
            <a:r>
              <a:rPr lang="it-IT" sz="996" baseline="0" b="0" i="0" dirty="0" spc="118">
                <a:solidFill>
                  <a:srgbClr val="000000"/>
                </a:solidFill>
                <a:latin typeface="ArialMT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mammarie</a:t>
            </a:r>
            <a:r>
              <a:rPr lang="it-IT" sz="996" baseline="0" b="0" i="0" dirty="0" spc="118">
                <a:solidFill>
                  <a:srgbClr val="000000"/>
                </a:solidFill>
                <a:latin typeface="ArialMT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per</a:t>
            </a:r>
            <a:r>
              <a:rPr lang="it-IT" sz="996" baseline="0" b="0" i="0" dirty="0" spc="118">
                <a:solidFill>
                  <a:srgbClr val="000000"/>
                </a:solidFill>
                <a:latin typeface="ArialMT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ricostruzione</a:t>
            </a:r>
            <a:r>
              <a:rPr lang="it-IT" sz="996" baseline="0" b="0" i="0" dirty="0" spc="130">
                <a:solidFill>
                  <a:srgbClr val="000000"/>
                </a:solidFill>
                <a:latin typeface="ArialMT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a</a:t>
            </a:r>
            <a:r>
              <a:rPr lang="it-IT" sz="996" baseline="0" b="0" i="0" dirty="0" spc="116">
                <a:solidFill>
                  <a:srgbClr val="000000"/>
                </a:solidFill>
                <a:latin typeface="ArialMT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seguito</a:t>
            </a:r>
            <a:r>
              <a:rPr lang="it-IT" sz="996" baseline="0" b="0" i="0" dirty="0" spc="127">
                <a:solidFill>
                  <a:srgbClr val="000000"/>
                </a:solidFill>
                <a:latin typeface="ArialMT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di</a:t>
            </a:r>
            <a:r>
              <a:rPr lang="it-IT" sz="996" baseline="0" b="0" i="0" dirty="0" spc="118">
                <a:solidFill>
                  <a:srgbClr val="000000"/>
                </a:solidFill>
                <a:latin typeface="ArialMT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neoplasia</a:t>
            </a:r>
            <a:r>
              <a:rPr lang="it-IT" sz="996" baseline="0" b="0" i="0" dirty="0" spc="118">
                <a:solidFill>
                  <a:srgbClr val="000000"/>
                </a:solidFill>
                <a:latin typeface="ArialMT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maligna </a:t>
            </a:r>
          </a:p>
          <a:p>
            <a:pPr marL="230428">
              <a:lnSpc>
                <a:spcPts val="1154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sono com- prese solo quelle relative alla sede anatomica della lesione e sono esclusi gli interventi successivi </a:t>
            </a:r>
          </a:p>
          <a:p>
            <a:pPr marL="230428">
              <a:lnSpc>
                <a:spcPts val="115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alla prima applicazione; </a:t>
            </a:r>
          </a:p>
        </p:txBody>
      </p:sp>
      <p:sp>
        <p:nvSpPr>
          <p:cNvPr id="851" name="Rectangle 851"/>
          <p:cNvSpPr/>
          <p:nvPr/>
        </p:nvSpPr>
        <p:spPr>
          <a:xfrm rot="0" flipH="0" flipV="0">
            <a:off x="216408" y="6947640"/>
            <a:ext cx="26691" cy="10705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755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852" name="Rectangle 852"/>
          <p:cNvSpPr/>
          <p:nvPr/>
        </p:nvSpPr>
        <p:spPr>
          <a:xfrm rot="0" flipH="0" flipV="0">
            <a:off x="586740" y="7907607"/>
            <a:ext cx="6481431" cy="203867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-13">
                <a:solidFill>
                  <a:srgbClr val="000000"/>
                </a:solidFill>
                <a:latin typeface="Arial" pitchFamily="0" charset="1"/>
              </a:rPr>
              <a:t>k</a:t>
            </a:r>
            <a:r>
              <a:rPr lang="it-IT" sz="996" baseline="0" b="0" i="0" dirty="0" spc="-8">
                <a:solidFill>
                  <a:srgbClr val="000000"/>
                </a:solidFill>
                <a:latin typeface="Arial" pitchFamily="0" charset="1"/>
              </a:rPr>
              <a:t>)</a:t>
            </a:r>
            <a:r>
              <a:rPr lang="it-IT" sz="996" baseline="0" b="0" i="0" dirty="0" spc="702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le protesi dentarie ed ortodontiche, le cure dentarie e del paradonzio, gli interventi preprotesici e di implantologia; </a:t>
            </a:r>
          </a:p>
          <a:p>
            <a:pPr marL="1523">
              <a:lnSpc>
                <a:spcPts val="1152"/>
              </a:lnSpc>
              <a:tabLst>
                <a:tab pos="228598" algn="l"/>
              </a:tabLst>
            </a:pPr>
            <a:r>
              <a:rPr lang="it-IT" sz="996" baseline="0" b="0" i="0" dirty="0" spc="-5">
                <a:solidFill>
                  <a:srgbClr val="000000"/>
                </a:solidFill>
                <a:latin typeface="Arial" pitchFamily="0" charset="1"/>
              </a:rPr>
              <a:t>l</a:t>
            </a:r>
            <a:r>
              <a:rPr lang="it-IT" sz="996" baseline="0" b="0" i="0" dirty="0" spc="-8">
                <a:solidFill>
                  <a:srgbClr val="000000"/>
                </a:solidFill>
                <a:latin typeface="Arial" pitchFamily="0" charset="1"/>
              </a:rPr>
              <a:t>)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	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le conseguenze dirette ed indirette di trasmutazioni del nucleo dell’atomo, come pure di radiazioni provocate </a:t>
            </a:r>
          </a:p>
          <a:p>
            <a:pPr marL="230123">
              <a:lnSpc>
                <a:spcPts val="1139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dall’accelerazione artificiale di particelle atomiche salvo che siano causate da radiazioni utilizzate per terapie </a:t>
            </a:r>
          </a:p>
          <a:p>
            <a:pPr marL="230123">
              <a:lnSpc>
                <a:spcPts val="115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mediche; </a:t>
            </a:r>
          </a:p>
          <a:p>
            <a:pPr marL="1523">
              <a:lnSpc>
                <a:spcPts val="1152"/>
              </a:lnSpc>
            </a:pPr>
            <a:r>
              <a:rPr lang="it-IT" sz="996" baseline="0" b="0" i="0" dirty="0" spc="-22">
                <a:solidFill>
                  <a:srgbClr val="000000"/>
                </a:solidFill>
                <a:latin typeface="Arial" pitchFamily="0" charset="1"/>
              </a:rPr>
              <a:t>m</a:t>
            </a:r>
            <a:r>
              <a:rPr lang="it-IT" sz="996" baseline="0" b="0" i="0" dirty="0" spc="-8">
                <a:solidFill>
                  <a:srgbClr val="000000"/>
                </a:solidFill>
                <a:latin typeface="Arial" pitchFamily="0" charset="1"/>
              </a:rPr>
              <a:t>)</a:t>
            </a:r>
            <a:r>
              <a:rPr lang="it-IT" sz="996" baseline="0" b="0" i="0" dirty="0" spc="390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le conseguenze derivanti da guerra, insurrezione, movimenti tellurici, eruzioni vulcaniche; </a:t>
            </a:r>
          </a:p>
          <a:p>
            <a:pPr marL="1523">
              <a:lnSpc>
                <a:spcPts val="1153"/>
              </a:lnSpc>
            </a:pPr>
            <a:r>
              <a:rPr lang="it-IT" sz="996" baseline="0" b="0" i="0" dirty="0" spc="-14">
                <a:solidFill>
                  <a:srgbClr val="000000"/>
                </a:solidFill>
                <a:latin typeface="Arial" pitchFamily="0" charset="1"/>
              </a:rPr>
              <a:t>n</a:t>
            </a:r>
            <a:r>
              <a:rPr lang="it-IT" sz="996" baseline="0" b="0" i="0" dirty="0" spc="-8">
                <a:solidFill>
                  <a:srgbClr val="000000"/>
                </a:solidFill>
                <a:latin typeface="Arial" pitchFamily="0" charset="1"/>
              </a:rPr>
              <a:t>)</a:t>
            </a:r>
            <a:r>
              <a:rPr lang="it-IT" sz="996" baseline="0" b="0" i="0" dirty="0" spc="654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degenze in case di riposo, in strutture di lungodegenza o residenze sanitarie assistenziali, di convalescenza, </a:t>
            </a:r>
          </a:p>
          <a:p>
            <a:pPr marL="230123">
              <a:lnSpc>
                <a:spcPts val="115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di soggiorno, stabilimenti o centri di cura termali, idroterapici, fitoterapici, dietologici o del benessere; </a:t>
            </a:r>
          </a:p>
          <a:p>
            <a:pPr marL="1523">
              <a:lnSpc>
                <a:spcPts val="1139"/>
              </a:lnSpc>
            </a:pPr>
            <a:r>
              <a:rPr lang="it-IT" sz="996" baseline="0" b="0" i="0" dirty="0" spc="-14">
                <a:solidFill>
                  <a:srgbClr val="000000"/>
                </a:solidFill>
                <a:latin typeface="Arial" pitchFamily="0" charset="1"/>
              </a:rPr>
              <a:t>o</a:t>
            </a:r>
            <a:r>
              <a:rPr lang="it-IT" sz="996" baseline="0" b="0" i="0" dirty="0" spc="-8">
                <a:solidFill>
                  <a:srgbClr val="000000"/>
                </a:solidFill>
                <a:latin typeface="Arial" pitchFamily="0" charset="1"/>
              </a:rPr>
              <a:t>)</a:t>
            </a:r>
            <a:r>
              <a:rPr lang="it-IT" sz="996" baseline="0" b="0" i="0" dirty="0" spc="654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ricoveri per</a:t>
            </a:r>
            <a:r>
              <a:rPr lang="it-IT" sz="996" baseline="0" b="0" i="0" dirty="0" spc="107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stati vegetativi,</a:t>
            </a:r>
            <a:r>
              <a:rPr lang="it-IT" sz="996" baseline="0" b="0" i="0" dirty="0" spc="119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ricoveri per</a:t>
            </a:r>
            <a:r>
              <a:rPr lang="it-IT" sz="996" baseline="0" b="0" i="0" dirty="0" spc="107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lunga</a:t>
            </a:r>
            <a:r>
              <a:rPr lang="it-IT" sz="996" baseline="0" b="0" i="0" dirty="0" spc="119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degenza</a:t>
            </a:r>
            <a:r>
              <a:rPr lang="it-IT" sz="996" baseline="0" b="0" i="0" dirty="0" spc="107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intendendosi per</a:t>
            </a:r>
            <a:r>
              <a:rPr lang="it-IT" sz="996" baseline="0" b="0" i="0" dirty="0" spc="107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tali</a:t>
            </a:r>
            <a:r>
              <a:rPr lang="it-IT" sz="996" baseline="0" b="0" i="0" dirty="0" spc="107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quelli determinati da condizioni </a:t>
            </a:r>
          </a:p>
          <a:p>
            <a:pPr marL="230123">
              <a:lnSpc>
                <a:spcPts val="115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fisiche</a:t>
            </a:r>
            <a:r>
              <a:rPr lang="it-IT" sz="996" baseline="0" b="0" i="0" dirty="0" spc="142">
                <a:solidFill>
                  <a:srgbClr val="000000"/>
                </a:solidFill>
                <a:latin typeface="ArialMT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dell’Assicurato</a:t>
            </a:r>
            <a:r>
              <a:rPr lang="it-IT" sz="996" baseline="0" b="0" i="0" dirty="0" spc="128">
                <a:solidFill>
                  <a:srgbClr val="000000"/>
                </a:solidFill>
                <a:latin typeface="ArialMT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che</a:t>
            </a:r>
            <a:r>
              <a:rPr lang="it-IT" sz="996" baseline="0" b="0" i="0" dirty="0" spc="142">
                <a:solidFill>
                  <a:srgbClr val="000000"/>
                </a:solidFill>
                <a:latin typeface="ArialMT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non</a:t>
            </a:r>
            <a:r>
              <a:rPr lang="it-IT" sz="996" baseline="0" b="0" i="0" dirty="0" spc="128">
                <a:solidFill>
                  <a:srgbClr val="000000"/>
                </a:solidFill>
                <a:latin typeface="ArialMT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consentono</a:t>
            </a:r>
            <a:r>
              <a:rPr lang="it-IT" sz="996" baseline="0" b="0" i="0" dirty="0" spc="130">
                <a:solidFill>
                  <a:srgbClr val="000000"/>
                </a:solidFill>
                <a:latin typeface="ArialMT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più</a:t>
            </a:r>
            <a:r>
              <a:rPr lang="it-IT" sz="996" baseline="0" b="0" i="0" dirty="0" spc="140">
                <a:solidFill>
                  <a:srgbClr val="000000"/>
                </a:solidFill>
                <a:latin typeface="ArialMT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la</a:t>
            </a:r>
            <a:r>
              <a:rPr lang="it-IT" sz="996" baseline="0" b="0" i="0" dirty="0" spc="140">
                <a:solidFill>
                  <a:srgbClr val="000000"/>
                </a:solidFill>
                <a:latin typeface="ArialMT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guarigione</a:t>
            </a:r>
            <a:r>
              <a:rPr lang="it-IT" sz="996" baseline="0" b="0" i="0" dirty="0" spc="130">
                <a:solidFill>
                  <a:srgbClr val="000000"/>
                </a:solidFill>
                <a:latin typeface="ArialMT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con</a:t>
            </a:r>
            <a:r>
              <a:rPr lang="it-IT" sz="996" baseline="0" b="0" i="0" dirty="0" spc="128">
                <a:solidFill>
                  <a:srgbClr val="000000"/>
                </a:solidFill>
                <a:latin typeface="ArialMT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trattamenti</a:t>
            </a:r>
            <a:r>
              <a:rPr lang="it-IT" sz="996" baseline="0" b="0" i="0" dirty="0" spc="142">
                <a:solidFill>
                  <a:srgbClr val="000000"/>
                </a:solidFill>
                <a:latin typeface="ArialMT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medici</a:t>
            </a:r>
            <a:r>
              <a:rPr lang="it-IT" sz="996" baseline="0" b="0" i="0" dirty="0" spc="130">
                <a:solidFill>
                  <a:srgbClr val="000000"/>
                </a:solidFill>
                <a:latin typeface="ArialMT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e</a:t>
            </a:r>
            <a:r>
              <a:rPr lang="it-IT" sz="996" baseline="0" b="0" i="0" dirty="0" spc="130">
                <a:solidFill>
                  <a:srgbClr val="000000"/>
                </a:solidFill>
                <a:latin typeface="ArialMT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che</a:t>
            </a:r>
            <a:r>
              <a:rPr lang="it-IT" sz="996" baseline="0" b="0" i="0" dirty="0" spc="130">
                <a:solidFill>
                  <a:srgbClr val="000000"/>
                </a:solidFill>
                <a:latin typeface="ArialMT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diano</a:t>
            </a:r>
            <a:r>
              <a:rPr lang="it-IT" sz="996" baseline="0" b="0" i="0" dirty="0" spc="142">
                <a:solidFill>
                  <a:srgbClr val="000000"/>
                </a:solidFill>
                <a:latin typeface="ArialMT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luogo</a:t>
            </a:r>
            <a:r>
              <a:rPr lang="it-IT" sz="996" baseline="0" b="0" i="0" dirty="0" spc="130">
                <a:solidFill>
                  <a:srgbClr val="000000"/>
                </a:solidFill>
                <a:latin typeface="ArialMT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alla </a:t>
            </a:r>
          </a:p>
          <a:p>
            <a:pPr marL="230123">
              <a:lnSpc>
                <a:spcPts val="1151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permanenza in Istituto di cura per interventi di carattere assistenziale o fisioterapico di mantenimento; </a:t>
            </a:r>
          </a:p>
          <a:p>
            <a:pPr marL="1523">
              <a:lnSpc>
                <a:spcPts val="1152"/>
              </a:lnSpc>
            </a:pPr>
            <a:r>
              <a:rPr lang="it-IT" sz="996" baseline="0" b="0" i="0" dirty="0" spc="-14">
                <a:solidFill>
                  <a:srgbClr val="000000"/>
                </a:solidFill>
                <a:latin typeface="Arial" pitchFamily="0" charset="1"/>
              </a:rPr>
              <a:t>p</a:t>
            </a:r>
            <a:r>
              <a:rPr lang="it-IT" sz="996" baseline="0" b="0" i="0" dirty="0" spc="-8">
                <a:solidFill>
                  <a:srgbClr val="000000"/>
                </a:solidFill>
                <a:latin typeface="Arial" pitchFamily="0" charset="1"/>
              </a:rPr>
              <a:t>)</a:t>
            </a:r>
            <a:r>
              <a:rPr lang="it-IT" sz="996" baseline="0" b="0" i="0" dirty="0" spc="666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cure non rientranti nei protocolli riconosciuti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dall’Istituto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Superiore della Sanità; </a:t>
            </a:r>
          </a:p>
          <a:p>
            <a:pPr marL="1523">
              <a:lnSpc>
                <a:spcPts val="1151"/>
              </a:lnSpc>
            </a:pPr>
            <a:r>
              <a:rPr lang="it-IT" sz="996" baseline="0" b="0" i="0" dirty="0" spc="-14">
                <a:solidFill>
                  <a:srgbClr val="000000"/>
                </a:solidFill>
                <a:latin typeface="Arial" pitchFamily="0" charset="1"/>
              </a:rPr>
              <a:t>q</a:t>
            </a:r>
            <a:r>
              <a:rPr lang="it-IT" sz="996" baseline="0" b="0" i="0" dirty="0" spc="-8">
                <a:solidFill>
                  <a:srgbClr val="000000"/>
                </a:solidFill>
                <a:latin typeface="Arial" pitchFamily="0" charset="1"/>
              </a:rPr>
              <a:t>)</a:t>
            </a:r>
            <a:r>
              <a:rPr lang="it-IT" sz="996" baseline="0" b="0" i="0" dirty="0" spc="654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i ricoveri ed i Day hospital durante i quali vengono effettuati solo accertamenti diagnostici o terapie fisiche che, </a:t>
            </a:r>
          </a:p>
          <a:p>
            <a:pPr marL="230123">
              <a:lnSpc>
                <a:spcPts val="115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per la loro natura, possono essere effettuati anche in ambulatorio; </a:t>
            </a:r>
          </a:p>
          <a:p>
            <a:pPr marL="1523">
              <a:lnSpc>
                <a:spcPts val="1139"/>
              </a:lnSpc>
              <a:tabLst>
                <a:tab pos="230123" algn="l"/>
              </a:tabLst>
            </a:pPr>
            <a:r>
              <a:rPr lang="it-IT" sz="996" baseline="0" b="0" i="0" dirty="0" spc="-8">
                <a:solidFill>
                  <a:srgbClr val="000000"/>
                </a:solidFill>
                <a:latin typeface="Arial" pitchFamily="0" charset="1"/>
              </a:rPr>
              <a:t>r)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	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le cure, gli accertamenti clinico-strumentali e le visite</a:t>
            </a:r>
            <a:r>
              <a:rPr lang="it-IT" sz="996" baseline="0" b="0" i="0" dirty="0" spc="107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specialistiche correlate alla condizione di sieropositività </a:t>
            </a:r>
          </a:p>
        </p:txBody>
      </p:sp>
      <p:sp>
        <p:nvSpPr>
          <p:cNvPr id="853" name="Rectangle 853"/>
          <p:cNvSpPr/>
          <p:nvPr/>
        </p:nvSpPr>
        <p:spPr>
          <a:xfrm rot="0" flipH="0" flipV="0">
            <a:off x="987856" y="4514548"/>
            <a:ext cx="6218670" cy="28912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316941"/>
            <a:r>
              <a:rPr lang="it-IT" sz="996" baseline="0" b="0" i="1" dirty="0" spc="0">
                <a:solidFill>
                  <a:srgbClr val="000000"/>
                </a:solidFill>
                <a:latin typeface="Arial" pitchFamily="0" charset="1"/>
              </a:rPr>
              <a:t>A</a:t>
            </a:r>
            <a:r>
              <a:rPr lang="it-IT" sz="803" baseline="0" b="0" i="1" dirty="0" spc="0">
                <a:solidFill>
                  <a:srgbClr val="000000"/>
                </a:solidFill>
                <a:latin typeface="Arial" pitchFamily="0" charset="1"/>
              </a:rPr>
              <a:t>TTENZIONE</a:t>
            </a:r>
            <a:r>
              <a:rPr lang="it-IT" sz="996" baseline="0" b="0" i="1" dirty="0" spc="0">
                <a:solidFill>
                  <a:srgbClr val="000000"/>
                </a:solidFill>
                <a:latin typeface="Arial" pitchFamily="0" charset="1"/>
              </a:rPr>
              <a:t>:</a:t>
            </a:r>
            <a:r>
              <a:rPr lang="it-IT" sz="803" baseline="0" b="0" i="1" dirty="0" spc="0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a titolo esemplificativo e non esaustivo sono interventi per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l’eliminazione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o correzione di difetti </a:t>
            </a:r>
          </a:p>
          <a:p>
            <a:pPr marL="0">
              <a:lnSpc>
                <a:spcPts val="1166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fisici: 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piattismo bilaterale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, 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scoliosi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, 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alluce valgo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, 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varismo delle ginocchia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, 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anca valga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, 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piede torto </a:t>
            </a:r>
          </a:p>
        </p:txBody>
      </p:sp>
      <p:sp>
        <p:nvSpPr>
          <p:cNvPr id="854" name="Rectangle 854"/>
          <p:cNvSpPr/>
          <p:nvPr/>
        </p:nvSpPr>
        <p:spPr>
          <a:xfrm rot="0" flipH="0" flipV="0">
            <a:off x="900988" y="7226379"/>
            <a:ext cx="6158037" cy="57995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316991"/>
            <a:r>
              <a:rPr lang="it-IT" sz="996" baseline="0" b="0" i="1" dirty="0" spc="0">
                <a:solidFill>
                  <a:srgbClr val="000000"/>
                </a:solidFill>
                <a:latin typeface="Arial" pitchFamily="0" charset="1"/>
              </a:rPr>
              <a:t>A</a:t>
            </a:r>
            <a:r>
              <a:rPr lang="it-IT" sz="803" baseline="0" b="0" i="1" dirty="0" spc="0">
                <a:solidFill>
                  <a:srgbClr val="000000"/>
                </a:solidFill>
                <a:latin typeface="Arial" pitchFamily="0" charset="1"/>
              </a:rPr>
              <a:t>TTENZIONE</a:t>
            </a:r>
            <a:r>
              <a:rPr lang="it-IT" sz="996" baseline="0" b="0" i="1" dirty="0" spc="0">
                <a:solidFill>
                  <a:srgbClr val="000000"/>
                </a:solidFill>
                <a:latin typeface="Arial" pitchFamily="0" charset="1"/>
              </a:rPr>
              <a:t>:</a:t>
            </a:r>
            <a:r>
              <a:rPr lang="it-IT" sz="803" baseline="0" b="0" i="1" dirty="0" spc="0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a titolo esemplificativo e non esaustivo sono interventi estetici: 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mastoplastica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, 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blefaropla- </a:t>
            </a:r>
          </a:p>
          <a:p>
            <a:pPr marL="0">
              <a:lnSpc>
                <a:spcPts val="1151"/>
              </a:lnSpc>
            </a:pP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stica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, 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aspirazione della cute e del tessuto cutaneo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, 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rinoplastica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, 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trapianto di capelli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, 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liposuzione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, 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ad- </a:t>
            </a:r>
          </a:p>
          <a:p>
            <a:pPr marL="0">
              <a:lnSpc>
                <a:spcPts val="1151"/>
              </a:lnSpc>
            </a:pP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dominoplastica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, 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cisti adipose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, 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chirurgia bariatrica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con indice di massa corporea minore di 30 BMI, com- </a:t>
            </a:r>
          </a:p>
          <a:p>
            <a:pPr marL="0">
              <a:lnSpc>
                <a:spcPts val="115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prese 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le relative terapie dietologica e dietoterapica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/>
      </p:grpSpPr>
      <p:pic>
        <p:nvPicPr>
          <p:cNvPr id="855" name="Picture 855"/>
          <p:cNvPicPr>
            <a:picLocks noChangeAspect="0" noChangeArrowheads="1"/>
          </p:cNvPicPr>
          <p:nvPr/>
        </p:nvPicPr>
        <p:blipFill>
          <a:blip r:embed="rId85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 flipH="0" flipV="0">
            <a:off x="359409" y="952513"/>
            <a:ext cx="330834" cy="345427"/>
          </a:xfrm>
          <a:prstGeom prst="rect">
            <a:avLst/>
          </a:prstGeom>
          <a:noFill/>
          <a:extLst/>
        </p:spPr>
      </p:pic>
      <p:pic>
        <p:nvPicPr>
          <p:cNvPr id="856" name="Picture 856"/>
          <p:cNvPicPr>
            <a:picLocks noChangeAspect="0" noChangeArrowheads="1"/>
          </p:cNvPicPr>
          <p:nvPr/>
        </p:nvPicPr>
        <p:blipFill>
          <a:blip r:embed="rId85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 flipH="0" flipV="0">
            <a:off x="360045" y="2003044"/>
            <a:ext cx="354888" cy="370204"/>
          </a:xfrm>
          <a:prstGeom prst="rect">
            <a:avLst/>
          </a:prstGeom>
          <a:noFill/>
          <a:extLst/>
        </p:spPr>
      </p:pic>
      <p:pic>
        <p:nvPicPr>
          <p:cNvPr id="857" name="Picture 857"/>
          <p:cNvPicPr>
            <a:picLocks noChangeAspect="0" noChangeArrowheads="1"/>
          </p:cNvPicPr>
          <p:nvPr/>
        </p:nvPicPr>
        <p:blipFill>
          <a:blip r:embed="rId85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 flipH="0" flipV="0">
            <a:off x="445134" y="7579373"/>
            <a:ext cx="330834" cy="345427"/>
          </a:xfrm>
          <a:prstGeom prst="rect">
            <a:avLst/>
          </a:prstGeom>
          <a:noFill/>
          <a:extLst/>
        </p:spPr>
      </p:pic>
      <p:sp>
        <p:nvSpPr>
          <p:cNvPr id="858" name="Rectangle 858"/>
          <p:cNvSpPr/>
          <p:nvPr/>
        </p:nvSpPr>
        <p:spPr>
          <a:xfrm rot="0" flipH="0" flipV="0">
            <a:off x="216408" y="9969041"/>
            <a:ext cx="6881559" cy="158594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>
              <a:tabLst>
                <a:tab pos="143255" algn="l"/>
                <a:tab pos="2844419" algn="l"/>
                <a:tab pos="5645784" algn="l"/>
              </a:tabLst>
            </a:pPr>
            <a:r>
              <a:rPr lang="it-IT" sz="1509" baseline="-31325" b="0" i="0" dirty="0" spc="0">
                <a:solidFill>
                  <a:srgbClr val="000000"/>
                </a:solidFill>
                <a:latin typeface="Arial" pitchFamily="0" charset="1"/>
              </a:rPr>
              <a:t> 	</a:t>
            </a:r>
            <a:r>
              <a:rPr lang="it-IT" sz="803" baseline="0" b="1" i="0" dirty="0" spc="0">
                <a:solidFill>
                  <a:srgbClr val="000000"/>
                </a:solidFill>
                <a:latin typeface="Arial" pitchFamily="0" charset="1"/>
              </a:rPr>
              <a:t>GENERASalute RSM 	</a:t>
            </a:r>
            <a:r>
              <a:rPr lang="it-IT" sz="803" baseline="0" b="0" i="0" dirty="0" spc="0">
                <a:solidFill>
                  <a:srgbClr val="000000"/>
                </a:solidFill>
                <a:latin typeface="Arial" pitchFamily="0" charset="1"/>
              </a:rPr>
              <a:t>Edizione 05.2022 	Condizioni di assicurazione </a:t>
            </a:r>
          </a:p>
        </p:txBody>
      </p:sp>
      <p:sp>
        <p:nvSpPr>
          <p:cNvPr id="859" name="Rectangle 859"/>
          <p:cNvSpPr/>
          <p:nvPr/>
        </p:nvSpPr>
        <p:spPr>
          <a:xfrm rot="0" flipH="0" flipV="0">
            <a:off x="816863" y="664289"/>
            <a:ext cx="91781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H.I.V. o A.I.D.S. </a:t>
            </a:r>
          </a:p>
        </p:txBody>
      </p:sp>
      <p:sp>
        <p:nvSpPr>
          <p:cNvPr id="860" name="Rectangle 860"/>
          <p:cNvSpPr/>
          <p:nvPr/>
        </p:nvSpPr>
        <p:spPr>
          <a:xfrm rot="0" flipH="0" flipV="0">
            <a:off x="216408" y="810593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861" name="Rectangle 861"/>
          <p:cNvSpPr/>
          <p:nvPr/>
        </p:nvSpPr>
        <p:spPr>
          <a:xfrm rot="0" flipH="0" flipV="0">
            <a:off x="690372" y="1184402"/>
            <a:ext cx="1598320" cy="15240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Times New Roman" pitchFamily="0" charset="1"/>
              </a:rPr>
              <a:t> </a:t>
            </a:r>
            <a:r>
              <a:rPr lang="it-IT" sz="1200" baseline="0" b="1" i="1" dirty="0" spc="0">
                <a:solidFill>
                  <a:srgbClr val="000000"/>
                </a:solidFill>
                <a:latin typeface="Calibri-BoldItalic" pitchFamily="0" charset="1"/>
              </a:rPr>
              <a:t>Dove vale la copertura?  </a:t>
            </a:r>
          </a:p>
        </p:txBody>
      </p:sp>
      <p:sp>
        <p:nvSpPr>
          <p:cNvPr id="862" name="Rectangle 862"/>
          <p:cNvSpPr/>
          <p:nvPr/>
        </p:nvSpPr>
        <p:spPr>
          <a:xfrm rot="0" flipH="0" flipV="0">
            <a:off x="359663" y="1370331"/>
            <a:ext cx="34442" cy="15240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1200" baseline="0" b="1" i="1" dirty="0" spc="0">
                <a:solidFill>
                  <a:srgbClr val="000000"/>
                </a:solidFill>
                <a:latin typeface="Calibri-BoldItalic" pitchFamily="0" charset="1"/>
              </a:rPr>
              <a:t> </a:t>
            </a:r>
          </a:p>
        </p:txBody>
      </p:sp>
      <p:sp>
        <p:nvSpPr>
          <p:cNvPr id="863" name="Rectangle 863"/>
          <p:cNvSpPr/>
          <p:nvPr/>
        </p:nvSpPr>
        <p:spPr>
          <a:xfrm rot="0" flipH="0" flipV="0">
            <a:off x="359663" y="1556259"/>
            <a:ext cx="1981566" cy="29935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1200" baseline="0" b="1" i="1" dirty="0" spc="0">
                <a:solidFill>
                  <a:srgbClr val="000000"/>
                </a:solidFill>
                <a:latin typeface="Calibri-BoldItalic" pitchFamily="0" charset="1"/>
              </a:rPr>
              <a:t>Art. 14 Validità territoriale </a:t>
            </a:r>
          </a:p>
          <a:p>
            <a:pPr marL="0">
              <a:lnSpc>
                <a:spcPts val="1157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L’assicurazione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vale in tutto il mondo. </a:t>
            </a:r>
          </a:p>
        </p:txBody>
      </p:sp>
      <p:sp>
        <p:nvSpPr>
          <p:cNvPr id="864" name="Rectangle 864"/>
          <p:cNvSpPr/>
          <p:nvPr/>
        </p:nvSpPr>
        <p:spPr>
          <a:xfrm rot="0" flipH="0" flipV="0">
            <a:off x="216408" y="1860883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865" name="Rectangle 865"/>
          <p:cNvSpPr/>
          <p:nvPr/>
        </p:nvSpPr>
        <p:spPr>
          <a:xfrm rot="0" flipH="0" flipV="0">
            <a:off x="714755" y="2258823"/>
            <a:ext cx="1124356" cy="15240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Times New Roman" pitchFamily="0" charset="1"/>
              </a:rPr>
              <a:t> </a:t>
            </a:r>
            <a:r>
              <a:rPr lang="it-IT" sz="1200" baseline="0" b="1" i="1" dirty="0" spc="0">
                <a:solidFill>
                  <a:srgbClr val="000000"/>
                </a:solidFill>
                <a:latin typeface="Calibri-BoldItalic" pitchFamily="0" charset="1"/>
              </a:rPr>
              <a:t>Che obblighi ho? </a:t>
            </a:r>
          </a:p>
        </p:txBody>
      </p:sp>
      <p:sp>
        <p:nvSpPr>
          <p:cNvPr id="866" name="Rectangle 866"/>
          <p:cNvSpPr/>
          <p:nvPr/>
        </p:nvSpPr>
        <p:spPr>
          <a:xfrm rot="0" flipH="0" flipV="0">
            <a:off x="361188" y="2444750"/>
            <a:ext cx="34442" cy="15240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1200" baseline="0" b="1" i="1" dirty="0" spc="0">
                <a:solidFill>
                  <a:srgbClr val="000000"/>
                </a:solidFill>
                <a:latin typeface="Calibri-BoldItalic" pitchFamily="0" charset="1"/>
              </a:rPr>
              <a:t> </a:t>
            </a:r>
          </a:p>
        </p:txBody>
      </p:sp>
      <p:sp>
        <p:nvSpPr>
          <p:cNvPr id="867" name="Rectangle 867"/>
          <p:cNvSpPr/>
          <p:nvPr/>
        </p:nvSpPr>
        <p:spPr>
          <a:xfrm rot="0" flipH="0" flipV="0">
            <a:off x="359663" y="2630678"/>
            <a:ext cx="6653642" cy="44756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1200" baseline="0" b="1" i="1" dirty="0" spc="0">
                <a:solidFill>
                  <a:srgbClr val="000000"/>
                </a:solidFill>
                <a:latin typeface="Calibri-BoldItalic" pitchFamily="0" charset="1"/>
              </a:rPr>
              <a:t>Art. 15 Oneri </a:t>
            </a:r>
          </a:p>
          <a:p>
            <a:pPr marL="0">
              <a:lnSpc>
                <a:spcPts val="117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Le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imposte e gli altri oneri stabiliti per legge, presenti e futuri, relativi al Premio, agli accessori, all’assicurazione ed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agli </a:t>
            </a:r>
          </a:p>
          <a:p>
            <a:pPr marL="0">
              <a:lnSpc>
                <a:spcPts val="115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atti da essa dipendenti sono a carico dei singoli Assicurati, anche se il pagamento è stato anticipato da Generali Italia. </a:t>
            </a:r>
          </a:p>
        </p:txBody>
      </p:sp>
      <p:sp>
        <p:nvSpPr>
          <p:cNvPr id="868" name="Rectangle 868"/>
          <p:cNvSpPr/>
          <p:nvPr/>
        </p:nvSpPr>
        <p:spPr>
          <a:xfrm rot="0" flipH="0" flipV="0">
            <a:off x="216408" y="3083512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869" name="Rectangle 869"/>
          <p:cNvSpPr/>
          <p:nvPr/>
        </p:nvSpPr>
        <p:spPr>
          <a:xfrm rot="0" flipH="0" flipV="0">
            <a:off x="359663" y="3255899"/>
            <a:ext cx="6650594" cy="146826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1200" baseline="0" b="1" i="1" dirty="0" spc="0">
                <a:solidFill>
                  <a:srgbClr val="000000"/>
                </a:solidFill>
                <a:latin typeface="Calibri-BoldItalic" pitchFamily="0" charset="1"/>
              </a:rPr>
              <a:t>Art. 16 Dichiarazioni relative alle circostanze del rischio e forma delle comunicazioni </a:t>
            </a:r>
          </a:p>
          <a:p>
            <a:pPr marL="0">
              <a:lnSpc>
                <a:spcPts val="1169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Generali Italia presta il suo consenso all’assicurazione e determina il Premio unicamente in base alle dichiarazioni rese </a:t>
            </a:r>
          </a:p>
          <a:p>
            <a:pPr marL="0">
              <a:lnSpc>
                <a:spcPts val="1139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dal Contraente e/o dall’Assicurato sui dati e le circostanze oggetto di domanda da parte di Generali Italia e risultanti </a:t>
            </a:r>
          </a:p>
          <a:p>
            <a:pPr marL="0">
              <a:lnSpc>
                <a:spcPts val="115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dai documenti contrattuali. </a:t>
            </a:r>
          </a:p>
          <a:p>
            <a:pPr marL="0">
              <a:lnSpc>
                <a:spcPts val="115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Le</a:t>
            </a:r>
            <a:r>
              <a:rPr lang="it-IT" sz="996" baseline="0" b="0" i="0" dirty="0" spc="155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inesattezze</a:t>
            </a:r>
            <a:r>
              <a:rPr lang="it-IT" sz="996" baseline="0" b="0" i="0" dirty="0" spc="143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e</a:t>
            </a:r>
            <a:r>
              <a:rPr lang="it-IT" sz="996" baseline="0" b="0" i="0" dirty="0" spc="143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le</a:t>
            </a:r>
            <a:r>
              <a:rPr lang="it-IT" sz="996" baseline="0" b="0" i="0" dirty="0" spc="143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reticenze</a:t>
            </a:r>
            <a:r>
              <a:rPr lang="it-IT" sz="996" baseline="0" b="0" i="0" dirty="0" spc="155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dell’Assicurato,</a:t>
            </a:r>
            <a:r>
              <a:rPr lang="it-IT" sz="996" baseline="0" b="0" i="0" dirty="0" spc="143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relative</a:t>
            </a:r>
            <a:r>
              <a:rPr lang="it-IT" sz="996" baseline="0" b="0" i="0" dirty="0" spc="167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alle</a:t>
            </a:r>
            <a:r>
              <a:rPr lang="it-IT" sz="996" baseline="0" b="0" i="0" dirty="0" spc="143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circostanze</a:t>
            </a:r>
            <a:r>
              <a:rPr lang="it-IT" sz="996" baseline="0" b="0" i="0" dirty="0" spc="155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che</a:t>
            </a:r>
            <a:r>
              <a:rPr lang="it-IT" sz="996" baseline="0" b="0" i="0" dirty="0" spc="167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influiscono</a:t>
            </a:r>
            <a:r>
              <a:rPr lang="it-IT" sz="996" baseline="0" b="0" i="0" dirty="0" spc="143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sulla</a:t>
            </a:r>
            <a:r>
              <a:rPr lang="it-IT" sz="996" baseline="0" b="0" i="0" dirty="0" spc="143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valutazione</a:t>
            </a:r>
            <a:r>
              <a:rPr lang="it-IT" sz="996" baseline="0" b="0" i="0" dirty="0" spc="155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del</a:t>
            </a:r>
            <a:r>
              <a:rPr lang="it-IT" sz="996" baseline="0" b="0" i="0" dirty="0" spc="143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rischio, </a:t>
            </a:r>
          </a:p>
          <a:p>
            <a:pPr marL="0">
              <a:lnSpc>
                <a:spcPts val="1151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possono comportare la perdita totale o parziale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dell’indennizzo,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nonché la stessa cessazione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dell’assicurazione,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ai sensi </a:t>
            </a:r>
          </a:p>
          <a:p>
            <a:pPr marL="0">
              <a:lnSpc>
                <a:spcPts val="115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degli artt. 1892, 1893 e 1894 del Codice Civile. In tale caso, spetta a Generali Italia, oltre alle rate di Premio scadute e </a:t>
            </a:r>
          </a:p>
          <a:p>
            <a:pPr marL="0">
              <a:lnSpc>
                <a:spcPts val="115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rimaste</a:t>
            </a:r>
            <a:r>
              <a:rPr lang="it-IT" sz="996" baseline="0" b="0" i="0" dirty="0" spc="163">
                <a:solidFill>
                  <a:srgbClr val="000000"/>
                </a:solidFill>
                <a:latin typeface="ArialMT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insoddisfatte,</a:t>
            </a:r>
            <a:r>
              <a:rPr lang="it-IT" sz="996" baseline="0" b="0" i="0" dirty="0" spc="165">
                <a:solidFill>
                  <a:srgbClr val="000000"/>
                </a:solidFill>
                <a:latin typeface="ArialMT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il</a:t>
            </a:r>
            <a:r>
              <a:rPr lang="it-IT" sz="996" baseline="0" b="0" i="0" dirty="0" spc="166">
                <a:solidFill>
                  <a:srgbClr val="000000"/>
                </a:solidFill>
                <a:latin typeface="ArialMT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Premio</a:t>
            </a:r>
            <a:r>
              <a:rPr lang="it-IT" sz="996" baseline="0" b="0" i="0" dirty="0" spc="152">
                <a:solidFill>
                  <a:srgbClr val="000000"/>
                </a:solidFill>
                <a:latin typeface="ArialMT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complessivo</a:t>
            </a:r>
            <a:r>
              <a:rPr lang="it-IT" sz="996" baseline="0" b="0" i="0" dirty="0" spc="152">
                <a:solidFill>
                  <a:srgbClr val="000000"/>
                </a:solidFill>
                <a:latin typeface="ArialMT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relativo</a:t>
            </a:r>
            <a:r>
              <a:rPr lang="it-IT" sz="996" baseline="0" b="0" i="0" dirty="0" spc="152">
                <a:solidFill>
                  <a:srgbClr val="000000"/>
                </a:solidFill>
                <a:latin typeface="ArialMT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all’annualità</a:t>
            </a:r>
            <a:r>
              <a:rPr lang="it-IT" sz="996" baseline="0" b="0" i="0" dirty="0" spc="151">
                <a:solidFill>
                  <a:srgbClr val="000000"/>
                </a:solidFill>
                <a:latin typeface="ArialMT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di</a:t>
            </a:r>
            <a:r>
              <a:rPr lang="it-IT" sz="996" baseline="0" b="0" i="0" dirty="0" spc="154">
                <a:solidFill>
                  <a:srgbClr val="000000"/>
                </a:solidFill>
                <a:latin typeface="ArialMT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assicurazione</a:t>
            </a:r>
            <a:r>
              <a:rPr lang="it-IT" sz="996" baseline="0" b="0" i="0" dirty="0" spc="154">
                <a:solidFill>
                  <a:srgbClr val="000000"/>
                </a:solidFill>
                <a:latin typeface="ArialMT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in</a:t>
            </a:r>
            <a:r>
              <a:rPr lang="it-IT" sz="996" baseline="0" b="0" i="0" dirty="0" spc="152">
                <a:solidFill>
                  <a:srgbClr val="000000"/>
                </a:solidFill>
                <a:latin typeface="ArialMT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corso</a:t>
            </a:r>
            <a:r>
              <a:rPr lang="it-IT" sz="996" baseline="0" b="0" i="0" dirty="0" spc="152">
                <a:solidFill>
                  <a:srgbClr val="000000"/>
                </a:solidFill>
                <a:latin typeface="ArialMT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al</a:t>
            </a:r>
            <a:r>
              <a:rPr lang="it-IT" sz="996" baseline="0" b="0" i="0" dirty="0" spc="154">
                <a:solidFill>
                  <a:srgbClr val="000000"/>
                </a:solidFill>
                <a:latin typeface="ArialMT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momento</a:t>
            </a:r>
            <a:r>
              <a:rPr lang="it-IT" sz="996" baseline="0" b="0" i="0" dirty="0" spc="154">
                <a:solidFill>
                  <a:srgbClr val="000000"/>
                </a:solidFill>
                <a:latin typeface="ArialMT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in</a:t>
            </a:r>
            <a:r>
              <a:rPr lang="it-IT" sz="996" baseline="0" b="0" i="0" dirty="0" spc="154">
                <a:solidFill>
                  <a:srgbClr val="000000"/>
                </a:solidFill>
                <a:latin typeface="ArialMT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cui</a:t>
            </a:r>
            <a:r>
              <a:rPr lang="it-IT" sz="996" baseline="0" b="0" i="0" dirty="0" spc="154">
                <a:solidFill>
                  <a:srgbClr val="000000"/>
                </a:solidFill>
                <a:latin typeface="ArialMT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si</a:t>
            </a:r>
            <a:r>
              <a:rPr lang="it-IT" sz="996" baseline="0" b="0" i="0" dirty="0" spc="154">
                <a:solidFill>
                  <a:srgbClr val="000000"/>
                </a:solidFill>
                <a:latin typeface="ArialMT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è </a:t>
            </a:r>
          </a:p>
          <a:p>
            <a:pPr marL="0">
              <a:lnSpc>
                <a:spcPts val="1139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verificata la circostanza che ha provocato la risoluzione. </a:t>
            </a:r>
          </a:p>
          <a:p>
            <a:pPr marL="0">
              <a:lnSpc>
                <a:spcPts val="1151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Tutte le comunicazioni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dell’Assicurato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nel corso del contratto devono essere fatte con lettera raccomandata. </a:t>
            </a:r>
          </a:p>
        </p:txBody>
      </p:sp>
      <p:sp>
        <p:nvSpPr>
          <p:cNvPr id="870" name="Rectangle 870"/>
          <p:cNvSpPr/>
          <p:nvPr/>
        </p:nvSpPr>
        <p:spPr>
          <a:xfrm rot="0" flipH="0" flipV="0">
            <a:off x="216408" y="4729686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871" name="Rectangle 871"/>
          <p:cNvSpPr/>
          <p:nvPr/>
        </p:nvSpPr>
        <p:spPr>
          <a:xfrm rot="0" flipH="0" flipV="0">
            <a:off x="359663" y="4902074"/>
            <a:ext cx="6678026" cy="44718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1200" baseline="0" b="1" i="1" dirty="0" spc="0">
                <a:solidFill>
                  <a:srgbClr val="000000"/>
                </a:solidFill>
                <a:latin typeface="Calibri-BoldItalic" pitchFamily="0" charset="1"/>
              </a:rPr>
              <a:t>Art. 17 Obblighi </a:t>
            </a:r>
          </a:p>
          <a:p>
            <a:pPr marL="0">
              <a:lnSpc>
                <a:spcPts val="1169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Se gli assicurati sostengono in tutto o in parte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l’onere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economico connesso al pagamento dei premi o sono, direttamente </a:t>
            </a:r>
          </a:p>
          <a:p>
            <a:pPr marL="0">
              <a:lnSpc>
                <a:spcPts val="1151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o tramite i loro aventi causa, portatori di un interesse alla prestazione: </a:t>
            </a:r>
          </a:p>
        </p:txBody>
      </p:sp>
      <p:sp>
        <p:nvSpPr>
          <p:cNvPr id="872" name="Rectangle 872"/>
          <p:cNvSpPr/>
          <p:nvPr/>
        </p:nvSpPr>
        <p:spPr>
          <a:xfrm rot="0" flipH="0" flipV="0">
            <a:off x="216408" y="5354526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873" name="Rectangle 873"/>
          <p:cNvSpPr/>
          <p:nvPr/>
        </p:nvSpPr>
        <p:spPr>
          <a:xfrm rot="0" flipH="0" flipV="0">
            <a:off x="446531" y="5499306"/>
            <a:ext cx="6653642" cy="10173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227076">
              <a:tabLst>
                <a:tab pos="452932" algn="l"/>
              </a:tabLst>
            </a:pPr>
            <a:r>
              <a:rPr lang="it-IT" sz="996" baseline="0" b="0" i="0" dirty="0" spc="-8">
                <a:solidFill>
                  <a:srgbClr val="000000"/>
                </a:solidFill>
                <a:latin typeface="Arial" pitchFamily="0" charset="1"/>
              </a:rPr>
              <a:t>-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	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le Condizioni di Assicurazione saranno rese disponibili ai singoli Assicurati prima dell’adesione alla copertura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  <a:p>
            <a:pPr marL="452932">
              <a:lnSpc>
                <a:spcPts val="1151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assicurativa, tramite una specifica sezione del portale a loro dedicato; </a:t>
            </a:r>
          </a:p>
          <a:p>
            <a:pPr marL="227076">
              <a:lnSpc>
                <a:spcPts val="1151"/>
              </a:lnSpc>
              <a:tabLst>
                <a:tab pos="452932" algn="l"/>
              </a:tabLst>
            </a:pPr>
            <a:r>
              <a:rPr lang="it-IT" sz="996" baseline="0" b="0" i="0" dirty="0" spc="-8">
                <a:solidFill>
                  <a:srgbClr val="000000"/>
                </a:solidFill>
                <a:latin typeface="Arial" pitchFamily="0" charset="1"/>
              </a:rPr>
              <a:t>-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	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gli assicurati hanno la possibilità, collegandosi al sito internet di Generali Italia, entrando nell’Area Clienti e se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- </a:t>
            </a:r>
          </a:p>
          <a:p>
            <a:pPr marL="452932">
              <a:lnSpc>
                <a:spcPts val="115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guendo le istruzioni per registrarsi, di accedere alle informazioni sulle posizioni assicurative sottoscritte. </a:t>
            </a:r>
          </a:p>
          <a:p>
            <a:pPr marL="0">
              <a:lnSpc>
                <a:spcPts val="1151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I singoli Assicurati si impegnano a fornire a Generali Italia tutti i documenti necessari al momento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dell’entrata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in copertura. </a:t>
            </a:r>
          </a:p>
          <a:p>
            <a:pPr marL="0">
              <a:lnSpc>
                <a:spcPts val="1151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Generali Italia ha il diritto di effettuare in qualsiasi momento verifiche e controlli per i quali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l’ Assicurato è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tenuto a fornire </a:t>
            </a:r>
          </a:p>
          <a:p>
            <a:pPr marL="0">
              <a:lnSpc>
                <a:spcPts val="1140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i chiarimenti e le documentazioni necessarie. </a:t>
            </a:r>
          </a:p>
        </p:txBody>
      </p:sp>
      <p:sp>
        <p:nvSpPr>
          <p:cNvPr id="874" name="Rectangle 874"/>
          <p:cNvSpPr/>
          <p:nvPr/>
        </p:nvSpPr>
        <p:spPr>
          <a:xfrm rot="0" flipH="0" flipV="0">
            <a:off x="446531" y="6521910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875" name="Rectangle 875"/>
          <p:cNvSpPr/>
          <p:nvPr/>
        </p:nvSpPr>
        <p:spPr>
          <a:xfrm rot="0" flipH="0" flipV="0">
            <a:off x="446531" y="6694678"/>
            <a:ext cx="6655166" cy="739795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1200" baseline="0" b="1" i="1" dirty="0" spc="0">
                <a:solidFill>
                  <a:srgbClr val="000000"/>
                </a:solidFill>
                <a:latin typeface="Calibri-BoldItalic" pitchFamily="0" charset="1"/>
              </a:rPr>
              <a:t>Art. 18 Riservatezza dei dati personali </a:t>
            </a:r>
          </a:p>
          <a:p>
            <a:pPr marL="0">
              <a:lnSpc>
                <a:spcPts val="1169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L ’Informativa Contrattuale sarà resa disponibili ai singoli Assicurati, prima dell’adesione alla copertura assicurativa, </a:t>
            </a:r>
          </a:p>
          <a:p>
            <a:pPr marL="0">
              <a:lnSpc>
                <a:spcPts val="1151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tra- mite una specifica sezione del portale a loro dedicato, ai sensi degli articoli 13 e 14 del Regolamento UE n. 679/2016 </a:t>
            </a:r>
          </a:p>
          <a:p>
            <a:pPr marL="0">
              <a:lnSpc>
                <a:spcPts val="115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del 27 aprile 2016, allegata a queste Condizioni di Assicurazione (GIPRY) ed a restituire a Generali Italia il consenso </a:t>
            </a:r>
          </a:p>
          <a:p>
            <a:pPr marL="0">
              <a:lnSpc>
                <a:spcPts val="1151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dell’As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- sicurato. </a:t>
            </a:r>
          </a:p>
        </p:txBody>
      </p:sp>
      <p:sp>
        <p:nvSpPr>
          <p:cNvPr id="876" name="Rectangle 876"/>
          <p:cNvSpPr/>
          <p:nvPr/>
        </p:nvSpPr>
        <p:spPr>
          <a:xfrm rot="0" flipH="0" flipV="0">
            <a:off x="216408" y="7438215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877" name="Rectangle 877"/>
          <p:cNvSpPr/>
          <p:nvPr/>
        </p:nvSpPr>
        <p:spPr>
          <a:xfrm rot="0" flipH="0" flipV="0">
            <a:off x="775716" y="7811771"/>
            <a:ext cx="1982749" cy="15240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Times New Roman" pitchFamily="0" charset="1"/>
              </a:rPr>
              <a:t> </a:t>
            </a:r>
            <a:r>
              <a:rPr lang="it-IT" sz="1200" baseline="0" b="1" i="1" dirty="0" spc="0">
                <a:solidFill>
                  <a:srgbClr val="000000"/>
                </a:solidFill>
                <a:latin typeface="Calibri-BoldItalic" pitchFamily="0" charset="1"/>
              </a:rPr>
              <a:t>Quando e come devo pagare?  </a:t>
            </a:r>
          </a:p>
        </p:txBody>
      </p:sp>
      <p:sp>
        <p:nvSpPr>
          <p:cNvPr id="878" name="Rectangle 878"/>
          <p:cNvSpPr/>
          <p:nvPr/>
        </p:nvSpPr>
        <p:spPr>
          <a:xfrm rot="0" flipH="0" flipV="0">
            <a:off x="445008" y="7997699"/>
            <a:ext cx="34442" cy="15240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1200" baseline="0" b="1" i="1" dirty="0" spc="0">
                <a:solidFill>
                  <a:srgbClr val="000000"/>
                </a:solidFill>
                <a:latin typeface="Calibri-BoldItalic" pitchFamily="0" charset="1"/>
              </a:rPr>
              <a:t> </a:t>
            </a:r>
          </a:p>
        </p:txBody>
      </p:sp>
      <p:sp>
        <p:nvSpPr>
          <p:cNvPr id="879" name="Rectangle 879"/>
          <p:cNvSpPr/>
          <p:nvPr/>
        </p:nvSpPr>
        <p:spPr>
          <a:xfrm rot="0" flipH="0" flipV="0">
            <a:off x="445008" y="8183627"/>
            <a:ext cx="5104877" cy="30088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1200" baseline="0" b="1" i="1" dirty="0" spc="0">
                <a:solidFill>
                  <a:srgbClr val="000000"/>
                </a:solidFill>
                <a:latin typeface="Calibri-BoldItalic" pitchFamily="0" charset="1"/>
              </a:rPr>
              <a:t>Art. 19 Regolazione del Premio </a:t>
            </a:r>
          </a:p>
          <a:p>
            <a:pPr marL="1523">
              <a:lnSpc>
                <a:spcPts val="1169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Il contratto prevede, per ciascun anno o frazione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d’anno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di durata, il pagamento del premio: </a:t>
            </a:r>
          </a:p>
        </p:txBody>
      </p:sp>
      <p:sp>
        <p:nvSpPr>
          <p:cNvPr id="880" name="Rectangle 880"/>
          <p:cNvSpPr/>
          <p:nvPr/>
        </p:nvSpPr>
        <p:spPr>
          <a:xfrm rot="0" flipH="0" flipV="0">
            <a:off x="216408" y="8489775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881" name="Rectangle 881"/>
          <p:cNvSpPr/>
          <p:nvPr/>
        </p:nvSpPr>
        <p:spPr>
          <a:xfrm rot="0" flipH="0" flipV="0">
            <a:off x="446531" y="8634809"/>
            <a:ext cx="2914635" cy="57995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100% per gli inserimenti in garanzia nel I trimestre;  </a:t>
            </a:r>
          </a:p>
          <a:p>
            <a:pPr marL="0">
              <a:lnSpc>
                <a:spcPts val="115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80% per gli inserimenti in garanzia nel II trimestre;  </a:t>
            </a:r>
          </a:p>
          <a:p>
            <a:pPr marL="0">
              <a:lnSpc>
                <a:spcPts val="115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60% per gli inserimenti in garanzia nel III trimestre;  </a:t>
            </a:r>
          </a:p>
          <a:p>
            <a:pPr marL="0">
              <a:lnSpc>
                <a:spcPts val="1151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40% per gli inserimenti in garanzia nel IV trimestre. </a:t>
            </a:r>
          </a:p>
        </p:txBody>
      </p:sp>
      <p:sp>
        <p:nvSpPr>
          <p:cNvPr id="882" name="Rectangle 882"/>
          <p:cNvSpPr/>
          <p:nvPr/>
        </p:nvSpPr>
        <p:spPr>
          <a:xfrm rot="0" flipH="0" flipV="0">
            <a:off x="446531" y="9220025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883" name="Rectangle 883"/>
          <p:cNvSpPr/>
          <p:nvPr/>
        </p:nvSpPr>
        <p:spPr>
          <a:xfrm rot="0" flipH="0" flipV="0">
            <a:off x="396240" y="9392413"/>
            <a:ext cx="5368529" cy="30088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1200" baseline="0" b="1" i="1" dirty="0" spc="0">
                <a:solidFill>
                  <a:srgbClr val="000000"/>
                </a:solidFill>
                <a:latin typeface="Calibri-BoldItalic" pitchFamily="0" charset="1"/>
              </a:rPr>
              <a:t>Art. 20 Pagamento del Premio </a:t>
            </a:r>
          </a:p>
          <a:p>
            <a:pPr marL="0">
              <a:lnSpc>
                <a:spcPts val="1169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ll premio annuo, comprensivo di imposte, per ogni Assicurato è stabilito nella misura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€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1.100,00. </a:t>
            </a:r>
          </a:p>
        </p:txBody>
      </p:sp>
      <p:sp>
        <p:nvSpPr>
          <p:cNvPr id="884" name="Rectangle 884"/>
          <p:cNvSpPr/>
          <p:nvPr/>
        </p:nvSpPr>
        <p:spPr>
          <a:xfrm rot="0" flipH="0" flipV="0">
            <a:off x="216408" y="9698561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/>
      </p:grpSpPr>
      <p:pic>
        <p:nvPicPr>
          <p:cNvPr id="885" name="Picture 885"/>
          <p:cNvPicPr>
            <a:picLocks noChangeAspect="0" noChangeArrowheads="1"/>
          </p:cNvPicPr>
          <p:nvPr/>
        </p:nvPicPr>
        <p:blipFill>
          <a:blip r:embed="rId88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 flipH="0" flipV="0">
            <a:off x="445134" y="1974762"/>
            <a:ext cx="326390" cy="340321"/>
          </a:xfrm>
          <a:prstGeom prst="rect">
            <a:avLst/>
          </a:prstGeom>
          <a:noFill/>
          <a:extLst/>
        </p:spPr>
      </p:pic>
      <p:pic>
        <p:nvPicPr>
          <p:cNvPr id="886" name="Picture 886"/>
          <p:cNvPicPr>
            <a:picLocks noChangeAspect="0" noChangeArrowheads="1"/>
          </p:cNvPicPr>
          <p:nvPr/>
        </p:nvPicPr>
        <p:blipFill>
          <a:blip r:embed="rId88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 flipH="0" flipV="0">
            <a:off x="445134" y="2794127"/>
            <a:ext cx="356514" cy="372109"/>
          </a:xfrm>
          <a:prstGeom prst="rect">
            <a:avLst/>
          </a:prstGeom>
          <a:noFill/>
          <a:extLst/>
        </p:spPr>
      </p:pic>
      <p:pic>
        <p:nvPicPr>
          <p:cNvPr id="887" name="Picture 428"/>
          <p:cNvPicPr>
            <a:picLocks noChangeAspect="0" noChangeArrowheads="1"/>
          </p:cNvPicPr>
          <p:nvPr/>
        </p:nvPicPr>
        <p:blipFill>
          <a:blip r:embed="rId88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 flipH="0" flipV="0">
            <a:off x="449961" y="6433821"/>
            <a:ext cx="279400" cy="251459"/>
          </a:xfrm>
          <a:prstGeom prst="rect">
            <a:avLst/>
          </a:prstGeom>
          <a:noFill/>
          <a:extLst/>
        </p:spPr>
      </p:pic>
      <p:sp>
        <p:nvSpPr>
          <p:cNvPr id="888" name="Freeform 888"/>
          <p:cNvSpPr/>
          <p:nvPr/>
        </p:nvSpPr>
        <p:spPr>
          <a:xfrm rot="0" flipH="0" flipV="0">
            <a:off x="377697" y="6417691"/>
            <a:ext cx="6755766" cy="603885"/>
          </a:xfrm>
          <a:custGeom>
            <a:pathLst>
              <a:path w="6755766" h="603885">
                <a:moveTo>
                  <a:pt x="0" y="603885"/>
                </a:moveTo>
                <a:lnTo>
                  <a:pt x="6755766" y="603885"/>
                </a:lnTo>
                <a:lnTo>
                  <a:pt x="6755766" y="0"/>
                </a:lnTo>
                <a:lnTo>
                  <a:pt x="0" y="0"/>
                </a:lnTo>
                <a:lnTo>
                  <a:pt x="0" y="603885"/>
                </a:lnTo>
                <a:close/>
              </a:path>
            </a:pathLst>
          </a:custGeom>
          <a:noFill/>
          <a:ln w="6095" cap="flat" cmpd="sng">
            <a:solidFill>
              <a:srgbClr val="000000">
                <a:alpha val="10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889" name="Picture 889"/>
          <p:cNvPicPr>
            <a:picLocks noChangeAspect="0" noChangeArrowheads="1"/>
          </p:cNvPicPr>
          <p:nvPr/>
        </p:nvPicPr>
        <p:blipFill>
          <a:blip r:embed="rId88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 flipH="0" flipV="0">
            <a:off x="381000" y="6420612"/>
            <a:ext cx="6749795" cy="597408"/>
          </a:xfrm>
          <a:prstGeom prst="rect">
            <a:avLst/>
          </a:prstGeom>
          <a:noFill/>
          <a:extLst/>
        </p:spPr>
      </p:pic>
      <p:sp>
        <p:nvSpPr>
          <p:cNvPr id="890" name="Rectangle 890"/>
          <p:cNvSpPr/>
          <p:nvPr/>
        </p:nvSpPr>
        <p:spPr>
          <a:xfrm rot="0" flipH="0" flipV="0">
            <a:off x="216408" y="9969041"/>
            <a:ext cx="6881559" cy="158594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>
              <a:tabLst>
                <a:tab pos="143255" algn="l"/>
                <a:tab pos="2844419" algn="l"/>
                <a:tab pos="5645784" algn="l"/>
              </a:tabLst>
            </a:pPr>
            <a:r>
              <a:rPr lang="it-IT" sz="1509" baseline="-31325" b="0" i="0" dirty="0" spc="0">
                <a:solidFill>
                  <a:srgbClr val="000000"/>
                </a:solidFill>
                <a:latin typeface="Arial" pitchFamily="0" charset="1"/>
              </a:rPr>
              <a:t> 	</a:t>
            </a:r>
            <a:r>
              <a:rPr lang="it-IT" sz="803" baseline="0" b="1" i="0" dirty="0" spc="0">
                <a:solidFill>
                  <a:srgbClr val="000000"/>
                </a:solidFill>
                <a:latin typeface="Arial" pitchFamily="0" charset="1"/>
              </a:rPr>
              <a:t>GENERASalute RSM 	</a:t>
            </a:r>
            <a:r>
              <a:rPr lang="it-IT" sz="803" baseline="0" b="0" i="0" dirty="0" spc="0">
                <a:solidFill>
                  <a:srgbClr val="000000"/>
                </a:solidFill>
                <a:latin typeface="Arial" pitchFamily="0" charset="1"/>
              </a:rPr>
              <a:t>Edizione 05.2022 	Condizioni di assicurazione </a:t>
            </a:r>
          </a:p>
        </p:txBody>
      </p:sp>
      <p:sp>
        <p:nvSpPr>
          <p:cNvPr id="891" name="Rectangle 891"/>
          <p:cNvSpPr/>
          <p:nvPr/>
        </p:nvSpPr>
        <p:spPr>
          <a:xfrm rot="0" flipH="0" flipV="0">
            <a:off x="446531" y="664289"/>
            <a:ext cx="6616848" cy="131020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I Premi devono essere pagati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all’Agenzia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di riferimento oppure a Generali Italia. </a:t>
            </a:r>
          </a:p>
          <a:p>
            <a:pPr marL="0">
              <a:lnSpc>
                <a:spcPts val="115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Salvo quanto sotto disciplinato il</a:t>
            </a:r>
            <a:r>
              <a:rPr lang="it-IT" sz="996" baseline="0" b="0" i="0" dirty="0" spc="118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Premio si intende pagato con la consegna della somma corrispondente al Premio </a:t>
            </a:r>
          </a:p>
          <a:p>
            <a:pPr marL="0">
              <a:lnSpc>
                <a:spcPts val="1153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stesso. </a:t>
            </a:r>
          </a:p>
          <a:p>
            <a:pPr marL="0">
              <a:lnSpc>
                <a:spcPts val="115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Il Premio,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anche se frazionato in più rate, è dovuto per l’intero periodo assicurativo annuo. </a:t>
            </a:r>
          </a:p>
          <a:p>
            <a:pPr marL="0">
              <a:lnSpc>
                <a:spcPts val="1140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Nei limiti previsti dalle norme vigenti, il Premio può essere pagato con le seguenti modalità: </a:t>
            </a:r>
          </a:p>
          <a:p>
            <a:pPr marL="228600">
              <a:lnSpc>
                <a:spcPts val="1151"/>
              </a:lnSpc>
              <a:tabLst>
                <a:tab pos="455980" algn="l"/>
              </a:tabLst>
            </a:pPr>
            <a:r>
              <a:rPr lang="it-IT" sz="996" baseline="0" b="0" i="0" dirty="0" spc="-9">
                <a:solidFill>
                  <a:srgbClr val="000000"/>
                </a:solidFill>
                <a:latin typeface="ArialMT" pitchFamily="0" charset="1"/>
              </a:rPr>
              <a:t>•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	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con</a:t>
            </a:r>
            <a:r>
              <a:rPr lang="it-IT" sz="996" baseline="0" b="0" i="0" dirty="0" spc="443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bonifico</a:t>
            </a:r>
            <a:r>
              <a:rPr lang="it-IT" sz="996" baseline="0" b="0" i="0" dirty="0" spc="467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bancario</a:t>
            </a:r>
            <a:r>
              <a:rPr lang="it-IT" sz="996" baseline="0" b="0" i="0" dirty="0" spc="455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su</a:t>
            </a:r>
            <a:r>
              <a:rPr lang="it-IT" sz="996" baseline="0" b="0" i="0" dirty="0" spc="455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conto</a:t>
            </a:r>
            <a:r>
              <a:rPr lang="it-IT" sz="996" baseline="0" b="0" i="0" dirty="0" spc="443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corrente</a:t>
            </a:r>
            <a:r>
              <a:rPr lang="it-IT" sz="996" baseline="0" b="0" i="0" dirty="0" spc="467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intestato</a:t>
            </a:r>
            <a:r>
              <a:rPr lang="it-IT" sz="996" baseline="0" b="0" i="0" dirty="0" spc="467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a</a:t>
            </a:r>
            <a:r>
              <a:rPr lang="it-IT" sz="996" baseline="0" b="0" i="0" dirty="0" spc="455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Generali</a:t>
            </a:r>
            <a:r>
              <a:rPr lang="it-IT" sz="996" baseline="0" b="0" i="0" dirty="0" spc="467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Italia</a:t>
            </a:r>
            <a:r>
              <a:rPr lang="it-IT" sz="996" baseline="0" b="0" i="0" dirty="0" spc="467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o</a:t>
            </a:r>
            <a:r>
              <a:rPr lang="it-IT" sz="996" baseline="0" b="0" i="0" dirty="0" spc="455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su</a:t>
            </a:r>
            <a:r>
              <a:rPr lang="it-IT" sz="996" baseline="0" b="0" i="0" dirty="0" spc="455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conto</a:t>
            </a:r>
            <a:r>
              <a:rPr lang="it-IT" sz="996" baseline="0" b="0" i="0" dirty="0" spc="446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corrente</a:t>
            </a:r>
            <a:r>
              <a:rPr lang="it-IT" sz="996" baseline="0" b="0" i="0" dirty="0" spc="443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dedicato </a:t>
            </a:r>
          </a:p>
          <a:p>
            <a:pPr marL="457504">
              <a:lnSpc>
                <a:spcPts val="115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dell’intermediario,</a:t>
            </a:r>
            <a:r>
              <a:rPr lang="it-IT" sz="996" baseline="0" b="0" i="0" dirty="0" spc="103">
                <a:solidFill>
                  <a:srgbClr val="000000"/>
                </a:solidFill>
                <a:latin typeface="ArialMT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in tale</a:t>
            </a:r>
            <a:r>
              <a:rPr lang="it-IT" sz="996" baseline="0" b="0" i="0" dirty="0" spc="104">
                <a:solidFill>
                  <a:srgbClr val="000000"/>
                </a:solidFill>
                <a:latin typeface="ArialMT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qualità.</a:t>
            </a:r>
            <a:r>
              <a:rPr lang="it-IT" sz="996" baseline="0" b="0" i="0" dirty="0" spc="383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In</a:t>
            </a:r>
            <a:r>
              <a:rPr lang="it-IT" sz="996" baseline="0" b="0" i="0" dirty="0" spc="103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questo caso</a:t>
            </a:r>
            <a:r>
              <a:rPr lang="it-IT" sz="996" baseline="0" b="0" i="0" dirty="0" spc="104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la</a:t>
            </a:r>
            <a:r>
              <a:rPr lang="it-IT" sz="996" baseline="0" b="0" i="0" dirty="0" spc="104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data</a:t>
            </a:r>
            <a:r>
              <a:rPr lang="it-IT" sz="996" baseline="0" b="0" i="0" dirty="0" spc="106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di versamento</a:t>
            </a:r>
            <a:r>
              <a:rPr lang="it-IT" sz="996" baseline="0" b="0" i="0" dirty="0" spc="103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del Premio coincide con la data</a:t>
            </a:r>
            <a:r>
              <a:rPr lang="it-IT" sz="996" baseline="0" b="0" i="0" dirty="0" spc="103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di </a:t>
            </a:r>
          </a:p>
          <a:p>
            <a:pPr marL="457504">
              <a:lnSpc>
                <a:spcPts val="115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effettivo accredito sul conto corrente intestato a Generali Italia o sul conto corrente dell’intermediario, in tale </a:t>
            </a:r>
          </a:p>
          <a:p>
            <a:pPr marL="457504">
              <a:lnSpc>
                <a:spcPts val="1151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qualità. </a:t>
            </a:r>
          </a:p>
        </p:txBody>
      </p:sp>
      <p:sp>
        <p:nvSpPr>
          <p:cNvPr id="892" name="Rectangle 892"/>
          <p:cNvSpPr/>
          <p:nvPr/>
        </p:nvSpPr>
        <p:spPr>
          <a:xfrm rot="0" flipH="0" flipV="0">
            <a:off x="446531" y="2200911"/>
            <a:ext cx="6647008" cy="44718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324612"/>
            <a:r>
              <a:rPr lang="it-IT" sz="996" baseline="0" b="0" i="0" dirty="0" spc="0">
                <a:solidFill>
                  <a:srgbClr val="000000"/>
                </a:solidFill>
                <a:latin typeface="Times New Roman" pitchFamily="0" charset="1"/>
              </a:rPr>
              <a:t> </a:t>
            </a:r>
            <a:r>
              <a:rPr lang="it-IT" sz="1200" baseline="0" b="1" i="1" dirty="0" spc="0">
                <a:solidFill>
                  <a:srgbClr val="000000"/>
                </a:solidFill>
                <a:latin typeface="Calibri-BoldItalic" pitchFamily="0" charset="1"/>
              </a:rPr>
              <a:t>Quando comincia la copertura e quando </a:t>
            </a:r>
            <a:r>
              <a:rPr lang="it-IT" sz="1200" baseline="0" b="1" i="1" dirty="0" spc="0">
                <a:solidFill>
                  <a:srgbClr val="000000"/>
                </a:solidFill>
                <a:latin typeface="Calibri-BoldItalic" pitchFamily="0" charset="1"/>
              </a:rPr>
              <a:t>finisce? Art. 21 Entrata in vigore dell’assicurazione</a:t>
            </a:r>
            <a:r>
              <a:rPr lang="it-IT" sz="1200" baseline="0" b="1" i="1" dirty="0" spc="0">
                <a:solidFill>
                  <a:srgbClr val="000000"/>
                </a:solidFill>
                <a:latin typeface="Calibri-BoldItalic" pitchFamily="0" charset="1"/>
              </a:rPr>
              <a:t> </a:t>
            </a:r>
          </a:p>
          <a:p>
            <a:pPr marL="0">
              <a:lnSpc>
                <a:spcPts val="1169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La copertura per gli aventi diritto, iscritti nella prima finestra temporale, avrà effetto retroattivo dalle ore 24 del 31.12.2022. </a:t>
            </a:r>
          </a:p>
          <a:p>
            <a:pPr marL="0">
              <a:lnSpc>
                <a:spcPts val="115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Per i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pensionandi che aderiranno in corso d’anno la copertura decorrerà dal 1° giorno del trimestre di adesione.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893" name="Rectangle 893"/>
          <p:cNvSpPr/>
          <p:nvPr/>
        </p:nvSpPr>
        <p:spPr>
          <a:xfrm rot="0" flipH="0" flipV="0">
            <a:off x="216408" y="2651839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894" name="Rectangle 894"/>
          <p:cNvSpPr/>
          <p:nvPr/>
        </p:nvSpPr>
        <p:spPr>
          <a:xfrm rot="0" flipH="0" flipV="0">
            <a:off x="216408" y="2798524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895" name="Rectangle 895"/>
          <p:cNvSpPr/>
          <p:nvPr/>
        </p:nvSpPr>
        <p:spPr>
          <a:xfrm rot="0" flipH="0" flipV="0">
            <a:off x="842772" y="2970911"/>
            <a:ext cx="1926361" cy="15240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1200" baseline="0" b="1" i="1" dirty="0" spc="0">
                <a:solidFill>
                  <a:srgbClr val="000000"/>
                </a:solidFill>
                <a:latin typeface="Calibri-BoldItalic" pitchFamily="0" charset="1"/>
              </a:rPr>
              <a:t>Come posso disdire la polizza? </a:t>
            </a:r>
          </a:p>
        </p:txBody>
      </p:sp>
      <p:sp>
        <p:nvSpPr>
          <p:cNvPr id="896" name="Rectangle 896"/>
          <p:cNvSpPr/>
          <p:nvPr/>
        </p:nvSpPr>
        <p:spPr>
          <a:xfrm rot="0" flipH="0" flipV="0">
            <a:off x="216408" y="3156839"/>
            <a:ext cx="34442" cy="15240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1200" baseline="0" b="1" i="1" dirty="0" spc="0">
                <a:solidFill>
                  <a:srgbClr val="000000"/>
                </a:solidFill>
                <a:latin typeface="Calibri-BoldItalic" pitchFamily="0" charset="1"/>
              </a:rPr>
              <a:t> </a:t>
            </a:r>
          </a:p>
        </p:txBody>
      </p:sp>
      <p:sp>
        <p:nvSpPr>
          <p:cNvPr id="897" name="Rectangle 897"/>
          <p:cNvSpPr/>
          <p:nvPr/>
        </p:nvSpPr>
        <p:spPr>
          <a:xfrm rot="0" flipH="0" flipV="0">
            <a:off x="446531" y="3342768"/>
            <a:ext cx="6653642" cy="59349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1200" baseline="0" b="1" i="1" dirty="0" spc="0">
                <a:solidFill>
                  <a:srgbClr val="000000"/>
                </a:solidFill>
                <a:latin typeface="Calibri-BoldItalic" pitchFamily="0" charset="1"/>
              </a:rPr>
              <a:t>Art. 22 Proroga </a:t>
            </a:r>
            <a:r>
              <a:rPr lang="it-IT" sz="1200" baseline="0" b="1" i="1" dirty="0" spc="0">
                <a:solidFill>
                  <a:srgbClr val="000000"/>
                </a:solidFill>
                <a:latin typeface="Calibri-BoldItalic" pitchFamily="0" charset="1"/>
              </a:rPr>
              <a:t>dell’assicurazione</a:t>
            </a:r>
            <a:r>
              <a:rPr lang="it-IT" sz="1200" baseline="0" b="1" i="1" dirty="0" spc="0">
                <a:solidFill>
                  <a:srgbClr val="000000"/>
                </a:solidFill>
                <a:latin typeface="Calibri-BoldItalic" pitchFamily="0" charset="1"/>
              </a:rPr>
              <a:t> </a:t>
            </a:r>
          </a:p>
          <a:p>
            <a:pPr marL="0">
              <a:lnSpc>
                <a:spcPts val="1169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Il contratto - sempre se stipulato per almeno un anno - è prorogato per una ulteriore annualità e così successivamente. </a:t>
            </a:r>
          </a:p>
          <a:p>
            <a:pPr marL="0">
              <a:lnSpc>
                <a:spcPts val="115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L’eventuale disdetta va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esercitata dal Contraente o da Generali Italia almeno 30 giorni prima della scadenza, con comu- </a:t>
            </a:r>
          </a:p>
          <a:p>
            <a:pPr marL="0">
              <a:lnSpc>
                <a:spcPts val="115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nicazione per iscritto mediante: </a:t>
            </a:r>
          </a:p>
        </p:txBody>
      </p:sp>
      <p:sp>
        <p:nvSpPr>
          <p:cNvPr id="898" name="Rectangle 898"/>
          <p:cNvSpPr/>
          <p:nvPr/>
        </p:nvSpPr>
        <p:spPr>
          <a:xfrm rot="0" flipH="0" flipV="0">
            <a:off x="216408" y="3941524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899" name="Rectangle 899"/>
          <p:cNvSpPr/>
          <p:nvPr/>
        </p:nvSpPr>
        <p:spPr>
          <a:xfrm rot="0" flipH="0" flipV="0">
            <a:off x="518159" y="4087828"/>
            <a:ext cx="2314179" cy="28581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>
              <a:tabLst>
                <a:tab pos="378256" algn="l"/>
              </a:tabLst>
            </a:pPr>
            <a:r>
              <a:rPr lang="it-IT" sz="996" baseline="0" b="0" i="0" dirty="0" spc="-8">
                <a:solidFill>
                  <a:srgbClr val="000000"/>
                </a:solidFill>
                <a:latin typeface="Arial" pitchFamily="0" charset="1"/>
              </a:rPr>
              <a:t>-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	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posta elettronica certificata (PEC); </a:t>
            </a:r>
          </a:p>
          <a:p>
            <a:pPr marL="0">
              <a:lnSpc>
                <a:spcPts val="1139"/>
              </a:lnSpc>
              <a:tabLst>
                <a:tab pos="378256" algn="l"/>
              </a:tabLst>
            </a:pPr>
            <a:r>
              <a:rPr lang="it-IT" sz="996" baseline="0" b="0" i="0" dirty="0" spc="-8">
                <a:solidFill>
                  <a:srgbClr val="000000"/>
                </a:solidFill>
                <a:latin typeface="Arial" pitchFamily="0" charset="1"/>
              </a:rPr>
              <a:t>-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	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lettera raccomandata. </a:t>
            </a:r>
          </a:p>
        </p:txBody>
      </p:sp>
      <p:sp>
        <p:nvSpPr>
          <p:cNvPr id="900" name="Rectangle 900"/>
          <p:cNvSpPr/>
          <p:nvPr/>
        </p:nvSpPr>
        <p:spPr>
          <a:xfrm rot="0" flipH="0" flipV="0">
            <a:off x="359663" y="4378912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1" i="0" dirty="0" spc="0">
                <a:solidFill>
                  <a:srgbClr val="4F81BC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901" name="Rectangle 901"/>
          <p:cNvSpPr/>
          <p:nvPr/>
        </p:nvSpPr>
        <p:spPr>
          <a:xfrm rot="0" flipH="0" flipV="0">
            <a:off x="359663" y="4525216"/>
            <a:ext cx="2123298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1" i="0" dirty="0" spc="0">
                <a:solidFill>
                  <a:srgbClr val="4F81BC"/>
                </a:solidFill>
                <a:latin typeface="Arial" pitchFamily="0" charset="1"/>
              </a:rPr>
              <a:t>COSA FARE IN CASO DI SINISTRO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902" name="Rectangle 902"/>
          <p:cNvSpPr/>
          <p:nvPr/>
        </p:nvSpPr>
        <p:spPr>
          <a:xfrm rot="0" flipH="0" flipV="0">
            <a:off x="216408" y="4671520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903" name="Rectangle 903"/>
          <p:cNvSpPr/>
          <p:nvPr/>
        </p:nvSpPr>
        <p:spPr>
          <a:xfrm rot="0" flipH="0" flipV="0">
            <a:off x="359663" y="4844162"/>
            <a:ext cx="1948038" cy="30088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1200" baseline="0" b="1" i="1" dirty="0" spc="0">
                <a:solidFill>
                  <a:srgbClr val="000000"/>
                </a:solidFill>
                <a:latin typeface="Calibri-BoldItalic" pitchFamily="0" charset="1"/>
              </a:rPr>
              <a:t>Art. 23 Reti convenzionate </a:t>
            </a:r>
          </a:p>
          <a:p>
            <a:pPr marL="0">
              <a:lnSpc>
                <a:spcPts val="1169"/>
              </a:lnSpc>
            </a:pPr>
            <a:r>
              <a:rPr lang="it-IT" sz="996" baseline="0" b="0" i="0" dirty="0" spc="0" u="sng">
                <a:solidFill>
                  <a:srgbClr val="000000"/>
                </a:solidFill>
                <a:latin typeface="Arial" pitchFamily="0" charset="1"/>
              </a:rPr>
              <a:t>Rete delle </a:t>
            </a:r>
            <a:r>
              <a:rPr lang="it-IT" sz="996" baseline="0" b="0" i="0" dirty="0" spc="0" u="sng">
                <a:solidFill>
                  <a:srgbClr val="000000"/>
                </a:solidFill>
                <a:latin typeface="ArialMT" pitchFamily="0" charset="1"/>
              </a:rPr>
              <a:t>“Strutture</a:t>
            </a:r>
            <a:r>
              <a:rPr lang="it-IT" sz="996" baseline="0" b="0" i="0" dirty="0" spc="0" u="sng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 u="sng">
                <a:solidFill>
                  <a:srgbClr val="000000"/>
                </a:solidFill>
                <a:latin typeface="ArialMT" pitchFamily="0" charset="1"/>
              </a:rPr>
              <a:t>Convenzionate”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904" name="Rectangle 904"/>
          <p:cNvSpPr/>
          <p:nvPr/>
        </p:nvSpPr>
        <p:spPr>
          <a:xfrm rot="0" flipH="0" flipV="0">
            <a:off x="216408" y="5150310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905" name="Rectangle 905"/>
          <p:cNvSpPr/>
          <p:nvPr/>
        </p:nvSpPr>
        <p:spPr>
          <a:xfrm rot="0" flipH="0" flipV="0">
            <a:off x="431291" y="5295090"/>
            <a:ext cx="6527151" cy="87255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Generali Italia ha studiato e realizzato un servizio di accesso ad una rete di centri clinici e Studi Odontoiatrici conven- </a:t>
            </a:r>
          </a:p>
          <a:p>
            <a:pPr marL="0">
              <a:lnSpc>
                <a:spcPts val="115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zionati ai quali gli assicurati possono rivolgersi, attraverso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l’attivazione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della Centrale Operativa, per le prestazioni </a:t>
            </a:r>
          </a:p>
          <a:p>
            <a:pPr marL="0">
              <a:lnSpc>
                <a:spcPts val="1151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pre- viste dal contratto con costi sostenuti direttamente da Generali Italia, ad eccezione delle franchigie o scoperti di </a:t>
            </a:r>
          </a:p>
          <a:p>
            <a:pPr marL="0">
              <a:lnSpc>
                <a:spcPts val="1151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polizza e delle spese non previste dalla polizza stessa. </a:t>
            </a:r>
          </a:p>
          <a:p>
            <a:pPr marL="0">
              <a:lnSpc>
                <a:spcPts val="115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Le modalità operative del servizio sono disciplinate dalla guida al servizio che forma parte integrante del presente </a:t>
            </a:r>
          </a:p>
          <a:p>
            <a:pPr marL="0">
              <a:lnSpc>
                <a:spcPts val="1151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contratto (Allegato 1). </a:t>
            </a:r>
          </a:p>
        </p:txBody>
      </p:sp>
      <p:sp>
        <p:nvSpPr>
          <p:cNvPr id="906" name="Rectangle 906"/>
          <p:cNvSpPr/>
          <p:nvPr/>
        </p:nvSpPr>
        <p:spPr>
          <a:xfrm rot="0" flipH="0" flipV="0">
            <a:off x="216408" y="6171390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907" name="Rectangle 907"/>
          <p:cNvSpPr/>
          <p:nvPr/>
        </p:nvSpPr>
        <p:spPr>
          <a:xfrm rot="0" flipH="0" flipV="0">
            <a:off x="359663" y="7055866"/>
            <a:ext cx="34442" cy="15240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1200" baseline="0" b="1" i="1" dirty="0" spc="0">
                <a:solidFill>
                  <a:srgbClr val="000000"/>
                </a:solidFill>
                <a:latin typeface="Calibri-BoldItalic" pitchFamily="0" charset="1"/>
              </a:rPr>
              <a:t> </a:t>
            </a:r>
          </a:p>
        </p:txBody>
      </p:sp>
      <p:sp>
        <p:nvSpPr>
          <p:cNvPr id="908" name="Rectangle 908"/>
          <p:cNvSpPr/>
          <p:nvPr/>
        </p:nvSpPr>
        <p:spPr>
          <a:xfrm rot="0" flipH="0" flipV="0">
            <a:off x="359663" y="7241795"/>
            <a:ext cx="5118593" cy="30088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1200" baseline="0" b="1" i="1" dirty="0" spc="0">
                <a:solidFill>
                  <a:srgbClr val="000000"/>
                </a:solidFill>
                <a:latin typeface="Calibri-BoldItalic" pitchFamily="0" charset="1"/>
              </a:rPr>
              <a:t>Art. 24 Obblighi </a:t>
            </a:r>
            <a:r>
              <a:rPr lang="it-IT" sz="1200" baseline="0" b="1" i="1" dirty="0" spc="0">
                <a:solidFill>
                  <a:srgbClr val="000000"/>
                </a:solidFill>
                <a:latin typeface="Calibri-BoldItalic" pitchFamily="0" charset="1"/>
              </a:rPr>
              <a:t>dell’Assicurato</a:t>
            </a:r>
            <a:r>
              <a:rPr lang="it-IT" sz="1200" baseline="0" b="1" i="1" dirty="0" spc="0">
                <a:solidFill>
                  <a:srgbClr val="000000"/>
                </a:solidFill>
                <a:latin typeface="Calibri-BoldItalic" pitchFamily="0" charset="1"/>
              </a:rPr>
              <a:t> in caso di sinistro (richiesta di rimborso) </a:t>
            </a:r>
          </a:p>
          <a:p>
            <a:pPr marL="0">
              <a:lnSpc>
                <a:spcPts val="1169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In caso di sinistro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l’Assicurato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o i suoi aventi diritto devono ottemperare ai seguenti obblighi: </a:t>
            </a:r>
          </a:p>
        </p:txBody>
      </p:sp>
      <p:sp>
        <p:nvSpPr>
          <p:cNvPr id="909" name="Rectangle 909"/>
          <p:cNvSpPr/>
          <p:nvPr/>
        </p:nvSpPr>
        <p:spPr>
          <a:xfrm rot="0" flipH="0" flipV="0">
            <a:off x="216408" y="7547943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910" name="Rectangle 910"/>
          <p:cNvSpPr/>
          <p:nvPr/>
        </p:nvSpPr>
        <p:spPr>
          <a:xfrm rot="0" flipH="0" flipV="0">
            <a:off x="359663" y="7694247"/>
            <a:ext cx="6652136" cy="1308676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228600">
              <a:tabLst>
                <a:tab pos="457200" algn="l"/>
              </a:tabLst>
            </a:pPr>
            <a:r>
              <a:rPr lang="it-IT" sz="996" baseline="0" b="0" i="0" dirty="0" spc="-8">
                <a:solidFill>
                  <a:srgbClr val="000000"/>
                </a:solidFill>
                <a:latin typeface="Arial" pitchFamily="0" charset="1"/>
              </a:rPr>
              <a:t>-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	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presentare, non appena ne abbiano avuto la possibilità, la denuncia del sinistro (richiesta di rimborso) corredata </a:t>
            </a:r>
          </a:p>
          <a:p>
            <a:pPr marL="457200">
              <a:lnSpc>
                <a:spcPts val="115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dalla necessaria documentazione medica con la prescrizione riportante il quesito diagnostico; </a:t>
            </a:r>
          </a:p>
          <a:p>
            <a:pPr marL="228600">
              <a:lnSpc>
                <a:spcPts val="1139"/>
              </a:lnSpc>
              <a:tabLst>
                <a:tab pos="457200" algn="l"/>
              </a:tabLst>
            </a:pPr>
            <a:r>
              <a:rPr lang="it-IT" sz="996" baseline="0" b="0" i="0" dirty="0" spc="-8">
                <a:solidFill>
                  <a:srgbClr val="000000"/>
                </a:solidFill>
                <a:latin typeface="Arial" pitchFamily="0" charset="1"/>
              </a:rPr>
              <a:t>-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	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allegare la copia della cartella clinica completa per le prestazioni connesse ai ricoveri; </a:t>
            </a:r>
          </a:p>
          <a:p>
            <a:pPr marL="228600">
              <a:lnSpc>
                <a:spcPts val="1152"/>
              </a:lnSpc>
              <a:tabLst>
                <a:tab pos="457200" algn="l"/>
              </a:tabLst>
            </a:pPr>
            <a:r>
              <a:rPr lang="it-IT" sz="996" baseline="0" b="0" i="0" dirty="0" spc="-8">
                <a:solidFill>
                  <a:srgbClr val="000000"/>
                </a:solidFill>
                <a:latin typeface="Arial" pitchFamily="0" charset="1"/>
              </a:rPr>
              <a:t>-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	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acconsentire alla visita dei medici inviati da Generali Italia ed a qualsiasi indagine che questa ritenga necessaria, </a:t>
            </a:r>
          </a:p>
          <a:p>
            <a:pPr marL="457200">
              <a:lnSpc>
                <a:spcPts val="115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a tal fine sciogliendo dal segreto professionale i medici curanti; </a:t>
            </a:r>
          </a:p>
          <a:p>
            <a:pPr marL="228600">
              <a:lnSpc>
                <a:spcPts val="1152"/>
              </a:lnSpc>
              <a:tabLst>
                <a:tab pos="457200" algn="l"/>
              </a:tabLst>
            </a:pPr>
            <a:r>
              <a:rPr lang="it-IT" sz="996" baseline="0" b="0" i="0" dirty="0" spc="-8">
                <a:solidFill>
                  <a:srgbClr val="000000"/>
                </a:solidFill>
                <a:latin typeface="Arial" pitchFamily="0" charset="1"/>
              </a:rPr>
              <a:t>-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	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fornire tutta la documentazione (medica e non) che Generali Italia riterrà opportuno acquisire ai fini di una corretta </a:t>
            </a:r>
          </a:p>
          <a:p>
            <a:pPr marL="457200">
              <a:lnSpc>
                <a:spcPts val="1153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e completa istruttoria del sinistro. </a:t>
            </a:r>
          </a:p>
          <a:p>
            <a:pPr marL="0">
              <a:lnSpc>
                <a:spcPts val="1139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L’inadempimento</a:t>
            </a:r>
            <a:r>
              <a:rPr lang="it-IT" sz="996" baseline="0" b="0" i="0" dirty="0" spc="107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ai suddetti obblighi</a:t>
            </a:r>
            <a:r>
              <a:rPr lang="it-IT" sz="996" baseline="0" b="0" i="0" dirty="0" spc="107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comporta</a:t>
            </a:r>
            <a:r>
              <a:rPr lang="it-IT" sz="996" baseline="0" b="0" i="0" dirty="0" spc="131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la</a:t>
            </a:r>
            <a:r>
              <a:rPr lang="it-IT" sz="996" baseline="0" b="0" i="0" dirty="0" spc="107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perdita totale</a:t>
            </a:r>
            <a:r>
              <a:rPr lang="it-IT" sz="996" baseline="0" b="0" i="0" dirty="0" spc="107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o</a:t>
            </a:r>
            <a:r>
              <a:rPr lang="it-IT" sz="996" baseline="0" b="0" i="0" dirty="0" spc="107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parziale</a:t>
            </a:r>
            <a:r>
              <a:rPr lang="it-IT" sz="996" baseline="0" b="0" i="0" dirty="0" spc="107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dell’indennizzo</a:t>
            </a:r>
            <a:r>
              <a:rPr lang="it-IT" sz="996" baseline="0" b="0" i="0" dirty="0" spc="107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ai sensi</a:t>
            </a:r>
            <a:r>
              <a:rPr lang="it-IT" sz="996" baseline="0" b="0" i="0" dirty="0" spc="122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dell’art.</a:t>
            </a:r>
            <a:r>
              <a:rPr lang="it-IT" sz="996" baseline="0" b="0" i="0" dirty="0" spc="119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1915</a:t>
            </a:r>
            <a:r>
              <a:rPr lang="it-IT" sz="996" baseline="0" b="0" i="0" dirty="0" spc="107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del </a:t>
            </a:r>
          </a:p>
          <a:p>
            <a:pPr marL="0">
              <a:lnSpc>
                <a:spcPts val="115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Codice Civile. </a:t>
            </a:r>
          </a:p>
        </p:txBody>
      </p:sp>
      <p:sp>
        <p:nvSpPr>
          <p:cNvPr id="911" name="Rectangle 911"/>
          <p:cNvSpPr/>
          <p:nvPr/>
        </p:nvSpPr>
        <p:spPr>
          <a:xfrm rot="0" flipH="0" flipV="0">
            <a:off x="216408" y="9008189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912" name="Rectangle 912"/>
          <p:cNvSpPr/>
          <p:nvPr/>
        </p:nvSpPr>
        <p:spPr>
          <a:xfrm rot="0" flipH="0" flipV="0">
            <a:off x="359663" y="9180577"/>
            <a:ext cx="6648563" cy="73827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1200" baseline="0" b="1" i="1" dirty="0" spc="0">
                <a:solidFill>
                  <a:srgbClr val="000000"/>
                </a:solidFill>
                <a:latin typeface="Calibri-BoldItalic" pitchFamily="0" charset="1"/>
              </a:rPr>
              <a:t>Art. 25 Criteri di liquidazione </a:t>
            </a:r>
          </a:p>
          <a:p>
            <a:pPr marL="0">
              <a:lnSpc>
                <a:spcPts val="1169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Generali Italia effettua il rimborso delle spese a cura ultimata e direttamente all’Assicurato, previa presentazione delle </a:t>
            </a:r>
          </a:p>
          <a:p>
            <a:pPr marL="0">
              <a:lnSpc>
                <a:spcPts val="115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fotocopie delle relative notule, distinte, fatture e ricevute debitamente quietanzate. </a:t>
            </a:r>
          </a:p>
          <a:p>
            <a:pPr marL="0">
              <a:lnSpc>
                <a:spcPts val="1151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Per le spese sostenute all’estero i rimborsi vengono eseguiti in Italia, nella valuta avente corso legale in Italia, al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cambio </a:t>
            </a:r>
          </a:p>
          <a:p>
            <a:pPr marL="0">
              <a:lnSpc>
                <a:spcPts val="1140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medio della settimana in cui la spesa è stata sostenuta dall’Assicurato, ricavato dalle quotazioni ufficiali.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913" name="Rectangle 913"/>
          <p:cNvSpPr/>
          <p:nvPr/>
        </p:nvSpPr>
        <p:spPr>
          <a:xfrm rot="0" flipH="0" flipV="0">
            <a:off x="449580" y="6569535"/>
            <a:ext cx="6650593" cy="43517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320039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A</a:t>
            </a:r>
            <a:r>
              <a:rPr lang="it-IT" sz="803" baseline="0" b="0" i="0" dirty="0" spc="0">
                <a:solidFill>
                  <a:srgbClr val="000000"/>
                </a:solidFill>
                <a:latin typeface="Arial" pitchFamily="0" charset="1"/>
              </a:rPr>
              <a:t>TTENZIONE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: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l’Assicurato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deve attivare la Centrale Operativa in caso di intervento chirurgico da effettuare in strut- </a:t>
            </a:r>
          </a:p>
          <a:p>
            <a:pPr marL="0">
              <a:lnSpc>
                <a:spcPts val="1164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tura sanitaria privata per verificare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l’appartenenza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o meno di questa alla rete convenzionata con Generali Italia ed avere </a:t>
            </a:r>
          </a:p>
          <a:p>
            <a:pPr marL="0">
              <a:lnSpc>
                <a:spcPts val="1151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l’autorizzazione ad effettuare la prestazione.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914" name="Rectangle 914"/>
          <p:cNvSpPr/>
          <p:nvPr/>
        </p:nvSpPr>
        <p:spPr>
          <a:xfrm rot="0" flipH="0" flipV="0">
            <a:off x="216408" y="9969041"/>
            <a:ext cx="6881559" cy="158594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>
              <a:tabLst>
                <a:tab pos="143255" algn="l"/>
                <a:tab pos="2844419" algn="l"/>
                <a:tab pos="5645784" algn="l"/>
              </a:tabLst>
            </a:pPr>
            <a:r>
              <a:rPr lang="it-IT" sz="1509" baseline="-31325" b="0" i="0" dirty="0" spc="0">
                <a:solidFill>
                  <a:srgbClr val="000000"/>
                </a:solidFill>
                <a:latin typeface="Arial" pitchFamily="0" charset="1"/>
              </a:rPr>
              <a:t> 	</a:t>
            </a:r>
            <a:r>
              <a:rPr lang="it-IT" sz="803" baseline="0" b="1" i="0" dirty="0" spc="0">
                <a:solidFill>
                  <a:srgbClr val="000000"/>
                </a:solidFill>
                <a:latin typeface="Arial" pitchFamily="0" charset="1"/>
              </a:rPr>
              <a:t>GENERASalute RSM 	</a:t>
            </a:r>
            <a:r>
              <a:rPr lang="it-IT" sz="803" baseline="0" b="0" i="0" dirty="0" spc="0">
                <a:solidFill>
                  <a:srgbClr val="000000"/>
                </a:solidFill>
                <a:latin typeface="Arial" pitchFamily="0" charset="1"/>
              </a:rPr>
              <a:t>Edizione 05.2022 	Condizioni di assicurazione </a:t>
            </a:r>
          </a:p>
        </p:txBody>
      </p:sp>
      <p:sp>
        <p:nvSpPr>
          <p:cNvPr id="915" name="Rectangle 915"/>
          <p:cNvSpPr/>
          <p:nvPr/>
        </p:nvSpPr>
        <p:spPr>
          <a:xfrm rot="0" flipH="0" flipV="0">
            <a:off x="359663" y="664289"/>
            <a:ext cx="6653642" cy="1163896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Per la corresponsione delle indennità per i giorni di ricovero, Generali Italia effettua il pagamento all’Assicurato, previa </a:t>
            </a:r>
          </a:p>
          <a:p>
            <a:pPr marL="0">
              <a:lnSpc>
                <a:spcPts val="115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presentazione</a:t>
            </a:r>
            <a:r>
              <a:rPr lang="it-IT" sz="996" baseline="0" b="0" i="0" dirty="0" spc="167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dei</a:t>
            </a:r>
            <a:r>
              <a:rPr lang="it-IT" sz="996" baseline="0" b="0" i="0" dirty="0" spc="167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documenti</a:t>
            </a:r>
            <a:r>
              <a:rPr lang="it-IT" sz="996" baseline="0" b="0" i="0" dirty="0" spc="179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giustificativi</a:t>
            </a:r>
            <a:r>
              <a:rPr lang="it-IT" sz="996" baseline="0" b="0" i="0" dirty="0" spc="167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(cartella</a:t>
            </a:r>
            <a:r>
              <a:rPr lang="it-IT" sz="996" baseline="0" b="0" i="0" dirty="0" spc="167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clinica</a:t>
            </a:r>
            <a:r>
              <a:rPr lang="it-IT" sz="996" baseline="0" b="0" i="0" dirty="0" spc="167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completa</a:t>
            </a:r>
            <a:r>
              <a:rPr lang="it-IT" sz="996" baseline="0" b="0" i="0" dirty="0" spc="181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e</a:t>
            </a:r>
            <a:r>
              <a:rPr lang="it-IT" sz="996" baseline="0" b="0" i="0" dirty="0" spc="191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documentazione</a:t>
            </a:r>
            <a:r>
              <a:rPr lang="it-IT" sz="996" baseline="0" b="0" i="0" dirty="0" spc="167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medica)</a:t>
            </a:r>
            <a:r>
              <a:rPr lang="it-IT" sz="996" baseline="0" b="0" i="0" dirty="0" spc="179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attestanti</a:t>
            </a:r>
            <a:r>
              <a:rPr lang="it-IT" sz="996" baseline="0" b="0" i="0" dirty="0" spc="179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durata</a:t>
            </a:r>
            <a:r>
              <a:rPr lang="it-IT" sz="996" baseline="0" b="0" i="0" dirty="0" spc="202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e </a:t>
            </a:r>
          </a:p>
          <a:p>
            <a:pPr marL="0">
              <a:lnSpc>
                <a:spcPts val="1153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ragioni del ricovero. </a:t>
            </a:r>
          </a:p>
          <a:p>
            <a:pPr marL="0">
              <a:lnSpc>
                <a:spcPts val="1152"/>
              </a:lnSpc>
            </a:pP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La richiesta di rimborso può essere inviata con una raccomandata A.R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. contenente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l’apposito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modulo sottoscritto, </a:t>
            </a:r>
          </a:p>
          <a:p>
            <a:pPr marL="0">
              <a:lnSpc>
                <a:spcPts val="1140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in cui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è indicato l’indirizzo,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e la documentazione inerente il sinistro, 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oppure tramite internet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. Per accedere al servizio </a:t>
            </a:r>
          </a:p>
          <a:p>
            <a:pPr marL="0">
              <a:lnSpc>
                <a:spcPts val="1151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web (tramite pc, smartphone o tablet) occorre collegarsi al sito di Generali Italia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  <a:hlinkClick r:id="rId100"/>
              </a:rPr>
              <a:t> http://www.generali.it/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e cliccare sulla </a:t>
            </a:r>
          </a:p>
          <a:p>
            <a:pPr marL="0">
              <a:lnSpc>
                <a:spcPts val="115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voce “Area Clienti”.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  <a:p>
            <a:pPr marL="0">
              <a:lnSpc>
                <a:spcPts val="115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In alternativa è possibile utilizzare il link diretto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all’applicativo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  <a:hlinkClick r:id="rId101"/>
              </a:rPr>
              <a:t>https://areaclienti.spesemediche.generali.it/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. </a:t>
            </a:r>
          </a:p>
        </p:txBody>
      </p:sp>
      <p:sp>
        <p:nvSpPr>
          <p:cNvPr id="916" name="Rectangle 916"/>
          <p:cNvSpPr/>
          <p:nvPr/>
        </p:nvSpPr>
        <p:spPr>
          <a:xfrm rot="0" flipH="0" flipV="0">
            <a:off x="216408" y="1833451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917" name="Rectangle 917"/>
          <p:cNvSpPr/>
          <p:nvPr/>
        </p:nvSpPr>
        <p:spPr>
          <a:xfrm rot="0" flipH="0" flipV="0">
            <a:off x="359663" y="2005838"/>
            <a:ext cx="6653642" cy="2053864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1200" baseline="0" b="1" i="1" dirty="0" spc="0">
                <a:solidFill>
                  <a:srgbClr val="000000"/>
                </a:solidFill>
                <a:latin typeface="Calibri-BoldItalic" pitchFamily="0" charset="1"/>
              </a:rPr>
              <a:t>Art. 26 Controversie </a:t>
            </a:r>
          </a:p>
          <a:p>
            <a:pPr marL="0">
              <a:lnSpc>
                <a:spcPts val="1169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In caso di controversie di natura medica sull’indennizzabilità del sinistro, le Parti possono conferire per iscritto mandato </a:t>
            </a:r>
          </a:p>
          <a:p>
            <a:pPr marL="0">
              <a:lnSpc>
                <a:spcPts val="1139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di decidere, a norma e nei limiti delle condizioni contrattuali, ad un collegio arbitrale di tre medici, nominati uno per parte </a:t>
            </a:r>
          </a:p>
          <a:p>
            <a:pPr marL="0">
              <a:lnSpc>
                <a:spcPts val="115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ed il terzo di comune accordo od in caso contrario dal Presidente del Consiglio dell’Ordine dei Medici avente sede nel </a:t>
            </a:r>
          </a:p>
          <a:p>
            <a:pPr marL="0">
              <a:lnSpc>
                <a:spcPts val="115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luogo dove deve riunirsi il Collegio. </a:t>
            </a:r>
          </a:p>
          <a:p>
            <a:pPr marL="0">
              <a:lnSpc>
                <a:spcPts val="1151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Il Collegio medico arbitrale risiede nel Comune, sede di Istituto di Medicina Legale, più vicino al luogo di residenza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dell’As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- </a:t>
            </a:r>
          </a:p>
          <a:p>
            <a:pPr marL="0">
              <a:lnSpc>
                <a:spcPts val="1155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sicurato. Ciascuna delle Parti sostiene le proprie spese e remunera il medico da essa designato, contribuendo per metà </a:t>
            </a:r>
          </a:p>
          <a:p>
            <a:pPr marL="0">
              <a:lnSpc>
                <a:spcPts val="1151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delle spese e competenze per il terzo medico. </a:t>
            </a:r>
          </a:p>
          <a:p>
            <a:pPr marL="0">
              <a:lnSpc>
                <a:spcPts val="1140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Le decisioni del Collegio medico arbitrale sono prese a maggioranza dei voti, con dispensa da ogni formalità di legge </a:t>
            </a:r>
          </a:p>
          <a:p>
            <a:pPr marL="0">
              <a:lnSpc>
                <a:spcPts val="1151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e sono vincolanti tra le Parti, le quali rinunciano fin d’ora a qualsiasi impugnativa salvo i casi di violenza, dolo, errore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o </a:t>
            </a:r>
          </a:p>
          <a:p>
            <a:pPr marL="0">
              <a:lnSpc>
                <a:spcPts val="115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violazione di patti contrattuali. </a:t>
            </a:r>
          </a:p>
          <a:p>
            <a:pPr marL="0">
              <a:lnSpc>
                <a:spcPts val="115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I risultati delle operazioni arbitrali devono essere raccolti in apposito verbale, da redigersi in doppio esemplare, uno per </a:t>
            </a:r>
          </a:p>
          <a:p>
            <a:pPr marL="0">
              <a:lnSpc>
                <a:spcPts val="115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ognuna delle Parti. Le decisioni del Collegio medico arbitrale sono vincolanti per le Parti anche se uno dei medici si </a:t>
            </a:r>
          </a:p>
          <a:p>
            <a:pPr marL="0">
              <a:lnSpc>
                <a:spcPts val="1151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rifiuti di firmare il relativo verbale; tale rifiuto deve essere attestato dagli arbitri nel verbale definitivo. </a:t>
            </a:r>
          </a:p>
        </p:txBody>
      </p:sp>
      <p:sp>
        <p:nvSpPr>
          <p:cNvPr id="918" name="Rectangle 918"/>
          <p:cNvSpPr/>
          <p:nvPr/>
        </p:nvSpPr>
        <p:spPr>
          <a:xfrm rot="0" flipH="0" flipV="0">
            <a:off x="359663" y="4063444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919" name="Rectangle 919"/>
          <p:cNvSpPr/>
          <p:nvPr/>
        </p:nvSpPr>
        <p:spPr>
          <a:xfrm rot="0" flipH="0" flipV="0">
            <a:off x="396240" y="4235832"/>
            <a:ext cx="6700886" cy="88635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1200" baseline="0" b="1" i="1" dirty="0" spc="0">
                <a:solidFill>
                  <a:srgbClr val="000000"/>
                </a:solidFill>
                <a:latin typeface="Calibri-BoldItalic" pitchFamily="0" charset="1"/>
              </a:rPr>
              <a:t>Art. 27 Rimborso da Enti </a:t>
            </a:r>
          </a:p>
          <a:p>
            <a:pPr marL="0">
              <a:lnSpc>
                <a:spcPts val="1169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Se l’Assicurato ha ricevuto o deve</a:t>
            </a:r>
            <a:r>
              <a:rPr lang="it-IT" sz="996" baseline="0" b="0" i="0" dirty="0" spc="110">
                <a:solidFill>
                  <a:srgbClr val="000000"/>
                </a:solidFill>
                <a:latin typeface="ArialMT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ricevere un rimborso da altro ente assistenziale o</a:t>
            </a:r>
            <a:r>
              <a:rPr lang="it-IT" sz="996" baseline="0" b="0" i="0" dirty="0" spc="104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da altra assicurazione per una </a:t>
            </a:r>
          </a:p>
          <a:p>
            <a:pPr marL="0">
              <a:lnSpc>
                <a:spcPts val="115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medesima prestazione presente in questo contratto, deve fornire a Generali Italia evidenza degli importi ricevuti o che </a:t>
            </a:r>
          </a:p>
          <a:p>
            <a:pPr marL="0">
              <a:lnSpc>
                <a:spcPts val="1151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gli verranno riconosciuti. Generali Italia effettua il pagamento della prestazione richiesta in base a quanto previsto dal </a:t>
            </a:r>
          </a:p>
          <a:p>
            <a:pPr marL="0">
              <a:lnSpc>
                <a:spcPts val="1154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con-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tratto sulle spese effettivamente sostenute dall’Assicurato e comunque fino ad un importo che sommato a quanto </a:t>
            </a:r>
          </a:p>
          <a:p>
            <a:pPr marL="0">
              <a:lnSpc>
                <a:spcPts val="1151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già indennizzato da altro ente o assicuratore non ecceda il costo sostenuto per quella prestazione. </a:t>
            </a:r>
          </a:p>
        </p:txBody>
      </p:sp>
      <p:sp>
        <p:nvSpPr>
          <p:cNvPr id="920" name="Rectangle 920"/>
          <p:cNvSpPr/>
          <p:nvPr/>
        </p:nvSpPr>
        <p:spPr>
          <a:xfrm rot="0" flipH="0" flipV="0">
            <a:off x="216408" y="5125926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921" name="Rectangle 921"/>
          <p:cNvSpPr/>
          <p:nvPr/>
        </p:nvSpPr>
        <p:spPr>
          <a:xfrm rot="0" flipH="0" flipV="0">
            <a:off x="216408" y="5298314"/>
            <a:ext cx="5943457" cy="30088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179831"/>
            <a:r>
              <a:rPr lang="it-IT" sz="1200" baseline="0" b="1" i="1" dirty="0" spc="0">
                <a:solidFill>
                  <a:srgbClr val="000000"/>
                </a:solidFill>
                <a:latin typeface="Calibri-BoldItalic" pitchFamily="0" charset="1"/>
              </a:rPr>
              <a:t>Art. 28 Determinazione </a:t>
            </a:r>
            <a:r>
              <a:rPr lang="it-IT" sz="1200" baseline="0" b="1" i="1" dirty="0" spc="0">
                <a:solidFill>
                  <a:srgbClr val="000000"/>
                </a:solidFill>
                <a:latin typeface="Calibri-BoldItalic" pitchFamily="0" charset="1"/>
              </a:rPr>
              <a:t>dell’annualità</a:t>
            </a:r>
            <a:r>
              <a:rPr lang="it-IT" sz="1200" baseline="0" b="1" i="1" dirty="0" spc="0">
                <a:solidFill>
                  <a:srgbClr val="000000"/>
                </a:solidFill>
                <a:latin typeface="Calibri-BoldItalic" pitchFamily="0" charset="1"/>
              </a:rPr>
              <a:t> assicurativa di competenza </a:t>
            </a:r>
          </a:p>
          <a:p>
            <a:pPr marL="0">
              <a:lnSpc>
                <a:spcPts val="1169"/>
              </a:lnSpc>
              <a:tabLst>
                <a:tab pos="175259" algn="l"/>
              </a:tabLst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	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L’individuazione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dell’annualità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assicurativa di competenza di un sinistro avviene con il seguente criterio: </a:t>
            </a:r>
          </a:p>
        </p:txBody>
      </p:sp>
      <p:sp>
        <p:nvSpPr>
          <p:cNvPr id="922" name="Rectangle 922"/>
          <p:cNvSpPr/>
          <p:nvPr/>
        </p:nvSpPr>
        <p:spPr>
          <a:xfrm rot="0" flipH="0" flipV="0">
            <a:off x="216408" y="5604462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923" name="Rectangle 923"/>
          <p:cNvSpPr/>
          <p:nvPr/>
        </p:nvSpPr>
        <p:spPr>
          <a:xfrm rot="0" flipH="0" flipV="0">
            <a:off x="675131" y="5750766"/>
            <a:ext cx="6421708" cy="871034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-14">
                <a:solidFill>
                  <a:srgbClr val="000000"/>
                </a:solidFill>
                <a:latin typeface="Arial" pitchFamily="0" charset="1"/>
              </a:rPr>
              <a:t>a</a:t>
            </a:r>
            <a:r>
              <a:rPr lang="it-IT" sz="996" baseline="0" b="0" i="0" dirty="0" spc="-8">
                <a:solidFill>
                  <a:srgbClr val="000000"/>
                </a:solidFill>
                <a:latin typeface="Arial" pitchFamily="0" charset="1"/>
              </a:rPr>
              <a:t>)</a:t>
            </a:r>
            <a:r>
              <a:rPr lang="it-IT" sz="996" baseline="0" b="0" i="0" dirty="0" spc="656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In caso di ricovero, Day hospital, intervento ambulatoriale e di corresponsione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dell’indennità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sostitutiva di cui </a:t>
            </a:r>
          </a:p>
          <a:p>
            <a:pPr marL="228904">
              <a:lnSpc>
                <a:spcPts val="1151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agli</a:t>
            </a:r>
            <a:r>
              <a:rPr lang="it-IT" sz="996" baseline="0" b="0" i="0" dirty="0" spc="190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artt.</a:t>
            </a:r>
            <a:r>
              <a:rPr lang="it-IT" sz="996" baseline="0" b="0" i="0" dirty="0" spc="167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4.1,</a:t>
            </a:r>
            <a:r>
              <a:rPr lang="it-IT" sz="996" baseline="0" b="0" i="0" dirty="0" spc="167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4.2,4.3,</a:t>
            </a:r>
            <a:r>
              <a:rPr lang="it-IT" sz="996" baseline="0" b="0" i="0" dirty="0" spc="189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4.4</a:t>
            </a:r>
            <a:r>
              <a:rPr lang="it-IT" sz="996" baseline="0" b="0" i="0" dirty="0" spc="179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e</a:t>
            </a:r>
            <a:r>
              <a:rPr lang="it-IT" sz="996" baseline="0" b="0" i="0" dirty="0" spc="179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4.5</a:t>
            </a:r>
            <a:r>
              <a:rPr lang="it-IT" sz="996" baseline="0" b="0" i="0" dirty="0" spc="191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delle</a:t>
            </a:r>
            <a:r>
              <a:rPr lang="it-IT" sz="996" baseline="0" b="0" i="0" dirty="0" spc="167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Condizioni</a:t>
            </a:r>
            <a:r>
              <a:rPr lang="it-IT" sz="996" baseline="0" b="0" i="0" dirty="0" spc="167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di</a:t>
            </a:r>
            <a:r>
              <a:rPr lang="it-IT" sz="996" baseline="0" b="0" i="0" dirty="0" spc="179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Assicurazione,</a:t>
            </a:r>
            <a:r>
              <a:rPr lang="it-IT" sz="996" baseline="0" b="0" i="0" dirty="0" spc="191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la</a:t>
            </a:r>
            <a:r>
              <a:rPr lang="it-IT" sz="996" baseline="0" b="0" i="0" dirty="0" spc="167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data</a:t>
            </a:r>
            <a:r>
              <a:rPr lang="it-IT" sz="996" baseline="0" b="0" i="0" dirty="0" spc="167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del</a:t>
            </a:r>
            <a:r>
              <a:rPr lang="it-IT" sz="996" baseline="0" b="0" i="0" dirty="0" spc="155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sinistro</a:t>
            </a:r>
            <a:r>
              <a:rPr lang="it-IT" sz="996" baseline="0" b="0" i="0" dirty="0" spc="167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coincide</a:t>
            </a:r>
            <a:r>
              <a:rPr lang="it-IT" sz="996" baseline="0" b="0" i="0" dirty="0" spc="167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con</a:t>
            </a:r>
            <a:r>
              <a:rPr lang="it-IT" sz="996" baseline="0" b="0" i="0" dirty="0" spc="155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quella </a:t>
            </a:r>
          </a:p>
          <a:p>
            <a:pPr marL="228904">
              <a:lnSpc>
                <a:spcPts val="115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dell’entrata</a:t>
            </a:r>
            <a:r>
              <a:rPr lang="it-IT" sz="996" baseline="0" b="0" i="0" dirty="0" spc="119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dell’Assicurato</a:t>
            </a:r>
            <a:r>
              <a:rPr lang="it-IT" sz="996" baseline="0" b="0" i="0" dirty="0" spc="164">
                <a:solidFill>
                  <a:srgbClr val="000000"/>
                </a:solidFill>
                <a:latin typeface="ArialMT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nella</a:t>
            </a:r>
            <a:r>
              <a:rPr lang="it-IT" sz="996" baseline="0" b="0" i="0" dirty="0" spc="152">
                <a:solidFill>
                  <a:srgbClr val="000000"/>
                </a:solidFill>
                <a:latin typeface="ArialMT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struttura</a:t>
            </a:r>
            <a:r>
              <a:rPr lang="it-IT" sz="996" baseline="0" b="0" i="0" dirty="0" spc="171">
                <a:solidFill>
                  <a:srgbClr val="000000"/>
                </a:solidFill>
                <a:latin typeface="ArialMT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ospedaliera.</a:t>
            </a:r>
            <a:r>
              <a:rPr lang="it-IT" sz="996" baseline="0" b="0" i="0" dirty="0" spc="154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A</a:t>
            </a:r>
            <a:r>
              <a:rPr lang="it-IT" sz="996" baseline="0" b="0" i="0" dirty="0" spc="154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questa</a:t>
            </a:r>
            <a:r>
              <a:rPr lang="it-IT" sz="996" baseline="0" b="0" i="0" dirty="0" spc="163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data</a:t>
            </a:r>
            <a:r>
              <a:rPr lang="it-IT" sz="996" baseline="0" b="0" i="0" dirty="0" spc="152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si</a:t>
            </a:r>
            <a:r>
              <a:rPr lang="it-IT" sz="996" baseline="0" b="0" i="0" dirty="0" spc="154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fa</a:t>
            </a:r>
            <a:r>
              <a:rPr lang="it-IT" sz="996" baseline="0" b="0" i="0" dirty="0" spc="151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riferimento</a:t>
            </a:r>
            <a:r>
              <a:rPr lang="it-IT" sz="996" baseline="0" b="0" i="0" dirty="0" spc="152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per</a:t>
            </a:r>
            <a:r>
              <a:rPr lang="it-IT" sz="996" baseline="0" b="0" i="0" dirty="0" spc="154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tutte</a:t>
            </a:r>
            <a:r>
              <a:rPr lang="it-IT" sz="996" baseline="0" b="0" i="0" dirty="0" spc="151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le</a:t>
            </a:r>
            <a:r>
              <a:rPr lang="it-IT" sz="996" baseline="0" b="0" i="0" dirty="0" spc="152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garanzie </a:t>
            </a:r>
          </a:p>
          <a:p>
            <a:pPr marL="228904">
              <a:lnSpc>
                <a:spcPts val="1139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collegate al ricovero; </a:t>
            </a:r>
          </a:p>
          <a:p>
            <a:pPr marL="0">
              <a:lnSpc>
                <a:spcPts val="1151"/>
              </a:lnSpc>
            </a:pPr>
            <a:r>
              <a:rPr lang="it-IT" sz="996" baseline="0" b="0" i="0" dirty="0" spc="-14">
                <a:solidFill>
                  <a:srgbClr val="000000"/>
                </a:solidFill>
                <a:latin typeface="Arial" pitchFamily="0" charset="1"/>
              </a:rPr>
              <a:t>b</a:t>
            </a:r>
            <a:r>
              <a:rPr lang="it-IT" sz="996" baseline="0" b="0" i="0" dirty="0" spc="-8">
                <a:solidFill>
                  <a:srgbClr val="000000"/>
                </a:solidFill>
                <a:latin typeface="Arial" pitchFamily="0" charset="1"/>
              </a:rPr>
              <a:t>)</a:t>
            </a:r>
            <a:r>
              <a:rPr lang="it-IT" sz="996" baseline="0" b="0" i="0" dirty="0" spc="656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per le garanzie di cui agli articoli dal 5 al 9 delle Condizioni di Assicurazione la data del sinistro corrisponde alla </a:t>
            </a:r>
          </a:p>
          <a:p>
            <a:pPr marL="228904">
              <a:lnSpc>
                <a:spcPts val="115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data della documentazione di spesa o di autorizzazione ad effettuare la prestazione. </a:t>
            </a:r>
          </a:p>
        </p:txBody>
      </p:sp>
      <p:sp>
        <p:nvSpPr>
          <p:cNvPr id="924" name="Rectangle 924"/>
          <p:cNvSpPr/>
          <p:nvPr/>
        </p:nvSpPr>
        <p:spPr>
          <a:xfrm rot="0" flipH="0" flipV="0">
            <a:off x="216408" y="6627447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925" name="Rectangle 925"/>
          <p:cNvSpPr/>
          <p:nvPr/>
        </p:nvSpPr>
        <p:spPr>
          <a:xfrm rot="0" flipH="0" flipV="0">
            <a:off x="446531" y="6799834"/>
            <a:ext cx="6353414" cy="30088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1200" baseline="0" b="1" i="1" dirty="0" spc="0">
                <a:solidFill>
                  <a:srgbClr val="000000"/>
                </a:solidFill>
                <a:latin typeface="Calibri-BoldItalic" pitchFamily="0" charset="1"/>
              </a:rPr>
              <a:t>Art. 29 Lingua in cui è redatto il contratto </a:t>
            </a:r>
          </a:p>
          <a:p>
            <a:pPr marL="0">
              <a:lnSpc>
                <a:spcPts val="1169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Il contratto, ogni documento ad esso allegato e le comunicazioni in corso di contratto sono redatti in lingua italiana.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926" name="Rectangle 926"/>
          <p:cNvSpPr/>
          <p:nvPr/>
        </p:nvSpPr>
        <p:spPr>
          <a:xfrm rot="0" flipH="0" flipV="0">
            <a:off x="216408" y="9969041"/>
            <a:ext cx="6881559" cy="155546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>
              <a:tabLst>
                <a:tab pos="143255" algn="l"/>
                <a:tab pos="2844419" algn="l"/>
                <a:tab pos="5645784" algn="l"/>
              </a:tabLst>
            </a:pPr>
            <a:r>
              <a:rPr lang="it-IT" sz="1509" baseline="-28915" b="0" i="0" dirty="0" spc="0">
                <a:solidFill>
                  <a:srgbClr val="000000"/>
                </a:solidFill>
                <a:latin typeface="Arial" pitchFamily="0" charset="1"/>
              </a:rPr>
              <a:t> 	</a:t>
            </a:r>
            <a:r>
              <a:rPr lang="it-IT" sz="803" baseline="0" b="1" i="0" dirty="0" spc="0">
                <a:solidFill>
                  <a:srgbClr val="000000"/>
                </a:solidFill>
                <a:latin typeface="Arial" pitchFamily="0" charset="1"/>
              </a:rPr>
              <a:t>GENERASalute RSM 	</a:t>
            </a:r>
            <a:r>
              <a:rPr lang="it-IT" sz="803" baseline="0" b="0" i="0" dirty="0" spc="0">
                <a:solidFill>
                  <a:srgbClr val="000000"/>
                </a:solidFill>
                <a:latin typeface="Arial" pitchFamily="0" charset="1"/>
              </a:rPr>
              <a:t>Edizione 05.2022 	Condizioni di assicurazione </a:t>
            </a:r>
          </a:p>
        </p:txBody>
      </p:sp>
      <p:sp>
        <p:nvSpPr>
          <p:cNvPr id="927" name="Rectangle 927"/>
          <p:cNvSpPr/>
          <p:nvPr/>
        </p:nvSpPr>
        <p:spPr>
          <a:xfrm rot="0" flipH="0" flipV="0">
            <a:off x="216408" y="1236043"/>
            <a:ext cx="738033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SOMMARIO </a:t>
            </a:r>
          </a:p>
        </p:txBody>
      </p:sp>
      <p:sp>
        <p:nvSpPr>
          <p:cNvPr id="928" name="Rectangle 928"/>
          <p:cNvSpPr/>
          <p:nvPr/>
        </p:nvSpPr>
        <p:spPr>
          <a:xfrm rot="0" flipH="0" flipV="0">
            <a:off x="216408" y="1382348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929" name="Rectangle 929"/>
          <p:cNvSpPr/>
          <p:nvPr/>
        </p:nvSpPr>
        <p:spPr>
          <a:xfrm rot="0" flipH="0" flipV="0">
            <a:off x="216408" y="1528651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930" name="Rectangle 930"/>
          <p:cNvSpPr/>
          <p:nvPr/>
        </p:nvSpPr>
        <p:spPr>
          <a:xfrm rot="0" flipH="0" flipV="0">
            <a:off x="359663" y="1674955"/>
            <a:ext cx="6789331" cy="525355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Art. 1 Definizioni </a:t>
            </a:r>
          </a:p>
          <a:p>
            <a:pPr marL="0">
              <a:lnSpc>
                <a:spcPts val="1140"/>
              </a:lnSpc>
            </a:pP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Art. 2 Assicurati </a:t>
            </a:r>
          </a:p>
          <a:p>
            <a:pPr marL="0">
              <a:lnSpc>
                <a:spcPts val="1151"/>
              </a:lnSpc>
            </a:pP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Art. 3 Rischi assicurati </a:t>
            </a:r>
          </a:p>
          <a:p>
            <a:pPr marL="0">
              <a:lnSpc>
                <a:spcPts val="1152"/>
              </a:lnSpc>
            </a:pP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Art. 4 Rimborso spese ospedaliere e chirurgiche </a:t>
            </a:r>
          </a:p>
          <a:p>
            <a:pPr marL="0">
              <a:lnSpc>
                <a:spcPts val="1152"/>
              </a:lnSpc>
            </a:pP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Art. 4.1 Intervento chirurgico effettuato in regime di ricovero in istituto di cura, Day Hospital o in ambulatorio  </a:t>
            </a:r>
          </a:p>
          <a:p>
            <a:pPr marL="0">
              <a:lnSpc>
                <a:spcPts val="1151"/>
              </a:lnSpc>
            </a:pP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Art. 4.2 Ricovero in istituto di cura od in regime di Day Hospital, o prestazioni in regime ambulatoriale che non </a:t>
            </a:r>
          </a:p>
          <a:p>
            <a:pPr marL="0">
              <a:lnSpc>
                <a:spcPts val="1152"/>
              </a:lnSpc>
            </a:pP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comporti intervento chirurgico: </a:t>
            </a:r>
          </a:p>
          <a:p>
            <a:pPr marL="0">
              <a:lnSpc>
                <a:spcPts val="1140"/>
              </a:lnSpc>
            </a:pP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Art. 4.3 Precisazioni relative agli scoperti e franchigie per le spese di ricovero  </a:t>
            </a:r>
          </a:p>
          <a:p>
            <a:pPr marL="0">
              <a:lnSpc>
                <a:spcPts val="1154"/>
              </a:lnSpc>
            </a:pP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Art. 4.4 Spese pre/post ricovero </a:t>
            </a:r>
          </a:p>
          <a:p>
            <a:pPr marL="0">
              <a:lnSpc>
                <a:spcPts val="1151"/>
              </a:lnSpc>
            </a:pP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Art. 4.5 Indennità sostitutiva </a:t>
            </a:r>
          </a:p>
          <a:p>
            <a:pPr marL="0">
              <a:lnSpc>
                <a:spcPts val="1152"/>
              </a:lnSpc>
            </a:pP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Art. 4.6 Anticipo </a:t>
            </a:r>
          </a:p>
          <a:p>
            <a:pPr marL="0">
              <a:lnSpc>
                <a:spcPts val="1152"/>
              </a:lnSpc>
            </a:pP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Art. 5 Cure oncologiche </a:t>
            </a:r>
          </a:p>
          <a:p>
            <a:pPr marL="0">
              <a:lnSpc>
                <a:spcPts val="1151"/>
              </a:lnSpc>
            </a:pP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Art. 6 Prestazioni diagnostiche ad alta specializzazione  </a:t>
            </a:r>
          </a:p>
          <a:p>
            <a:pPr marL="0">
              <a:lnSpc>
                <a:spcPts val="1140"/>
              </a:lnSpc>
            </a:pP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Art. 7 Trattamenti fisioterapici </a:t>
            </a:r>
          </a:p>
          <a:p>
            <a:pPr marL="0">
              <a:lnSpc>
                <a:spcPts val="1152"/>
              </a:lnSpc>
            </a:pP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Art. 8 Cure dentarie </a:t>
            </a:r>
          </a:p>
          <a:p>
            <a:pPr marL="0">
              <a:lnSpc>
                <a:spcPts val="1151"/>
              </a:lnSpc>
            </a:pP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Art. 9 Interventi Chirurgici Odontoiatrici Extraricovero </a:t>
            </a:r>
          </a:p>
          <a:p>
            <a:pPr marL="0">
              <a:lnSpc>
                <a:spcPts val="1152"/>
              </a:lnSpc>
            </a:pP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Art. 10 TABELLA FRANCHIGIE, SCOPERTI, MASSIMALI E LIMITI DI INDENNIZZO </a:t>
            </a:r>
          </a:p>
          <a:p>
            <a:pPr marL="0">
              <a:lnSpc>
                <a:spcPts val="1152"/>
              </a:lnSpc>
            </a:pP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Art. 11 Persone non assicurabili </a:t>
            </a:r>
          </a:p>
          <a:p>
            <a:pPr marL="0">
              <a:lnSpc>
                <a:spcPts val="1139"/>
              </a:lnSpc>
            </a:pP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Art. 12 Permanenza in assicurazione 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–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 Limiti di età  </a:t>
            </a:r>
          </a:p>
          <a:p>
            <a:pPr marL="0">
              <a:lnSpc>
                <a:spcPts val="1151"/>
              </a:lnSpc>
            </a:pP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Art. 13 Esclusioni </a:t>
            </a:r>
          </a:p>
          <a:p>
            <a:pPr marL="0">
              <a:lnSpc>
                <a:spcPts val="1151"/>
              </a:lnSpc>
            </a:pP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Art. 14 Validità territoriale </a:t>
            </a:r>
          </a:p>
          <a:p>
            <a:pPr marL="0">
              <a:lnSpc>
                <a:spcPts val="1154"/>
              </a:lnSpc>
            </a:pP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Art. 15 Oneri </a:t>
            </a:r>
          </a:p>
          <a:p>
            <a:pPr marL="0">
              <a:lnSpc>
                <a:spcPts val="1152"/>
              </a:lnSpc>
            </a:pP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Art. 16 Dichiarazioni relative alle circostanze del rischio e forma delle comunicazioni  </a:t>
            </a:r>
          </a:p>
          <a:p>
            <a:pPr marL="0">
              <a:lnSpc>
                <a:spcPts val="1151"/>
              </a:lnSpc>
            </a:pP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Art. 17 Obblighi del Contraente </a:t>
            </a:r>
          </a:p>
          <a:p>
            <a:pPr marL="0">
              <a:lnSpc>
                <a:spcPts val="1139"/>
              </a:lnSpc>
            </a:pP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Art.</a:t>
            </a:r>
            <a:r>
              <a:rPr lang="it-IT" sz="996" baseline="0" b="1" i="0" dirty="0" spc="119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18</a:t>
            </a:r>
            <a:r>
              <a:rPr lang="it-IT" sz="996" baseline="0" b="1" i="0" dirty="0" spc="131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Riservatezza</a:t>
            </a:r>
            <a:r>
              <a:rPr lang="it-IT" sz="996" baseline="0" b="1" i="0" dirty="0" spc="119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dei</a:t>
            </a:r>
            <a:r>
              <a:rPr lang="it-IT" sz="996" baseline="0" b="1" i="0" dirty="0" spc="131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dati</a:t>
            </a:r>
            <a:r>
              <a:rPr lang="it-IT" sz="996" baseline="0" b="1" i="0" dirty="0" spc="119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personali </a:t>
            </a:r>
          </a:p>
          <a:p>
            <a:pPr marL="0">
              <a:lnSpc>
                <a:spcPts val="1151"/>
              </a:lnSpc>
            </a:pP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Art. 19 Regolazione del Premio </a:t>
            </a:r>
          </a:p>
          <a:p>
            <a:pPr marL="0">
              <a:lnSpc>
                <a:spcPts val="1152"/>
              </a:lnSpc>
            </a:pP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Art. 20 Pagamento del Premio </a:t>
            </a:r>
          </a:p>
          <a:p>
            <a:pPr marL="0">
              <a:lnSpc>
                <a:spcPts val="1151"/>
              </a:lnSpc>
            </a:pP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Art. 21 Entrata in vigore 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dell’assicurazione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  <a:p>
            <a:pPr marL="0">
              <a:lnSpc>
                <a:spcPts val="1152"/>
              </a:lnSpc>
            </a:pP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Art. 22 Proroga dell’assicurazione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  <a:p>
            <a:pPr marL="0">
              <a:lnSpc>
                <a:spcPts val="1151"/>
              </a:lnSpc>
            </a:pP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Art. 23 Reti convenzionate </a:t>
            </a:r>
          </a:p>
          <a:p>
            <a:pPr marL="0">
              <a:lnSpc>
                <a:spcPts val="1139"/>
              </a:lnSpc>
            </a:pP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Art. 24 Obblighi 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dell’Assicurato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 in caso di sinistro (richiesta di rimborso)  </a:t>
            </a:r>
          </a:p>
          <a:p>
            <a:pPr marL="0">
              <a:lnSpc>
                <a:spcPts val="1151"/>
              </a:lnSpc>
            </a:pP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Art. 25 Criteri di liquidazione </a:t>
            </a:r>
          </a:p>
          <a:p>
            <a:pPr marL="0">
              <a:lnSpc>
                <a:spcPts val="1152"/>
              </a:lnSpc>
            </a:pP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Art. 26 Controversie </a:t>
            </a:r>
          </a:p>
          <a:p>
            <a:pPr marL="0">
              <a:lnSpc>
                <a:spcPts val="1151"/>
              </a:lnSpc>
            </a:pP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Art. 27 Rimborso da Enti </a:t>
            </a:r>
          </a:p>
          <a:p>
            <a:pPr marL="0">
              <a:lnSpc>
                <a:spcPts val="1155"/>
              </a:lnSpc>
            </a:pP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Art. 28 Determinazione 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dell’annualità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 assicurativa di competenza  </a:t>
            </a:r>
          </a:p>
          <a:p>
            <a:pPr marL="0">
              <a:lnSpc>
                <a:spcPts val="1151"/>
              </a:lnSpc>
            </a:pP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Art. 29 Lingua in cui è redatto il contratto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931" name="Rectangle 931"/>
          <p:cNvSpPr/>
          <p:nvPr/>
        </p:nvSpPr>
        <p:spPr>
          <a:xfrm rot="0" flipH="0" flipV="0">
            <a:off x="359663" y="9969041"/>
            <a:ext cx="6738303" cy="11384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>
              <a:tabLst>
                <a:tab pos="2701163" algn="l"/>
                <a:tab pos="5502528" algn="l"/>
              </a:tabLst>
            </a:pPr>
            <a:r>
              <a:rPr lang="it-IT" sz="803" baseline="0" b="1" i="0" dirty="0" spc="0">
                <a:solidFill>
                  <a:srgbClr val="000000"/>
                </a:solidFill>
                <a:latin typeface="Arial" pitchFamily="0" charset="1"/>
              </a:rPr>
              <a:t>GENERASalute RSM 	</a:t>
            </a:r>
            <a:r>
              <a:rPr lang="it-IT" sz="803" baseline="0" b="0" i="0" dirty="0" spc="0">
                <a:solidFill>
                  <a:srgbClr val="000000"/>
                </a:solidFill>
                <a:latin typeface="Arial" pitchFamily="0" charset="1"/>
              </a:rPr>
              <a:t>Edizione 05.2022 	Condizioni di assicurazione </a:t>
            </a:r>
          </a:p>
        </p:txBody>
      </p:sp>
      <p:sp>
        <p:nvSpPr>
          <p:cNvPr id="932" name="Rectangle 932"/>
          <p:cNvSpPr/>
          <p:nvPr/>
        </p:nvSpPr>
        <p:spPr>
          <a:xfrm rot="0" flipH="0" flipV="0">
            <a:off x="216408" y="10585833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933" name="Rectangle 933"/>
          <p:cNvSpPr/>
          <p:nvPr/>
        </p:nvSpPr>
        <p:spPr>
          <a:xfrm rot="0" flipH="0" flipV="0">
            <a:off x="359663" y="156576"/>
            <a:ext cx="3270492" cy="15633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1103" baseline="0" b="1" i="0" dirty="0" spc="0">
                <a:solidFill>
                  <a:srgbClr val="000000"/>
                </a:solidFill>
                <a:latin typeface="Arial" pitchFamily="0" charset="1"/>
              </a:rPr>
              <a:t>ALLEGATO 1 ALLE CONDIZIONI DI ASSICURAZIONE </a:t>
            </a:r>
          </a:p>
        </p:txBody>
      </p:sp>
      <p:sp>
        <p:nvSpPr>
          <p:cNvPr id="934" name="Rectangle 934"/>
          <p:cNvSpPr/>
          <p:nvPr/>
        </p:nvSpPr>
        <p:spPr>
          <a:xfrm rot="0" flipH="0" flipV="0">
            <a:off x="216408" y="316597"/>
            <a:ext cx="38977" cy="15633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1103" baseline="0" b="1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935" name="Rectangle 935"/>
          <p:cNvSpPr/>
          <p:nvPr/>
        </p:nvSpPr>
        <p:spPr>
          <a:xfrm rot="0" flipH="0" flipV="0">
            <a:off x="359663" y="478361"/>
            <a:ext cx="7023803" cy="890335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>
              <a:tabLst>
                <a:tab pos="226926" algn="l"/>
                <a:tab pos="855971" algn="l"/>
                <a:tab pos="1126790" algn="l"/>
                <a:tab pos="1961258" algn="l"/>
              </a:tabLst>
            </a:pPr>
            <a:r>
              <a:rPr lang="it-IT" sz="996" baseline="0" b="1" i="0" dirty="0" spc="0">
                <a:solidFill>
                  <a:srgbClr val="9F1B1E"/>
                </a:solidFill>
                <a:latin typeface="Arial" pitchFamily="0" charset="1"/>
              </a:rPr>
              <a:t>Il 	servizio 	di 	pagamento 	diretto </a:t>
            </a:r>
          </a:p>
          <a:p>
            <a:pPr marL="0">
              <a:lnSpc>
                <a:spcPts val="1140"/>
              </a:lnSpc>
            </a:pPr>
            <a:r>
              <a:rPr lang="it-IT" sz="996" baseline="0" b="1" i="0" dirty="0" spc="0" u="sng">
                <a:solidFill>
                  <a:srgbClr val="000000"/>
                </a:solidFill>
                <a:latin typeface="Arial" pitchFamily="0" charset="1"/>
              </a:rPr>
              <a:t>Attivazione della Centrale Operativa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  <a:p>
            <a:pPr marL="0">
              <a:lnSpc>
                <a:spcPts val="115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L’Assicurato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ha la</a:t>
            </a:r>
            <a:r>
              <a:rPr lang="it-IT" sz="996" baseline="0" b="0" i="0" dirty="0" spc="107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possibilità di utilizzare le</a:t>
            </a:r>
            <a:r>
              <a:rPr lang="it-IT" sz="996" baseline="0" b="0" i="0" dirty="0" spc="107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strutture</a:t>
            </a:r>
            <a:r>
              <a:rPr lang="it-IT" sz="996" baseline="0" b="0" i="0" dirty="0" spc="107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della</a:t>
            </a:r>
            <a:r>
              <a:rPr lang="it-IT" sz="996" baseline="0" b="0" i="0" dirty="0" spc="107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rete convenzionata attivando</a:t>
            </a:r>
            <a:r>
              <a:rPr lang="it-IT" sz="996" baseline="0" b="0" i="0" dirty="0" spc="107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la</a:t>
            </a:r>
            <a:r>
              <a:rPr lang="it-IT" sz="996" baseline="0" b="0" i="0" dirty="0" spc="107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Centrale Operativa</a:t>
            </a:r>
            <a:r>
              <a:rPr lang="it-IT" sz="996" baseline="0" b="0" i="0" dirty="0" spc="107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con uno dei </a:t>
            </a:r>
          </a:p>
          <a:p>
            <a:pPr marL="0">
              <a:lnSpc>
                <a:spcPts val="1153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seguenti canali a sua scelta: </a:t>
            </a:r>
          </a:p>
          <a:p>
            <a:pPr marL="266700">
              <a:lnSpc>
                <a:spcPts val="1229"/>
              </a:lnSpc>
              <a:tabLst>
                <a:tab pos="494080" algn="l"/>
              </a:tabLst>
            </a:pPr>
            <a:r>
              <a:rPr lang="it-IT" sz="996" baseline="0" b="0" i="0" dirty="0" spc="-9">
                <a:solidFill>
                  <a:srgbClr val="000000"/>
                </a:solidFill>
                <a:latin typeface="Symbol" pitchFamily="0" charset="1"/>
              </a:rPr>
              <a:t>·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	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Telefonico: chiamate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dall’Italia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o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dall’estero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al 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+39.05579560309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, 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dal lunedì al venerdì, dalle 9:00 alle 17:30 </a:t>
            </a:r>
          </a:p>
          <a:p>
            <a:pPr marL="266700">
              <a:lnSpc>
                <a:spcPts val="1223"/>
              </a:lnSpc>
              <a:tabLst>
                <a:tab pos="494080" algn="l"/>
              </a:tabLst>
            </a:pPr>
            <a:r>
              <a:rPr lang="it-IT" sz="996" baseline="0" b="0" i="0" dirty="0" spc="-9">
                <a:solidFill>
                  <a:srgbClr val="000000"/>
                </a:solidFill>
                <a:latin typeface="Symbol" pitchFamily="0" charset="1"/>
              </a:rPr>
              <a:t>·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	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Tramite portale Web raggiungibile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all’indirizzo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  <a:hlinkClick r:id="rId100"/>
              </a:rPr>
              <a:t> 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  <a:hlinkClick r:id="rId100"/>
              </a:rPr>
              <a:t>https://secure.firenzerifredi.it/ </a:t>
            </a:r>
          </a:p>
        </p:txBody>
      </p:sp>
      <p:sp>
        <p:nvSpPr>
          <p:cNvPr id="936" name="Rectangle 936"/>
          <p:cNvSpPr/>
          <p:nvPr/>
        </p:nvSpPr>
        <p:spPr>
          <a:xfrm rot="0" flipH="0" flipV="0">
            <a:off x="216408" y="1371679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937" name="Rectangle 937"/>
          <p:cNvSpPr/>
          <p:nvPr/>
        </p:nvSpPr>
        <p:spPr>
          <a:xfrm rot="0" flipH="0" flipV="0">
            <a:off x="359663" y="1517983"/>
            <a:ext cx="7023317" cy="28581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L’autorizzazione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da parte della Centrale Operativa ad effettuare la prestazione in rete comporta il servizio di pagamento diretto </a:t>
            </a:r>
          </a:p>
          <a:p>
            <a:pPr marL="0">
              <a:lnSpc>
                <a:spcPts val="1139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da parte della Compagnia alla struttura sanitaria che ha erogato la prestazione. </a:t>
            </a:r>
          </a:p>
        </p:txBody>
      </p:sp>
      <p:sp>
        <p:nvSpPr>
          <p:cNvPr id="938" name="Rectangle 938"/>
          <p:cNvSpPr/>
          <p:nvPr/>
        </p:nvSpPr>
        <p:spPr>
          <a:xfrm rot="0" flipH="0" flipV="0">
            <a:off x="216408" y="1809067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939" name="Rectangle 939"/>
          <p:cNvSpPr/>
          <p:nvPr/>
        </p:nvSpPr>
        <p:spPr>
          <a:xfrm rot="0" flipH="0" flipV="0">
            <a:off x="359663" y="1955372"/>
            <a:ext cx="6883765" cy="116402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1" i="0" dirty="0" spc="0" u="sng">
                <a:solidFill>
                  <a:srgbClr val="000000"/>
                </a:solidFill>
                <a:latin typeface="Arial" pitchFamily="0" charset="1"/>
              </a:rPr>
              <a:t>La Rete delle </a:t>
            </a:r>
            <a:r>
              <a:rPr lang="it-IT" sz="996" baseline="0" b="1" i="0" dirty="0" spc="0" u="sng">
                <a:solidFill>
                  <a:srgbClr val="000000"/>
                </a:solidFill>
                <a:latin typeface="Arial" pitchFamily="0" charset="1"/>
              </a:rPr>
              <a:t>“Strutture</a:t>
            </a:r>
            <a:r>
              <a:rPr lang="it-IT" sz="996" baseline="0" b="1" i="0" dirty="0" spc="0" u="sng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1" i="0" dirty="0" spc="0" u="sng">
                <a:solidFill>
                  <a:srgbClr val="000000"/>
                </a:solidFill>
                <a:latin typeface="Arial" pitchFamily="0" charset="1"/>
              </a:rPr>
              <a:t>Convenzionate”</a:t>
            </a:r>
            <a:r>
              <a:rPr lang="it-IT" sz="996" baseline="0" b="1" i="0" dirty="0" spc="0" u="sng">
                <a:solidFill>
                  <a:srgbClr val="000000"/>
                </a:solidFill>
                <a:latin typeface="Arial" pitchFamily="0" charset="1"/>
              </a:rPr>
              <a:t> con Generali Welion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  <a:p>
            <a:pPr marL="0">
              <a:lnSpc>
                <a:spcPts val="1151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Per “Rete” si intende l’insieme delle strutture sanitarie (Ospedali, Case di Cura, Studi Odontoiatrici e Centri Diagnostici)</a:t>
            </a:r>
            <a:r>
              <a:rPr lang="it-IT" sz="996" baseline="0" b="0" i="0" dirty="0" spc="103">
                <a:solidFill>
                  <a:srgbClr val="000000"/>
                </a:solidFill>
                <a:latin typeface="ArialMT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e </a:t>
            </a:r>
          </a:p>
          <a:p>
            <a:pPr marL="0">
              <a:lnSpc>
                <a:spcPts val="115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dei professionisti </a:t>
            </a:r>
            <a:r>
              <a:rPr lang="it-IT" sz="996" baseline="0" b="0" i="0" dirty="0" spc="0" u="sng">
                <a:solidFill>
                  <a:srgbClr val="000000"/>
                </a:solidFill>
                <a:latin typeface="Arial" pitchFamily="0" charset="1"/>
              </a:rPr>
              <a:t>convenzionati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con Generali Italia, alle quali l'Assicurato potrà essere indirizzato dalla Centrale Operativa </a:t>
            </a:r>
          </a:p>
          <a:p>
            <a:pPr marL="0">
              <a:lnSpc>
                <a:spcPts val="115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per usufruire delle prestazioni sanitarie garantite in polizza. </a:t>
            </a:r>
          </a:p>
          <a:p>
            <a:pPr marL="0">
              <a:lnSpc>
                <a:spcPts val="1139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L'elenco delle strutture sanitarie convenzionate è disponibile nel sito di Generali Italia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  <a:hlinkClick r:id="rId101"/>
              </a:rPr>
              <a:t> </a:t>
            </a:r>
            <a:r>
              <a:rPr lang="it-IT" sz="996" baseline="0" b="0" i="0" dirty="0" spc="0" u="sng">
                <a:solidFill>
                  <a:srgbClr val="0000FF"/>
                </a:solidFill>
                <a:latin typeface="Arial" pitchFamily="0" charset="1"/>
                <a:hlinkClick r:id="rId101"/>
              </a:rPr>
              <a:t>www.generali.it</a:t>
            </a:r>
            <a:r>
              <a:rPr lang="it-IT" sz="996" baseline="0" b="0" i="0" dirty="0" spc="0">
                <a:solidFill>
                  <a:srgbClr val="0000FF"/>
                </a:solidFill>
                <a:latin typeface="Arial" pitchFamily="0" charset="1"/>
                <a:hlinkClick r:id="rId10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alla voce “Strutture </a:t>
            </a:r>
          </a:p>
          <a:p>
            <a:pPr marL="0">
              <a:lnSpc>
                <a:spcPts val="115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Convenzionate” ed è periodicamente aggiornato. La Rete, infatti, è suscettibile di modifiche anche in corso dell’annualità </a:t>
            </a:r>
          </a:p>
          <a:p>
            <a:pPr marL="0">
              <a:lnSpc>
                <a:spcPts val="1154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assicurativa. L’ufficio Convenzioni provvede all’aggiornamento costante della propria Banca Dati, potendo fornir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e all'Assi- </a:t>
            </a:r>
          </a:p>
          <a:p>
            <a:pPr marL="0">
              <a:lnSpc>
                <a:spcPts val="115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curato un’informazione sempre aggiornata tramite la Centrale Operativa.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940" name="Rectangle 940"/>
          <p:cNvSpPr/>
          <p:nvPr/>
        </p:nvSpPr>
        <p:spPr>
          <a:xfrm rot="0" flipH="0" flipV="0">
            <a:off x="216408" y="3124661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941" name="Rectangle 941"/>
          <p:cNvSpPr/>
          <p:nvPr/>
        </p:nvSpPr>
        <p:spPr>
          <a:xfrm rot="0" flipH="0" flipV="0">
            <a:off x="216408" y="3270964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942" name="Rectangle 942"/>
          <p:cNvSpPr/>
          <p:nvPr/>
        </p:nvSpPr>
        <p:spPr>
          <a:xfrm rot="0" flipH="0" flipV="0">
            <a:off x="359663" y="3415744"/>
            <a:ext cx="6880719" cy="10173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1" i="0" dirty="0" spc="0" u="sng">
                <a:solidFill>
                  <a:srgbClr val="000000"/>
                </a:solidFill>
                <a:latin typeface="Arial" pitchFamily="0" charset="1"/>
              </a:rPr>
              <a:t>ACCESSO AI SERVIZI OSPEDALIERI (ricoveri, day hospital, interventi chirurgici ambulatoriali)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  <a:p>
            <a:pPr marL="0">
              <a:lnSpc>
                <a:spcPts val="1151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L'Assicurato, qualora necessiti di effettuare una prestazione sanitaria presso una struttura convenzionata deve contattare </a:t>
            </a:r>
          </a:p>
          <a:p>
            <a:pPr marL="0">
              <a:lnSpc>
                <a:spcPts val="115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la Centrale Operativa, almeno 5 giorni feriali prima della data della prestazione, al fine di verificare la convenzione della </a:t>
            </a:r>
          </a:p>
          <a:p>
            <a:pPr marL="0">
              <a:lnSpc>
                <a:spcPts val="115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struttura prescelta e dell’equipe medic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a e di valutare la congruità assicurativa della prestazione. </a:t>
            </a:r>
          </a:p>
          <a:p>
            <a:pPr marL="0">
              <a:lnSpc>
                <a:spcPts val="115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La Centrale Operativa è raggiungibile dal 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lunedì al venerdì dalle 9 alle 18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, al numero sopra indicato. </a:t>
            </a:r>
          </a:p>
          <a:p>
            <a:pPr marL="0">
              <a:lnSpc>
                <a:spcPts val="1151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In caso di ricoveri urgenti in orario diverso da quello indicato, si richiede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all’Assicurato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di contattare la Centrale Operativa il </a:t>
            </a:r>
          </a:p>
          <a:p>
            <a:pPr marL="0">
              <a:lnSpc>
                <a:spcPts val="1140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primo giorno feriale disponibile. </a:t>
            </a:r>
          </a:p>
        </p:txBody>
      </p:sp>
      <p:sp>
        <p:nvSpPr>
          <p:cNvPr id="943" name="Rectangle 943"/>
          <p:cNvSpPr/>
          <p:nvPr/>
        </p:nvSpPr>
        <p:spPr>
          <a:xfrm rot="0" flipH="0" flipV="0">
            <a:off x="216408" y="4438348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944" name="Rectangle 944"/>
          <p:cNvSpPr/>
          <p:nvPr/>
        </p:nvSpPr>
        <p:spPr>
          <a:xfrm rot="0" flipH="0" flipV="0">
            <a:off x="216408" y="4584652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945" name="Rectangle 945"/>
          <p:cNvSpPr/>
          <p:nvPr/>
        </p:nvSpPr>
        <p:spPr>
          <a:xfrm rot="0" flipH="0" flipV="0">
            <a:off x="359663" y="4731210"/>
            <a:ext cx="6882239" cy="116364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Al</a:t>
            </a:r>
            <a:r>
              <a:rPr lang="it-IT" sz="996" baseline="0" b="1" i="0" dirty="0" spc="130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fine</a:t>
            </a:r>
            <a:r>
              <a:rPr lang="it-IT" sz="996" baseline="0" b="1" i="0" dirty="0" spc="130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di</a:t>
            </a:r>
            <a:r>
              <a:rPr lang="it-IT" sz="996" baseline="0" b="1" i="0" dirty="0" spc="129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garantire</a:t>
            </a:r>
            <a:r>
              <a:rPr lang="it-IT" sz="996" baseline="0" b="1" i="0" dirty="0" spc="128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la</a:t>
            </a:r>
            <a:r>
              <a:rPr lang="it-IT" sz="996" baseline="0" b="1" i="0" dirty="0" spc="128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copertura</a:t>
            </a:r>
            <a:r>
              <a:rPr lang="it-IT" sz="996" baseline="0" b="1" i="0" dirty="0" spc="128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diretta</a:t>
            </a:r>
            <a:r>
              <a:rPr lang="it-IT" sz="996" baseline="0" b="1" i="0" dirty="0" spc="128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delle</a:t>
            </a:r>
            <a:r>
              <a:rPr lang="it-IT" sz="996" baseline="0" b="1" i="0" dirty="0" spc="142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spese</a:t>
            </a:r>
            <a:r>
              <a:rPr lang="it-IT" sz="996" baseline="0" b="1" i="0" dirty="0" spc="130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ed</a:t>
            </a:r>
            <a:r>
              <a:rPr lang="it-IT" sz="996" baseline="0" b="1" i="0" dirty="0" spc="143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espletare</a:t>
            </a:r>
            <a:r>
              <a:rPr lang="it-IT" sz="996" baseline="0" b="1" i="0" dirty="0" spc="130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le</a:t>
            </a:r>
            <a:r>
              <a:rPr lang="it-IT" sz="996" baseline="0" b="1" i="0" dirty="0" spc="139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relative</a:t>
            </a:r>
            <a:r>
              <a:rPr lang="it-IT" sz="996" baseline="0" b="1" i="0" dirty="0" spc="128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pratiche</a:t>
            </a:r>
            <a:r>
              <a:rPr lang="it-IT" sz="996" baseline="0" b="1" i="0" dirty="0" spc="130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in</a:t>
            </a:r>
            <a:r>
              <a:rPr lang="it-IT" sz="996" baseline="0" b="1" i="0" dirty="0" spc="132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favore</a:t>
            </a:r>
            <a:r>
              <a:rPr lang="it-IT" sz="996" baseline="0" b="1" i="0" dirty="0" spc="130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dell'Assicurato</a:t>
            </a:r>
            <a:r>
              <a:rPr lang="it-IT" sz="996" baseline="0" b="1" i="0" dirty="0" spc="190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è </a:t>
            </a:r>
          </a:p>
          <a:p>
            <a:pPr marL="0">
              <a:lnSpc>
                <a:spcPts val="1151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necessario comunicare: </a:t>
            </a:r>
          </a:p>
          <a:p>
            <a:pPr marL="228600">
              <a:lnSpc>
                <a:spcPts val="1140"/>
              </a:lnSpc>
            </a:pPr>
            <a:r>
              <a:rPr lang="it-IT" sz="996" baseline="0" b="0" i="0" dirty="0" spc="-11">
                <a:solidFill>
                  <a:srgbClr val="000000"/>
                </a:solidFill>
                <a:latin typeface="Wingdings" pitchFamily="0" charset="1"/>
              </a:rPr>
              <a:t></a:t>
            </a:r>
            <a:r>
              <a:rPr lang="it-IT" sz="996" baseline="0" b="0" i="0" dirty="0" spc="654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nome e cognome della persona che effettua la prestazione </a:t>
            </a:r>
          </a:p>
          <a:p>
            <a:pPr marL="228600">
              <a:lnSpc>
                <a:spcPts val="1151"/>
              </a:lnSpc>
            </a:pPr>
            <a:r>
              <a:rPr lang="it-IT" sz="996" baseline="0" b="0" i="0" dirty="0" spc="-11">
                <a:solidFill>
                  <a:srgbClr val="000000"/>
                </a:solidFill>
                <a:latin typeface="Wingdings" pitchFamily="0" charset="1"/>
              </a:rPr>
              <a:t></a:t>
            </a:r>
            <a:r>
              <a:rPr lang="it-IT" sz="996" baseline="0" b="0" i="0" dirty="0" spc="654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contraente della polizza </a:t>
            </a:r>
          </a:p>
          <a:p>
            <a:pPr marL="228600">
              <a:lnSpc>
                <a:spcPts val="1151"/>
              </a:lnSpc>
            </a:pPr>
            <a:r>
              <a:rPr lang="it-IT" sz="996" baseline="0" b="0" i="0" dirty="0" spc="-11">
                <a:solidFill>
                  <a:srgbClr val="000000"/>
                </a:solidFill>
                <a:latin typeface="Wingdings" pitchFamily="0" charset="1"/>
              </a:rPr>
              <a:t></a:t>
            </a:r>
            <a:r>
              <a:rPr lang="it-IT" sz="996" baseline="0" b="0" i="0" dirty="0" spc="654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recapito telefonico mobile - per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l’invio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di SMS di conferma - della persona che effettua la prestazione </a:t>
            </a:r>
          </a:p>
          <a:p>
            <a:pPr marL="228600">
              <a:lnSpc>
                <a:spcPts val="1152"/>
              </a:lnSpc>
            </a:pPr>
            <a:r>
              <a:rPr lang="it-IT" sz="996" baseline="0" b="0" i="0" dirty="0" spc="-11">
                <a:solidFill>
                  <a:srgbClr val="000000"/>
                </a:solidFill>
                <a:latin typeface="Wingdings" pitchFamily="0" charset="1"/>
              </a:rPr>
              <a:t></a:t>
            </a:r>
            <a:r>
              <a:rPr lang="it-IT" sz="996" baseline="0" b="0" i="0" dirty="0" spc="654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struttura sanitaria presso cui sarà effettuata la prestazione </a:t>
            </a:r>
          </a:p>
          <a:p>
            <a:pPr marL="228600">
              <a:lnSpc>
                <a:spcPts val="1151"/>
              </a:lnSpc>
            </a:pPr>
            <a:r>
              <a:rPr lang="it-IT" sz="996" baseline="0" b="0" i="0" dirty="0" spc="-11">
                <a:solidFill>
                  <a:srgbClr val="000000"/>
                </a:solidFill>
                <a:latin typeface="Wingdings" pitchFamily="0" charset="1"/>
              </a:rPr>
              <a:t></a:t>
            </a:r>
            <a:r>
              <a:rPr lang="it-IT" sz="996" baseline="0" b="0" i="0" dirty="0" spc="654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data della prestazione </a:t>
            </a:r>
          </a:p>
          <a:p>
            <a:pPr marL="228600">
              <a:lnSpc>
                <a:spcPts val="1151"/>
              </a:lnSpc>
            </a:pPr>
            <a:r>
              <a:rPr lang="it-IT" sz="996" baseline="0" b="0" i="0" dirty="0" spc="-11">
                <a:solidFill>
                  <a:srgbClr val="000000"/>
                </a:solidFill>
                <a:latin typeface="Wingdings" pitchFamily="0" charset="1"/>
              </a:rPr>
              <a:t></a:t>
            </a:r>
            <a:r>
              <a:rPr lang="it-IT" sz="996" baseline="0" b="0" i="0" dirty="0" spc="654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nominativo equipe medica </a:t>
            </a:r>
          </a:p>
        </p:txBody>
      </p:sp>
      <p:sp>
        <p:nvSpPr>
          <p:cNvPr id="946" name="Rectangle 946"/>
          <p:cNvSpPr/>
          <p:nvPr/>
        </p:nvSpPr>
        <p:spPr>
          <a:xfrm rot="0" flipH="0" flipV="0">
            <a:off x="216408" y="5898594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947" name="Rectangle 947"/>
          <p:cNvSpPr/>
          <p:nvPr/>
        </p:nvSpPr>
        <p:spPr>
          <a:xfrm rot="0" flipH="0" flipV="0">
            <a:off x="359663" y="6044898"/>
            <a:ext cx="6880718" cy="3209485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E’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necessario che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l’Assicurato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trasmetta via mail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all’indirizzo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  <a:hlinkClick r:id="rId102"/>
              </a:rPr>
              <a:t> </a:t>
            </a:r>
            <a:r>
              <a:rPr lang="it-IT" sz="996" baseline="0" b="0" i="0" dirty="0" spc="0" u="sng">
                <a:solidFill>
                  <a:srgbClr val="0000FF"/>
                </a:solidFill>
                <a:latin typeface="Arial" pitchFamily="0" charset="1"/>
                <a:hlinkClick r:id="rId102"/>
              </a:rPr>
              <a:t>ricoveri.it@generali.com</a:t>
            </a:r>
            <a:r>
              <a:rPr lang="it-IT" sz="996" baseline="0" b="0" i="0" dirty="0" spc="0">
                <a:solidFill>
                  <a:srgbClr val="0000FF"/>
                </a:solidFill>
                <a:latin typeface="Arial" pitchFamily="0" charset="1"/>
                <a:hlinkClick r:id="rId102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o alleghi alla richiesta se fatta tramite </a:t>
            </a:r>
          </a:p>
          <a:p>
            <a:pPr marL="0">
              <a:lnSpc>
                <a:spcPts val="1151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il canale on line 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la prescrizione medica con i seguenti elementi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(Nel Caso di prestazione odontoiatrica tale dato non è </a:t>
            </a:r>
          </a:p>
          <a:p>
            <a:pPr marL="0">
              <a:lnSpc>
                <a:spcPts val="115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necessario)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: </a:t>
            </a:r>
          </a:p>
          <a:p>
            <a:pPr marL="228600">
              <a:lnSpc>
                <a:spcPts val="1151"/>
              </a:lnSpc>
            </a:pPr>
            <a:r>
              <a:rPr lang="it-IT" sz="996" baseline="0" b="0" i="0" dirty="0" spc="-11">
                <a:solidFill>
                  <a:srgbClr val="000000"/>
                </a:solidFill>
                <a:latin typeface="Wingdings" pitchFamily="0" charset="1"/>
              </a:rPr>
              <a:t></a:t>
            </a:r>
            <a:r>
              <a:rPr lang="it-IT" sz="996" baseline="0" b="0" i="0" dirty="0" spc="654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indicazione della prestazione da effettuare </a:t>
            </a:r>
          </a:p>
          <a:p>
            <a:pPr marL="228600">
              <a:lnSpc>
                <a:spcPts val="1154"/>
              </a:lnSpc>
            </a:pPr>
            <a:r>
              <a:rPr lang="it-IT" sz="996" baseline="0" b="0" i="0" dirty="0" spc="-11">
                <a:solidFill>
                  <a:srgbClr val="000000"/>
                </a:solidFill>
                <a:latin typeface="Wingdings" pitchFamily="0" charset="1"/>
              </a:rPr>
              <a:t></a:t>
            </a:r>
            <a:r>
              <a:rPr lang="it-IT" sz="996" baseline="0" b="0" i="0" dirty="0" spc="654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diagnosi </a:t>
            </a:r>
          </a:p>
          <a:p>
            <a:pPr marL="228600">
              <a:lnSpc>
                <a:spcPts val="1140"/>
              </a:lnSpc>
            </a:pPr>
            <a:r>
              <a:rPr lang="it-IT" sz="996" baseline="0" b="0" i="0" dirty="0" spc="-11">
                <a:solidFill>
                  <a:srgbClr val="000000"/>
                </a:solidFill>
                <a:latin typeface="Wingdings" pitchFamily="0" charset="1"/>
              </a:rPr>
              <a:t></a:t>
            </a:r>
            <a:r>
              <a:rPr lang="it-IT" sz="996" baseline="0" b="0" i="0" dirty="0" spc="654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anamnesi prossima e remota </a:t>
            </a:r>
          </a:p>
          <a:p>
            <a:pPr marL="228600">
              <a:lnSpc>
                <a:spcPts val="1151"/>
              </a:lnSpc>
            </a:pPr>
            <a:r>
              <a:rPr lang="it-IT" sz="996" baseline="0" b="0" i="0" dirty="0" spc="-11">
                <a:solidFill>
                  <a:srgbClr val="000000"/>
                </a:solidFill>
                <a:latin typeface="Wingdings" pitchFamily="0" charset="1"/>
              </a:rPr>
              <a:t></a:t>
            </a:r>
            <a:r>
              <a:rPr lang="it-IT" sz="996" baseline="0" b="0" i="0" dirty="0" spc="654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referti esami strumentali </a:t>
            </a:r>
          </a:p>
          <a:p>
            <a:pPr marL="36576">
              <a:lnSpc>
                <a:spcPts val="1151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La preventiva richiesta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dell’Assicurato,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l’invio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della documentazione sopra indicata e la successiva conferma da parte della </a:t>
            </a:r>
          </a:p>
          <a:p>
            <a:pPr marL="36576">
              <a:lnSpc>
                <a:spcPts val="115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Centrale Operativa 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sono condizioni indispensabili per l’operatività del pagamento diretto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. </a:t>
            </a:r>
          </a:p>
          <a:p>
            <a:pPr marL="0">
              <a:lnSpc>
                <a:spcPts val="1151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All’atto del ricevimento della certificazione medica, la Centrale Operativa, valutata la congruità medico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-assicurativa della </a:t>
            </a:r>
          </a:p>
          <a:p>
            <a:pPr marL="0">
              <a:lnSpc>
                <a:spcPts val="1140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prestazione, 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entro le 72 ore successive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autorizza la struttura convenzionata ad effettuare la prestazione ed avvisa l’As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- </a:t>
            </a:r>
          </a:p>
          <a:p>
            <a:pPr marL="0">
              <a:lnSpc>
                <a:spcPts val="1151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sicurato del buon esito della pratica. </a:t>
            </a:r>
          </a:p>
          <a:p>
            <a:pPr marL="0">
              <a:lnSpc>
                <a:spcPts val="115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All'atto della prestazione presso una struttura convenzionata, l'Assicurato dovrà sottoscrivere l'apposita "lettera d'impegno", </a:t>
            </a:r>
          </a:p>
          <a:p>
            <a:pPr marL="0">
              <a:lnSpc>
                <a:spcPts val="115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documento che ribadisce gli obblighi reciproci tra struttura convenzionata e Assicurato, integrata con gli adempimenti rela- </a:t>
            </a:r>
          </a:p>
          <a:p>
            <a:pPr marL="0">
              <a:lnSpc>
                <a:spcPts val="1151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tivi a quanto previsto dal Regolamento UE 2016/679 e normativa vigente sulla tutela dei dati personali. </a:t>
            </a:r>
          </a:p>
          <a:p>
            <a:pPr marL="0">
              <a:lnSpc>
                <a:spcPts val="115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La struttura sanitaria convenzionata trasmetterà a Generali Italia direttamente gli originali delle fatture e copia dei referti </a:t>
            </a:r>
          </a:p>
          <a:p>
            <a:pPr marL="0">
              <a:lnSpc>
                <a:spcPts val="1140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per il pagamento delle prestazioni nel rispetto delle convenzioni in essere con le strutture sanitarie. </a:t>
            </a:r>
          </a:p>
          <a:p>
            <a:pPr marL="0">
              <a:lnSpc>
                <a:spcPts val="1151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Premesso che il pagamento diretto è una modalità prevista dalla polizza,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l’eventuale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non autorizzazione della prestazione </a:t>
            </a:r>
          </a:p>
          <a:p>
            <a:pPr marL="0">
              <a:lnSpc>
                <a:spcPts val="1154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da parte della Centrale Operativa non pregiudica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l’indennizzabilità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del sinistro da parte di Generali Italia con modalità rim- </a:t>
            </a:r>
          </a:p>
          <a:p>
            <a:pPr marL="0">
              <a:lnSpc>
                <a:spcPts val="1151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borsuale. </a:t>
            </a:r>
          </a:p>
          <a:p>
            <a:pPr marL="0">
              <a:lnSpc>
                <a:spcPts val="115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Si ribadisce che l'Assicurato avrà diritto al pagamento diretto delle spese fatturate dai professionisti e dalle strutture co n- </a:t>
            </a:r>
          </a:p>
          <a:p>
            <a:pPr marL="0">
              <a:lnSpc>
                <a:spcPts val="115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venzionate solo limitatamente a quanto autorizzato dalla Centrale Operativa. </a:t>
            </a:r>
          </a:p>
        </p:txBody>
      </p:sp>
      <p:sp>
        <p:nvSpPr>
          <p:cNvPr id="948" name="Rectangle 948"/>
          <p:cNvSpPr/>
          <p:nvPr/>
        </p:nvSpPr>
        <p:spPr>
          <a:xfrm rot="0" flipH="0" flipV="0">
            <a:off x="216408" y="9258125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949" name="Rectangle 949"/>
          <p:cNvSpPr/>
          <p:nvPr/>
        </p:nvSpPr>
        <p:spPr>
          <a:xfrm rot="0" flipH="0" flipV="0">
            <a:off x="359663" y="9404429"/>
            <a:ext cx="6880718" cy="10173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Pagamento diretto delle spese garantite dalla polizza in caso di prestazioni sanitarie presso la Rete </a:t>
            </a:r>
          </a:p>
          <a:p>
            <a:pPr marL="0">
              <a:lnSpc>
                <a:spcPts val="1151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Qualora la Centrale Operativa abbia autorizzato il pagamento diretto, a ricovero avvenuto o a prestazione sanitaria erogata, </a:t>
            </a:r>
          </a:p>
          <a:p>
            <a:pPr marL="0">
              <a:lnSpc>
                <a:spcPts val="115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Generali Italia pagherà direttamente le spese dovute per le</a:t>
            </a:r>
            <a:r>
              <a:rPr lang="it-IT" sz="996" baseline="0" b="0" i="0" dirty="0" spc="104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prestazioni</a:t>
            </a:r>
            <a:r>
              <a:rPr lang="it-IT" sz="996" baseline="0" b="0" i="0" dirty="0" spc="106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mediche ed ospedaliere purché indennizzabili a </a:t>
            </a:r>
          </a:p>
          <a:p>
            <a:pPr marL="0">
              <a:lnSpc>
                <a:spcPts val="115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termini di polizza, ferma l'applicazione dell’eventuale franchigia che dovrà essere versata dall'Assicurato alla struttura sa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- </a:t>
            </a:r>
          </a:p>
          <a:p>
            <a:pPr marL="0">
              <a:lnSpc>
                <a:spcPts val="115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nitaria al momento della dimissione. </a:t>
            </a:r>
          </a:p>
          <a:p>
            <a:pPr marL="0">
              <a:lnSpc>
                <a:spcPts val="1139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L'Assicurato dovrà provvedere al pagamento delle spese o delle eccedenze di spesa a proprio carico per prestazioni non </a:t>
            </a:r>
          </a:p>
          <a:p>
            <a:pPr marL="0">
              <a:lnSpc>
                <a:spcPts val="115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indennizzabili a termini di polizza.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950" name="Rectangle 950"/>
          <p:cNvSpPr/>
          <p:nvPr/>
        </p:nvSpPr>
        <p:spPr>
          <a:xfrm rot="0" flipH="0" flipV="0">
            <a:off x="359663" y="9969041"/>
            <a:ext cx="6738303" cy="11384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>
              <a:tabLst>
                <a:tab pos="2701163" algn="l"/>
                <a:tab pos="5502528" algn="l"/>
              </a:tabLst>
            </a:pPr>
            <a:r>
              <a:rPr lang="it-IT" sz="803" baseline="0" b="1" i="0" dirty="0" spc="0">
                <a:solidFill>
                  <a:srgbClr val="000000"/>
                </a:solidFill>
                <a:latin typeface="Arial" pitchFamily="0" charset="1"/>
              </a:rPr>
              <a:t>GENERASalute RSM 	</a:t>
            </a:r>
            <a:r>
              <a:rPr lang="it-IT" sz="803" baseline="0" b="0" i="0" dirty="0" spc="0">
                <a:solidFill>
                  <a:srgbClr val="000000"/>
                </a:solidFill>
                <a:latin typeface="Arial" pitchFamily="0" charset="1"/>
              </a:rPr>
              <a:t>Edizione 05.2022 	Condizioni di assicurazione </a:t>
            </a:r>
          </a:p>
        </p:txBody>
      </p:sp>
      <p:sp>
        <p:nvSpPr>
          <p:cNvPr id="951" name="Rectangle 951"/>
          <p:cNvSpPr/>
          <p:nvPr/>
        </p:nvSpPr>
        <p:spPr>
          <a:xfrm rot="0" flipH="0" flipV="0">
            <a:off x="216408" y="10585833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952" name="Rectangle 952"/>
          <p:cNvSpPr/>
          <p:nvPr/>
        </p:nvSpPr>
        <p:spPr>
          <a:xfrm rot="0" flipH="0" flipV="0">
            <a:off x="216408" y="156798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953" name="Rectangle 953"/>
          <p:cNvSpPr/>
          <p:nvPr/>
        </p:nvSpPr>
        <p:spPr>
          <a:xfrm rot="0" flipH="0" flipV="0">
            <a:off x="359663" y="303101"/>
            <a:ext cx="6880718" cy="87128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1" i="0" dirty="0" spc="0" u="sng">
                <a:solidFill>
                  <a:srgbClr val="000000"/>
                </a:solidFill>
                <a:latin typeface="Arial" pitchFamily="0" charset="1"/>
              </a:rPr>
              <a:t>ACCESSO AI SERVIZI EXTRAOSPEDALIERI (accertamenti diagnostici/ visite specialistiche/ prestazioni odontoia-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  <a:p>
            <a:pPr marL="0">
              <a:lnSpc>
                <a:spcPts val="1140"/>
              </a:lnSpc>
            </a:pPr>
            <a:r>
              <a:rPr lang="it-IT" sz="996" baseline="0" b="1" i="0" dirty="0" spc="0" u="sng">
                <a:solidFill>
                  <a:srgbClr val="000000"/>
                </a:solidFill>
                <a:latin typeface="Arial" pitchFamily="0" charset="1"/>
              </a:rPr>
              <a:t>triche/ trattamenti fisioterapici e riabilitativi, se operante la relativa garanzia ed attivato il servizio di pagamento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  <a:p>
            <a:pPr marL="0">
              <a:lnSpc>
                <a:spcPts val="1152"/>
              </a:lnSpc>
            </a:pPr>
            <a:r>
              <a:rPr lang="it-IT" sz="996" baseline="0" b="1" i="0" dirty="0" spc="0" u="sng">
                <a:solidFill>
                  <a:srgbClr val="000000"/>
                </a:solidFill>
                <a:latin typeface="Arial" pitchFamily="0" charset="1"/>
              </a:rPr>
              <a:t>diretto)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  <a:p>
            <a:pPr marL="0">
              <a:lnSpc>
                <a:spcPts val="1151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Qualora l'Assicurato necessiti di effettuare 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una prestazione extraospedaliera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presso una struttura sanitaria convenzio- </a:t>
            </a:r>
          </a:p>
          <a:p>
            <a:pPr marL="0">
              <a:lnSpc>
                <a:spcPts val="1154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nata, è necessario attivare la Centrale Operativa almeno 3 giorni feriali prima della data della prestazione al fine di verificare </a:t>
            </a:r>
          </a:p>
          <a:p>
            <a:pPr marL="0">
              <a:lnSpc>
                <a:spcPts val="1151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la convenzione della struttura prescelta e del medico in caso di visite specialistiche. </a:t>
            </a:r>
          </a:p>
        </p:txBody>
      </p:sp>
      <p:sp>
        <p:nvSpPr>
          <p:cNvPr id="954" name="Rectangle 954"/>
          <p:cNvSpPr/>
          <p:nvPr/>
        </p:nvSpPr>
        <p:spPr>
          <a:xfrm rot="0" flipH="0" flipV="0">
            <a:off x="216408" y="1179655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955" name="Rectangle 955"/>
          <p:cNvSpPr/>
          <p:nvPr/>
        </p:nvSpPr>
        <p:spPr>
          <a:xfrm rot="0" flipH="0" flipV="0">
            <a:off x="216408" y="1324436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956" name="Rectangle 956"/>
          <p:cNvSpPr/>
          <p:nvPr/>
        </p:nvSpPr>
        <p:spPr>
          <a:xfrm rot="0" flipH="0" flipV="0">
            <a:off x="359663" y="1470739"/>
            <a:ext cx="6882239" cy="145663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Al</a:t>
            </a:r>
            <a:r>
              <a:rPr lang="it-IT" sz="996" baseline="0" b="1" i="0" dirty="0" spc="130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fine</a:t>
            </a:r>
            <a:r>
              <a:rPr lang="it-IT" sz="996" baseline="0" b="1" i="0" dirty="0" spc="130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di</a:t>
            </a:r>
            <a:r>
              <a:rPr lang="it-IT" sz="996" baseline="0" b="1" i="0" dirty="0" spc="129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garantire</a:t>
            </a:r>
            <a:r>
              <a:rPr lang="it-IT" sz="996" baseline="0" b="1" i="0" dirty="0" spc="128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la</a:t>
            </a:r>
            <a:r>
              <a:rPr lang="it-IT" sz="996" baseline="0" b="1" i="0" dirty="0" spc="128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copertura</a:t>
            </a:r>
            <a:r>
              <a:rPr lang="it-IT" sz="996" baseline="0" b="1" i="0" dirty="0" spc="128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diretta</a:t>
            </a:r>
            <a:r>
              <a:rPr lang="it-IT" sz="996" baseline="0" b="1" i="0" dirty="0" spc="128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delle</a:t>
            </a:r>
            <a:r>
              <a:rPr lang="it-IT" sz="996" baseline="0" b="1" i="0" dirty="0" spc="142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spese</a:t>
            </a:r>
            <a:r>
              <a:rPr lang="it-IT" sz="996" baseline="0" b="1" i="0" dirty="0" spc="130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ed</a:t>
            </a:r>
            <a:r>
              <a:rPr lang="it-IT" sz="996" baseline="0" b="1" i="0" dirty="0" spc="143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espletare</a:t>
            </a:r>
            <a:r>
              <a:rPr lang="it-IT" sz="996" baseline="0" b="1" i="0" dirty="0" spc="130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le</a:t>
            </a:r>
            <a:r>
              <a:rPr lang="it-IT" sz="996" baseline="0" b="1" i="0" dirty="0" spc="139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relative</a:t>
            </a:r>
            <a:r>
              <a:rPr lang="it-IT" sz="996" baseline="0" b="1" i="0" dirty="0" spc="128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pratiche</a:t>
            </a:r>
            <a:r>
              <a:rPr lang="it-IT" sz="996" baseline="0" b="1" i="0" dirty="0" spc="130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in</a:t>
            </a:r>
            <a:r>
              <a:rPr lang="it-IT" sz="996" baseline="0" b="1" i="0" dirty="0" spc="132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favore</a:t>
            </a:r>
            <a:r>
              <a:rPr lang="it-IT" sz="996" baseline="0" b="1" i="0" dirty="0" spc="130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dell'Assicurato</a:t>
            </a:r>
            <a:r>
              <a:rPr lang="it-IT" sz="996" baseline="0" b="1" i="0" dirty="0" spc="190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è </a:t>
            </a:r>
          </a:p>
          <a:p>
            <a:pPr marL="0">
              <a:lnSpc>
                <a:spcPts val="115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necessario comunicare: </a:t>
            </a:r>
          </a:p>
          <a:p>
            <a:pPr marL="228600">
              <a:lnSpc>
                <a:spcPts val="1152"/>
              </a:lnSpc>
            </a:pPr>
            <a:r>
              <a:rPr lang="it-IT" sz="996" baseline="0" b="0" i="0" dirty="0" spc="-11">
                <a:solidFill>
                  <a:srgbClr val="000000"/>
                </a:solidFill>
                <a:latin typeface="Wingdings" pitchFamily="0" charset="1"/>
              </a:rPr>
              <a:t></a:t>
            </a:r>
            <a:r>
              <a:rPr lang="it-IT" sz="996" baseline="0" b="0" i="0" dirty="0" spc="654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nome e cognome della persona che deve effettuare la prestazione </a:t>
            </a:r>
          </a:p>
          <a:p>
            <a:pPr marL="228600">
              <a:lnSpc>
                <a:spcPts val="1151"/>
              </a:lnSpc>
            </a:pPr>
            <a:r>
              <a:rPr lang="it-IT" sz="996" baseline="0" b="0" i="0" dirty="0" spc="-11">
                <a:solidFill>
                  <a:srgbClr val="000000"/>
                </a:solidFill>
                <a:latin typeface="Wingdings" pitchFamily="0" charset="1"/>
              </a:rPr>
              <a:t></a:t>
            </a:r>
            <a:r>
              <a:rPr lang="it-IT" sz="996" baseline="0" b="0" i="0" dirty="0" spc="654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contraente di polizza </a:t>
            </a:r>
          </a:p>
          <a:p>
            <a:pPr marL="228600">
              <a:lnSpc>
                <a:spcPts val="1152"/>
              </a:lnSpc>
            </a:pPr>
            <a:r>
              <a:rPr lang="it-IT" sz="996" baseline="0" b="0" i="0" dirty="0" spc="-11">
                <a:solidFill>
                  <a:srgbClr val="000000"/>
                </a:solidFill>
                <a:latin typeface="Wingdings" pitchFamily="0" charset="1"/>
              </a:rPr>
              <a:t></a:t>
            </a:r>
            <a:r>
              <a:rPr lang="it-IT" sz="996" baseline="0" b="0" i="0" dirty="0" spc="654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recapito telefonico mobile - per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l’invio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di SMS di conferma - della persona che effettua la prestazione </a:t>
            </a:r>
          </a:p>
          <a:p>
            <a:pPr marL="228600">
              <a:lnSpc>
                <a:spcPts val="1140"/>
              </a:lnSpc>
            </a:pPr>
            <a:r>
              <a:rPr lang="it-IT" sz="996" baseline="0" b="0" i="0" dirty="0" spc="-11">
                <a:solidFill>
                  <a:srgbClr val="000000"/>
                </a:solidFill>
                <a:latin typeface="Wingdings" pitchFamily="0" charset="1"/>
              </a:rPr>
              <a:t></a:t>
            </a:r>
            <a:r>
              <a:rPr lang="it-IT" sz="996" baseline="0" b="0" i="0" dirty="0" spc="654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struttura sanitaria presso la quale verrà effettuata la prestazione </a:t>
            </a:r>
          </a:p>
          <a:p>
            <a:pPr marL="228600">
              <a:lnSpc>
                <a:spcPts val="1151"/>
              </a:lnSpc>
            </a:pPr>
            <a:r>
              <a:rPr lang="it-IT" sz="996" baseline="0" b="0" i="0" dirty="0" spc="-11">
                <a:solidFill>
                  <a:srgbClr val="000000"/>
                </a:solidFill>
                <a:latin typeface="Wingdings" pitchFamily="0" charset="1"/>
              </a:rPr>
              <a:t></a:t>
            </a:r>
            <a:r>
              <a:rPr lang="it-IT" sz="996" baseline="0" b="0" i="0" dirty="0" spc="654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data della prestazione </a:t>
            </a:r>
          </a:p>
          <a:p>
            <a:pPr marL="228600">
              <a:lnSpc>
                <a:spcPts val="1152"/>
              </a:lnSpc>
            </a:pPr>
            <a:r>
              <a:rPr lang="it-IT" sz="996" baseline="0" b="0" i="0" dirty="0" spc="-11">
                <a:solidFill>
                  <a:srgbClr val="000000"/>
                </a:solidFill>
                <a:latin typeface="Wingdings" pitchFamily="0" charset="1"/>
              </a:rPr>
              <a:t></a:t>
            </a:r>
            <a:r>
              <a:rPr lang="it-IT" sz="996" baseline="0" b="0" i="0" dirty="0" spc="642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certificato medico che indichi la richiesta della prestazione con 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diagnosi o presunta diagnosi.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Nel Caso di pre- </a:t>
            </a:r>
          </a:p>
          <a:p>
            <a:pPr marL="457200">
              <a:lnSpc>
                <a:spcPts val="115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stazione odontoiatrica tale dato non è necessario. </a:t>
            </a:r>
          </a:p>
          <a:p>
            <a:pPr marL="228600">
              <a:lnSpc>
                <a:spcPts val="1154"/>
              </a:lnSpc>
            </a:pPr>
            <a:r>
              <a:rPr lang="it-IT" sz="996" baseline="0" b="0" i="0" dirty="0" spc="-11">
                <a:solidFill>
                  <a:srgbClr val="000000"/>
                </a:solidFill>
                <a:latin typeface="Wingdings" pitchFamily="0" charset="1"/>
              </a:rPr>
              <a:t></a:t>
            </a:r>
            <a:r>
              <a:rPr lang="it-IT" sz="996" baseline="0" b="0" i="0" dirty="0" spc="654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nominativo medico specialista (in caso di visita). Nel Caso di prestazione odontoiatrica tale dato non è necessario. </a:t>
            </a:r>
          </a:p>
        </p:txBody>
      </p:sp>
      <p:sp>
        <p:nvSpPr>
          <p:cNvPr id="957" name="Rectangle 957"/>
          <p:cNvSpPr/>
          <p:nvPr/>
        </p:nvSpPr>
        <p:spPr>
          <a:xfrm rot="0" flipH="0" flipV="0">
            <a:off x="216408" y="2932636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958" name="Rectangle 958"/>
          <p:cNvSpPr/>
          <p:nvPr/>
        </p:nvSpPr>
        <p:spPr>
          <a:xfrm rot="0" flipH="0" flipV="0">
            <a:off x="359663" y="3077416"/>
            <a:ext cx="6880718" cy="2332804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Alla positiva verifica della convenzione, della struttura sanitaria e - in caso di visita specialistica - del medico specialista, la </a:t>
            </a:r>
          </a:p>
          <a:p>
            <a:pPr marL="0">
              <a:lnSpc>
                <a:spcPts val="115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Centrale Operativa, valutata la congruità medico-assicurativa della prestazione, autorizza </a:t>
            </a:r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entro le 72 ore successive 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la </a:t>
            </a:r>
          </a:p>
          <a:p>
            <a:pPr marL="0">
              <a:lnSpc>
                <a:spcPts val="1151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struttura convenzionata (ad effettuare la prestazione nel rispetto delle Condizioni di Assicurazione (con evidenza di even- </a:t>
            </a:r>
          </a:p>
          <a:p>
            <a:pPr marL="0">
              <a:lnSpc>
                <a:spcPts val="115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tuali spese non previste dalla copertura). </a:t>
            </a:r>
          </a:p>
          <a:p>
            <a:pPr marL="0">
              <a:lnSpc>
                <a:spcPts val="115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Nel caso in cui l’autorizzazione dovesse essere negata, la Centrale Operativa avviserà sia la struttura sanitaria sia l’Assi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- </a:t>
            </a:r>
          </a:p>
          <a:p>
            <a:pPr marL="0">
              <a:lnSpc>
                <a:spcPts val="1139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curato. </a:t>
            </a:r>
          </a:p>
          <a:p>
            <a:pPr marL="0">
              <a:lnSpc>
                <a:spcPts val="115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L’Assicurato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al momento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dell’accettazione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presso gli ambulatori dovrà sottoscrivere la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“lettera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d’impegno”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(documento che </a:t>
            </a:r>
          </a:p>
          <a:p>
            <a:pPr marL="0">
              <a:lnSpc>
                <a:spcPts val="1151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riporta gli obblighi reciproci tra Assicurato e struttura sanitaria convenzionata) in relazione alla prestazione e con riferimento </a:t>
            </a:r>
          </a:p>
          <a:p>
            <a:pPr marL="0">
              <a:lnSpc>
                <a:spcPts val="115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alle Condizioni di Assicurazione, e consegnare la prescrizione comunicata telefonicamente alla Centrale Operativa. </a:t>
            </a:r>
          </a:p>
          <a:p>
            <a:pPr marL="0">
              <a:lnSpc>
                <a:spcPts val="1151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La struttura sanitaria convenzionata trasmetterà a Generali Italia una copia delle fatture e la richiesta medica della presta- </a:t>
            </a:r>
          </a:p>
          <a:p>
            <a:pPr marL="0">
              <a:lnSpc>
                <a:spcPts val="115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zione per il pagamento delle stesse nel rispetto delle convenzioni in essere con le strutture sanitarie. </a:t>
            </a:r>
          </a:p>
          <a:p>
            <a:pPr marL="0">
              <a:lnSpc>
                <a:spcPts val="1139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Si precisa che per le fatture delle prestazioni odontoiatriche devono essere riportati i dettagli delle singole prestazioni effet- </a:t>
            </a:r>
          </a:p>
          <a:p>
            <a:pPr marL="0">
              <a:lnSpc>
                <a:spcPts val="1153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tuate. </a:t>
            </a:r>
          </a:p>
          <a:p>
            <a:pPr marL="0">
              <a:lnSpc>
                <a:spcPts val="115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Premesso che il pagamento diretto è una modalità prevista dalla polizza,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l’eventuale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non autorizzazione della prestazione </a:t>
            </a:r>
          </a:p>
          <a:p>
            <a:pPr marL="0">
              <a:lnSpc>
                <a:spcPts val="1151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da parte della Centrale Operativa non pregiudica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l’indennizzabilità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del sinistro da parte di Generali Italia con modalità rim- </a:t>
            </a:r>
          </a:p>
          <a:p>
            <a:pPr marL="0">
              <a:lnSpc>
                <a:spcPts val="115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borsuale. </a:t>
            </a:r>
          </a:p>
        </p:txBody>
      </p:sp>
      <p:sp>
        <p:nvSpPr>
          <p:cNvPr id="959" name="Rectangle 959"/>
          <p:cNvSpPr/>
          <p:nvPr/>
        </p:nvSpPr>
        <p:spPr>
          <a:xfrm rot="0" flipH="0" flipV="0">
            <a:off x="359663" y="5415486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960" name="Rectangle 960"/>
          <p:cNvSpPr/>
          <p:nvPr/>
        </p:nvSpPr>
        <p:spPr>
          <a:xfrm rot="0" flipH="0" flipV="0">
            <a:off x="359663" y="5560266"/>
            <a:ext cx="1868790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Prestazioni pre e post ricovero </a:t>
            </a:r>
          </a:p>
        </p:txBody>
      </p:sp>
      <p:sp>
        <p:nvSpPr>
          <p:cNvPr id="961" name="Rectangle 961"/>
          <p:cNvSpPr/>
          <p:nvPr/>
        </p:nvSpPr>
        <p:spPr>
          <a:xfrm rot="0" flipH="0" flipV="0">
            <a:off x="359663" y="5706570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962" name="Rectangle 962"/>
          <p:cNvSpPr/>
          <p:nvPr/>
        </p:nvSpPr>
        <p:spPr>
          <a:xfrm rot="0" flipH="0" flipV="0">
            <a:off x="359663" y="5852874"/>
            <a:ext cx="6877670" cy="433646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Relativamente alle prestazioni pre-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ricovero, l’Assicurato può chiedere l’attivazione dell’Assistenza diretta solo nel caso in </a:t>
            </a:r>
          </a:p>
          <a:p>
            <a:pPr marL="0">
              <a:lnSpc>
                <a:spcPts val="1151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cui il ricovero risulti autorizzato dalla Centrale Operativa; relativamente alle prestazioni post-ricovero,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l’Assicurato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può chie- </a:t>
            </a:r>
          </a:p>
          <a:p>
            <a:pPr marL="0">
              <a:lnSpc>
                <a:spcPts val="115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dere l’attivazione dell’Assistenza diretta con l’invio della lettera di dimissione.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963" name="Rectangle 963"/>
          <p:cNvSpPr/>
          <p:nvPr/>
        </p:nvSpPr>
        <p:spPr>
          <a:xfrm rot="0" flipH="0" flipV="0">
            <a:off x="359663" y="6290262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964" name="Rectangle 964"/>
          <p:cNvSpPr/>
          <p:nvPr/>
        </p:nvSpPr>
        <p:spPr>
          <a:xfrm rot="0" flipH="0" flipV="0">
            <a:off x="359663" y="6436566"/>
            <a:ext cx="384160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NOTA </a:t>
            </a:r>
          </a:p>
        </p:txBody>
      </p:sp>
      <p:sp>
        <p:nvSpPr>
          <p:cNvPr id="965" name="Rectangle 965"/>
          <p:cNvSpPr/>
          <p:nvPr/>
        </p:nvSpPr>
        <p:spPr>
          <a:xfrm rot="0" flipH="0" flipV="0">
            <a:off x="359663" y="6582870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966" name="Rectangle 966"/>
          <p:cNvSpPr/>
          <p:nvPr/>
        </p:nvSpPr>
        <p:spPr>
          <a:xfrm rot="0" flipH="0" flipV="0">
            <a:off x="359663" y="6729555"/>
            <a:ext cx="6877698" cy="578426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Qualora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l’Assicurato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non attivi la Centrale Operativa ma utilizzi, comunque, un centro clinico o studio odontoiatrico conven- </a:t>
            </a:r>
          </a:p>
          <a:p>
            <a:pPr marL="0">
              <a:lnSpc>
                <a:spcPts val="1151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zionato con pagamento a proprio carico avrà diritto </a:t>
            </a: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all’applicazione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delle tariffe di convenzione facendosi riconoscere quale </a:t>
            </a:r>
          </a:p>
          <a:p>
            <a:pPr marL="0">
              <a:lnSpc>
                <a:spcPts val="1152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assicurato di Generali Italia. La spesa sostenuta potrà essere oggetto di richiesta di rimborso se rientrante nel piano sani- </a:t>
            </a:r>
          </a:p>
          <a:p>
            <a:pPr marL="0">
              <a:lnSpc>
                <a:spcPts val="1139"/>
              </a:lnSpc>
            </a:pPr>
            <a:r>
              <a:rPr lang="it-IT" sz="996" baseline="0" b="0" i="0" dirty="0" spc="0">
                <a:solidFill>
                  <a:srgbClr val="000000"/>
                </a:solidFill>
                <a:latin typeface="ArialMT" pitchFamily="0" charset="1"/>
              </a:rPr>
              <a:t>tario sottoscritto con applicazione delle franchigie previste per le prestazioni “fuori rete”</a:t>
            </a:r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967" name="Rectangle 967"/>
          <p:cNvSpPr/>
          <p:nvPr/>
        </p:nvSpPr>
        <p:spPr>
          <a:xfrm rot="0" flipH="0" flipV="0">
            <a:off x="216408" y="7312455"/>
            <a:ext cx="28386" cy="11384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803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968" name="Rectangle 968"/>
          <p:cNvSpPr/>
          <p:nvPr/>
        </p:nvSpPr>
        <p:spPr>
          <a:xfrm rot="0" flipH="0" flipV="0">
            <a:off x="216408" y="7430595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969" name="Rectangle 969"/>
          <p:cNvSpPr/>
          <p:nvPr/>
        </p:nvSpPr>
        <p:spPr>
          <a:xfrm rot="0" flipH="0" flipV="0">
            <a:off x="216408" y="7576899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970" name="Rectangle 970"/>
          <p:cNvSpPr/>
          <p:nvPr/>
        </p:nvSpPr>
        <p:spPr>
          <a:xfrm rot="0" flipH="0" flipV="0">
            <a:off x="216408" y="7723203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971" name="Rectangle 971"/>
          <p:cNvSpPr/>
          <p:nvPr/>
        </p:nvSpPr>
        <p:spPr>
          <a:xfrm rot="0" flipH="0" flipV="0">
            <a:off x="216408" y="7867983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972" name="Rectangle 972"/>
          <p:cNvSpPr/>
          <p:nvPr/>
        </p:nvSpPr>
        <p:spPr>
          <a:xfrm rot="0" flipH="0" flipV="0">
            <a:off x="216408" y="8014287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973" name="Rectangle 973"/>
          <p:cNvSpPr/>
          <p:nvPr/>
        </p:nvSpPr>
        <p:spPr>
          <a:xfrm rot="0" flipH="0" flipV="0">
            <a:off x="216408" y="8160591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974" name="Rectangle 974"/>
          <p:cNvSpPr/>
          <p:nvPr/>
        </p:nvSpPr>
        <p:spPr>
          <a:xfrm rot="0" flipH="0" flipV="0">
            <a:off x="216408" y="8306895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975" name="Rectangle 975"/>
          <p:cNvSpPr/>
          <p:nvPr/>
        </p:nvSpPr>
        <p:spPr>
          <a:xfrm rot="0" flipH="0" flipV="0">
            <a:off x="216408" y="8453199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976" name="Rectangle 976"/>
          <p:cNvSpPr/>
          <p:nvPr/>
        </p:nvSpPr>
        <p:spPr>
          <a:xfrm rot="0" flipH="0" flipV="0">
            <a:off x="216408" y="8599757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977" name="Rectangle 977"/>
          <p:cNvSpPr/>
          <p:nvPr/>
        </p:nvSpPr>
        <p:spPr>
          <a:xfrm rot="0" flipH="0" flipV="0">
            <a:off x="216408" y="8744537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978" name="Rectangle 978"/>
          <p:cNvSpPr/>
          <p:nvPr/>
        </p:nvSpPr>
        <p:spPr>
          <a:xfrm rot="0" flipH="0" flipV="0">
            <a:off x="216408" y="8890841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979" name="Rectangle 979"/>
          <p:cNvSpPr/>
          <p:nvPr/>
        </p:nvSpPr>
        <p:spPr>
          <a:xfrm rot="0" flipH="0" flipV="0">
            <a:off x="216408" y="9037145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980" name="Rectangle 980"/>
          <p:cNvSpPr/>
          <p:nvPr/>
        </p:nvSpPr>
        <p:spPr>
          <a:xfrm rot="0" flipH="0" flipV="0">
            <a:off x="216408" y="9183449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981" name="Rectangle 981"/>
          <p:cNvSpPr/>
          <p:nvPr/>
        </p:nvSpPr>
        <p:spPr>
          <a:xfrm rot="0" flipH="0" flipV="0">
            <a:off x="216408" y="9329753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982" name="Rectangle 982"/>
          <p:cNvSpPr/>
          <p:nvPr/>
        </p:nvSpPr>
        <p:spPr>
          <a:xfrm rot="0" flipH="0" flipV="0">
            <a:off x="216408" y="9474533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983" name="Rectangle 983"/>
          <p:cNvSpPr/>
          <p:nvPr/>
        </p:nvSpPr>
        <p:spPr>
          <a:xfrm rot="0" flipH="0" flipV="0">
            <a:off x="216408" y="9620837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984" name="Rectangle 984"/>
          <p:cNvSpPr/>
          <p:nvPr/>
        </p:nvSpPr>
        <p:spPr>
          <a:xfrm rot="0" flipH="0" flipV="0">
            <a:off x="216408" y="9834197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1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985" name="Rectangle 985"/>
          <p:cNvSpPr/>
          <p:nvPr/>
        </p:nvSpPr>
        <p:spPr>
          <a:xfrm rot="0" flipH="0" flipV="0">
            <a:off x="541019" y="9982025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986" name="Rectangle 986"/>
          <p:cNvSpPr/>
          <p:nvPr/>
        </p:nvSpPr>
        <p:spPr>
          <a:xfrm rot="0" flipH="0" flipV="0">
            <a:off x="216408" y="10126013"/>
            <a:ext cx="28386" cy="11384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803" baseline="0" b="1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987" name="Freeform 987"/>
          <p:cNvSpPr/>
          <p:nvPr/>
        </p:nvSpPr>
        <p:spPr>
          <a:xfrm rot="0" flipH="0" flipV="0">
            <a:off x="7047865" y="152400"/>
            <a:ext cx="359410" cy="558800"/>
          </a:xfrm>
          <a:custGeom>
            <a:pathLst>
              <a:path w="359410" h="558800">
                <a:moveTo>
                  <a:pt x="0" y="558800"/>
                </a:moveTo>
                <a:lnTo>
                  <a:pt x="359410" y="558800"/>
                </a:lnTo>
                <a:lnTo>
                  <a:pt x="359410" y="0"/>
                </a:lnTo>
                <a:lnTo>
                  <a:pt x="0" y="0"/>
                </a:lnTo>
                <a:lnTo>
                  <a:pt x="0" y="558800"/>
                </a:lnTo>
                <a:close/>
              </a:path>
            </a:pathLst>
          </a:custGeom>
          <a:solidFill>
            <a:srgbClr val="C21B17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88" name="Freeform 988"/>
          <p:cNvSpPr/>
          <p:nvPr/>
        </p:nvSpPr>
        <p:spPr>
          <a:xfrm rot="0" flipH="0" flipV="0">
            <a:off x="7047865" y="709296"/>
            <a:ext cx="359410" cy="419100"/>
          </a:xfrm>
          <a:custGeom>
            <a:pathLst>
              <a:path w="359410" h="419100">
                <a:moveTo>
                  <a:pt x="0" y="419100"/>
                </a:moveTo>
                <a:lnTo>
                  <a:pt x="359410" y="419100"/>
                </a:lnTo>
                <a:lnTo>
                  <a:pt x="359410" y="0"/>
                </a:lnTo>
                <a:lnTo>
                  <a:pt x="0" y="0"/>
                </a:lnTo>
                <a:lnTo>
                  <a:pt x="0" y="419100"/>
                </a:lnTo>
                <a:close/>
              </a:path>
            </a:pathLst>
          </a:custGeom>
          <a:solidFill>
            <a:srgbClr val="E9563C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89" name="Freeform 989"/>
          <p:cNvSpPr/>
          <p:nvPr/>
        </p:nvSpPr>
        <p:spPr>
          <a:xfrm rot="0" flipH="0" flipV="0">
            <a:off x="7047865" y="1128396"/>
            <a:ext cx="359410" cy="279400"/>
          </a:xfrm>
          <a:custGeom>
            <a:pathLst>
              <a:path w="359410" h="279400">
                <a:moveTo>
                  <a:pt x="0" y="279400"/>
                </a:moveTo>
                <a:lnTo>
                  <a:pt x="359410" y="279400"/>
                </a:lnTo>
                <a:lnTo>
                  <a:pt x="359410" y="0"/>
                </a:lnTo>
                <a:lnTo>
                  <a:pt x="0" y="0"/>
                </a:lnTo>
                <a:lnTo>
                  <a:pt x="0" y="279400"/>
                </a:lnTo>
                <a:close/>
              </a:path>
            </a:pathLst>
          </a:custGeom>
          <a:solidFill>
            <a:srgbClr val="752027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990" name="Picture 990"/>
          <p:cNvPicPr>
            <a:picLocks noChangeAspect="0" noChangeArrowheads="1"/>
          </p:cNvPicPr>
          <p:nvPr/>
        </p:nvPicPr>
        <p:blipFill>
          <a:blip r:embed="rId99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 flipH="0" flipV="0">
            <a:off x="539750" y="9258923"/>
            <a:ext cx="6439408" cy="420369"/>
          </a:xfrm>
          <a:prstGeom prst="rect">
            <a:avLst/>
          </a:prstGeom>
          <a:noFill/>
          <a:extLst/>
        </p:spPr>
      </p:pic>
      <p:sp>
        <p:nvSpPr>
          <p:cNvPr id="991" name="Rectangle 991"/>
          <p:cNvSpPr/>
          <p:nvPr/>
        </p:nvSpPr>
        <p:spPr>
          <a:xfrm rot="0" flipH="0" flipV="0">
            <a:off x="216408" y="9917225"/>
            <a:ext cx="6881559" cy="165665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>
              <a:tabLst>
                <a:tab pos="143255" algn="l"/>
                <a:tab pos="2844419" algn="l"/>
                <a:tab pos="5645784" algn="l"/>
              </a:tabLst>
            </a:pPr>
            <a:r>
              <a:rPr lang="it-IT" sz="1216" baseline="50746" b="0" i="0" dirty="0" spc="0">
                <a:solidFill>
                  <a:srgbClr val="000000"/>
                </a:solidFill>
                <a:latin typeface="Arial" pitchFamily="0" charset="1"/>
              </a:rPr>
              <a:t> 	</a:t>
            </a:r>
            <a:r>
              <a:rPr lang="it-IT" sz="803" baseline="0" b="1" i="0" dirty="0" spc="0">
                <a:solidFill>
                  <a:srgbClr val="000000"/>
                </a:solidFill>
                <a:latin typeface="Arial" pitchFamily="0" charset="1"/>
              </a:rPr>
              <a:t>GENERASalute RSM 	</a:t>
            </a:r>
            <a:r>
              <a:rPr lang="it-IT" sz="803" baseline="0" b="0" i="0" dirty="0" spc="0">
                <a:solidFill>
                  <a:srgbClr val="000000"/>
                </a:solidFill>
                <a:latin typeface="Arial" pitchFamily="0" charset="1"/>
              </a:rPr>
              <a:t>Edizione 05.2022 	Condizioni di assicurazione </a:t>
            </a:r>
          </a:p>
        </p:txBody>
      </p:sp>
      <p:sp>
        <p:nvSpPr>
          <p:cNvPr id="992" name="Rectangle 992"/>
          <p:cNvSpPr/>
          <p:nvPr/>
        </p:nvSpPr>
        <p:spPr>
          <a:xfrm rot="0" flipH="0" flipV="0">
            <a:off x="216408" y="10585833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993" name="Rectangle 993"/>
          <p:cNvSpPr/>
          <p:nvPr/>
        </p:nvSpPr>
        <p:spPr>
          <a:xfrm rot="0" flipH="0" flipV="0">
            <a:off x="7407909" y="1295479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994" name="Rectangle 994"/>
          <p:cNvSpPr/>
          <p:nvPr/>
        </p:nvSpPr>
        <p:spPr>
          <a:xfrm rot="0" flipH="0" flipV="0">
            <a:off x="216408" y="1414351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995" name="Rectangle 995"/>
          <p:cNvSpPr/>
          <p:nvPr/>
        </p:nvSpPr>
        <p:spPr>
          <a:xfrm rot="0" flipH="0" flipV="0">
            <a:off x="216408" y="1560655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996" name="Rectangle 996"/>
          <p:cNvSpPr/>
          <p:nvPr/>
        </p:nvSpPr>
        <p:spPr>
          <a:xfrm rot="0" flipH="0" flipV="0">
            <a:off x="216408" y="1705436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997" name="Rectangle 997"/>
          <p:cNvSpPr/>
          <p:nvPr/>
        </p:nvSpPr>
        <p:spPr>
          <a:xfrm rot="0" flipH="0" flipV="0">
            <a:off x="216408" y="1851739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998" name="Rectangle 998"/>
          <p:cNvSpPr/>
          <p:nvPr/>
        </p:nvSpPr>
        <p:spPr>
          <a:xfrm rot="0" flipH="0" flipV="0">
            <a:off x="216408" y="1998043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999" name="Rectangle 999"/>
          <p:cNvSpPr/>
          <p:nvPr/>
        </p:nvSpPr>
        <p:spPr>
          <a:xfrm rot="0" flipH="0" flipV="0">
            <a:off x="216408" y="2144348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1000" name="Rectangle 1000"/>
          <p:cNvSpPr/>
          <p:nvPr/>
        </p:nvSpPr>
        <p:spPr>
          <a:xfrm rot="0" flipH="0" flipV="0">
            <a:off x="216408" y="2290651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1001" name="Rectangle 1001"/>
          <p:cNvSpPr/>
          <p:nvPr/>
        </p:nvSpPr>
        <p:spPr>
          <a:xfrm rot="0" flipH="0" flipV="0">
            <a:off x="216408" y="2436955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1002" name="Rectangle 1002"/>
          <p:cNvSpPr/>
          <p:nvPr/>
        </p:nvSpPr>
        <p:spPr>
          <a:xfrm rot="0" flipH="0" flipV="0">
            <a:off x="216408" y="2581736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1003" name="Rectangle 1003"/>
          <p:cNvSpPr/>
          <p:nvPr/>
        </p:nvSpPr>
        <p:spPr>
          <a:xfrm rot="0" flipH="0" flipV="0">
            <a:off x="216408" y="2728039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1004" name="Rectangle 1004"/>
          <p:cNvSpPr/>
          <p:nvPr/>
        </p:nvSpPr>
        <p:spPr>
          <a:xfrm rot="0" flipH="0" flipV="0">
            <a:off x="216408" y="2874724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1005" name="Rectangle 1005"/>
          <p:cNvSpPr/>
          <p:nvPr/>
        </p:nvSpPr>
        <p:spPr>
          <a:xfrm rot="0" flipH="0" flipV="0">
            <a:off x="216408" y="3021028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1006" name="Rectangle 1006"/>
          <p:cNvSpPr/>
          <p:nvPr/>
        </p:nvSpPr>
        <p:spPr>
          <a:xfrm rot="0" flipH="0" flipV="0">
            <a:off x="216408" y="3167332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1007" name="Rectangle 1007"/>
          <p:cNvSpPr/>
          <p:nvPr/>
        </p:nvSpPr>
        <p:spPr>
          <a:xfrm rot="0" flipH="0" flipV="0">
            <a:off x="216408" y="3313636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1008" name="Rectangle 1008"/>
          <p:cNvSpPr/>
          <p:nvPr/>
        </p:nvSpPr>
        <p:spPr>
          <a:xfrm rot="0" flipH="0" flipV="0">
            <a:off x="216408" y="3458416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1009" name="Rectangle 1009"/>
          <p:cNvSpPr/>
          <p:nvPr/>
        </p:nvSpPr>
        <p:spPr>
          <a:xfrm rot="0" flipH="0" flipV="0">
            <a:off x="216408" y="3604720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1010" name="Rectangle 1010"/>
          <p:cNvSpPr/>
          <p:nvPr/>
        </p:nvSpPr>
        <p:spPr>
          <a:xfrm rot="0" flipH="0" flipV="0">
            <a:off x="216408" y="3751024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1011" name="Rectangle 1011"/>
          <p:cNvSpPr/>
          <p:nvPr/>
        </p:nvSpPr>
        <p:spPr>
          <a:xfrm rot="0" flipH="0" flipV="0">
            <a:off x="216408" y="3897328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1012" name="Rectangle 1012"/>
          <p:cNvSpPr/>
          <p:nvPr/>
        </p:nvSpPr>
        <p:spPr>
          <a:xfrm rot="0" flipH="0" flipV="0">
            <a:off x="216408" y="4043632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1013" name="Rectangle 1013"/>
          <p:cNvSpPr/>
          <p:nvPr/>
        </p:nvSpPr>
        <p:spPr>
          <a:xfrm rot="0" flipH="0" flipV="0">
            <a:off x="216408" y="4189936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1014" name="Rectangle 1014"/>
          <p:cNvSpPr/>
          <p:nvPr/>
        </p:nvSpPr>
        <p:spPr>
          <a:xfrm rot="0" flipH="0" flipV="0">
            <a:off x="216408" y="4334716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1015" name="Rectangle 1015"/>
          <p:cNvSpPr/>
          <p:nvPr/>
        </p:nvSpPr>
        <p:spPr>
          <a:xfrm rot="0" flipH="0" flipV="0">
            <a:off x="216408" y="4481020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1016" name="Rectangle 1016"/>
          <p:cNvSpPr/>
          <p:nvPr/>
        </p:nvSpPr>
        <p:spPr>
          <a:xfrm rot="0" flipH="0" flipV="0">
            <a:off x="216408" y="4627324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1017" name="Rectangle 1017"/>
          <p:cNvSpPr/>
          <p:nvPr/>
        </p:nvSpPr>
        <p:spPr>
          <a:xfrm rot="0" flipH="0" flipV="0">
            <a:off x="216408" y="4773882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1018" name="Rectangle 1018"/>
          <p:cNvSpPr/>
          <p:nvPr/>
        </p:nvSpPr>
        <p:spPr>
          <a:xfrm rot="0" flipH="0" flipV="0">
            <a:off x="216408" y="4920186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1019" name="Rectangle 1019"/>
          <p:cNvSpPr/>
          <p:nvPr/>
        </p:nvSpPr>
        <p:spPr>
          <a:xfrm rot="0" flipH="0" flipV="0">
            <a:off x="216408" y="5064966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1020" name="Rectangle 1020"/>
          <p:cNvSpPr/>
          <p:nvPr/>
        </p:nvSpPr>
        <p:spPr>
          <a:xfrm rot="0" flipH="0" flipV="0">
            <a:off x="216408" y="5211270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1021" name="Rectangle 1021"/>
          <p:cNvSpPr/>
          <p:nvPr/>
        </p:nvSpPr>
        <p:spPr>
          <a:xfrm rot="0" flipH="0" flipV="0">
            <a:off x="216408" y="5357574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1022" name="Rectangle 1022"/>
          <p:cNvSpPr/>
          <p:nvPr/>
        </p:nvSpPr>
        <p:spPr>
          <a:xfrm rot="0" flipH="0" flipV="0">
            <a:off x="216408" y="5503878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1023" name="Rectangle 1023"/>
          <p:cNvSpPr/>
          <p:nvPr/>
        </p:nvSpPr>
        <p:spPr>
          <a:xfrm rot="0" flipH="0" flipV="0">
            <a:off x="216408" y="5650182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1024" name="Rectangle 1024"/>
          <p:cNvSpPr/>
          <p:nvPr/>
        </p:nvSpPr>
        <p:spPr>
          <a:xfrm rot="0" flipH="0" flipV="0">
            <a:off x="216408" y="5796486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1025" name="Rectangle 1025"/>
          <p:cNvSpPr/>
          <p:nvPr/>
        </p:nvSpPr>
        <p:spPr>
          <a:xfrm rot="0" flipH="0" flipV="0">
            <a:off x="216408" y="5941266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1026" name="Rectangle 1026"/>
          <p:cNvSpPr/>
          <p:nvPr/>
        </p:nvSpPr>
        <p:spPr>
          <a:xfrm rot="0" flipH="0" flipV="0">
            <a:off x="216408" y="6087570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1027" name="Rectangle 1027"/>
          <p:cNvSpPr/>
          <p:nvPr/>
        </p:nvSpPr>
        <p:spPr>
          <a:xfrm rot="0" flipH="0" flipV="0">
            <a:off x="216408" y="6233874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1028" name="Rectangle 1028"/>
          <p:cNvSpPr/>
          <p:nvPr/>
        </p:nvSpPr>
        <p:spPr>
          <a:xfrm rot="0" flipH="0" flipV="0">
            <a:off x="216408" y="6380178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1029" name="Rectangle 1029"/>
          <p:cNvSpPr/>
          <p:nvPr/>
        </p:nvSpPr>
        <p:spPr>
          <a:xfrm rot="0" flipH="0" flipV="0">
            <a:off x="216408" y="6526482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1030" name="Rectangle 1030"/>
          <p:cNvSpPr/>
          <p:nvPr/>
        </p:nvSpPr>
        <p:spPr>
          <a:xfrm rot="0" flipH="0" flipV="0">
            <a:off x="216408" y="6673167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1031" name="Rectangle 1031"/>
          <p:cNvSpPr/>
          <p:nvPr/>
        </p:nvSpPr>
        <p:spPr>
          <a:xfrm rot="0" flipH="0" flipV="0">
            <a:off x="216408" y="6817947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1032" name="Rectangle 1032"/>
          <p:cNvSpPr/>
          <p:nvPr/>
        </p:nvSpPr>
        <p:spPr>
          <a:xfrm rot="0" flipH="0" flipV="0">
            <a:off x="216408" y="6964251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1033" name="Rectangle 1033"/>
          <p:cNvSpPr/>
          <p:nvPr/>
        </p:nvSpPr>
        <p:spPr>
          <a:xfrm rot="0" flipH="0" flipV="0">
            <a:off x="216408" y="7110555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1034" name="Rectangle 1034"/>
          <p:cNvSpPr/>
          <p:nvPr/>
        </p:nvSpPr>
        <p:spPr>
          <a:xfrm rot="0" flipH="0" flipV="0">
            <a:off x="216408" y="7256859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1035" name="Rectangle 1035"/>
          <p:cNvSpPr/>
          <p:nvPr/>
        </p:nvSpPr>
        <p:spPr>
          <a:xfrm rot="0" flipH="0" flipV="0">
            <a:off x="216408" y="7403163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1036" name="Rectangle 1036"/>
          <p:cNvSpPr/>
          <p:nvPr/>
        </p:nvSpPr>
        <p:spPr>
          <a:xfrm rot="0" flipH="0" flipV="0">
            <a:off x="216408" y="7547943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1037" name="Rectangle 1037"/>
          <p:cNvSpPr/>
          <p:nvPr/>
        </p:nvSpPr>
        <p:spPr>
          <a:xfrm rot="0" flipH="0" flipV="0">
            <a:off x="216408" y="7694247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1038" name="Rectangle 1038"/>
          <p:cNvSpPr/>
          <p:nvPr/>
        </p:nvSpPr>
        <p:spPr>
          <a:xfrm rot="0" flipH="0" flipV="0">
            <a:off x="216408" y="7840551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1039" name="Rectangle 1039"/>
          <p:cNvSpPr/>
          <p:nvPr/>
        </p:nvSpPr>
        <p:spPr>
          <a:xfrm rot="0" flipH="0" flipV="0">
            <a:off x="216408" y="7986855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1040" name="Rectangle 1040"/>
          <p:cNvSpPr/>
          <p:nvPr/>
        </p:nvSpPr>
        <p:spPr>
          <a:xfrm rot="0" flipH="0" flipV="0">
            <a:off x="216408" y="8133159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1041" name="Rectangle 1041"/>
          <p:cNvSpPr/>
          <p:nvPr/>
        </p:nvSpPr>
        <p:spPr>
          <a:xfrm rot="0" flipH="0" flipV="0">
            <a:off x="216408" y="8279463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1042" name="Rectangle 1042"/>
          <p:cNvSpPr/>
          <p:nvPr/>
        </p:nvSpPr>
        <p:spPr>
          <a:xfrm rot="0" flipH="0" flipV="0">
            <a:off x="216408" y="8424243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1043" name="Rectangle 1043"/>
          <p:cNvSpPr/>
          <p:nvPr/>
        </p:nvSpPr>
        <p:spPr>
          <a:xfrm rot="0" flipH="0" flipV="0">
            <a:off x="216408" y="8570801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1044" name="Rectangle 1044"/>
          <p:cNvSpPr/>
          <p:nvPr/>
        </p:nvSpPr>
        <p:spPr>
          <a:xfrm rot="0" flipH="0" flipV="0">
            <a:off x="216408" y="8717105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1045" name="Rectangle 1045"/>
          <p:cNvSpPr/>
          <p:nvPr/>
        </p:nvSpPr>
        <p:spPr>
          <a:xfrm rot="0" flipH="0" flipV="0">
            <a:off x="216408" y="8863409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1046" name="Rectangle 1046"/>
          <p:cNvSpPr/>
          <p:nvPr/>
        </p:nvSpPr>
        <p:spPr>
          <a:xfrm rot="0" flipH="0" flipV="0">
            <a:off x="216408" y="9102677"/>
            <a:ext cx="35164" cy="14103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996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1047" name="Rectangle 1047"/>
          <p:cNvSpPr/>
          <p:nvPr/>
        </p:nvSpPr>
        <p:spPr>
          <a:xfrm rot="0" flipH="0" flipV="0">
            <a:off x="216408" y="9684053"/>
            <a:ext cx="28386" cy="11384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803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1048" name="Rectangle 1048"/>
          <p:cNvSpPr/>
          <p:nvPr/>
        </p:nvSpPr>
        <p:spPr>
          <a:xfrm rot="0" flipH="0" flipV="0">
            <a:off x="216408" y="9801401"/>
            <a:ext cx="28386" cy="11384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803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1049" name="Rectangle 1049"/>
          <p:cNvSpPr/>
          <p:nvPr/>
        </p:nvSpPr>
        <p:spPr>
          <a:xfrm rot="0" flipH="0" flipV="0">
            <a:off x="216408" y="10087913"/>
            <a:ext cx="28386" cy="11384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803" baseline="0" b="0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1050" name="Rectangle 1050"/>
          <p:cNvSpPr/>
          <p:nvPr/>
        </p:nvSpPr>
        <p:spPr>
          <a:xfrm rot="0" flipH="0" flipV="0">
            <a:off x="216408" y="10205261"/>
            <a:ext cx="28386" cy="11384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803" baseline="0" b="1" i="0" dirty="0" spc="0">
                <a:solidFill>
                  <a:srgbClr val="000000"/>
                </a:solidFill>
                <a:latin typeface="Arial" pitchFamily="0" charset="1"/>
              </a:rPr>
              <a:t> </a:t>
            </a:r>
          </a:p>
        </p:txBody>
      </p:sp>
      <p:sp>
        <p:nvSpPr>
          <p:cNvPr id="1051" name="Rectangle 1051"/>
          <p:cNvSpPr/>
          <p:nvPr/>
        </p:nvSpPr>
        <p:spPr>
          <a:xfrm rot="-5400000" flipH="0" flipV="0">
            <a:off x="6697148" y="2220664"/>
            <a:ext cx="997896" cy="78165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it-IT" sz="551" baseline="0" b="0" i="0" dirty="0" spc="0">
                <a:solidFill>
                  <a:srgbClr val="000000"/>
                </a:solidFill>
                <a:latin typeface="Arial" pitchFamily="0" charset="1"/>
              </a:rPr>
              <a:t>Mod. M85/854.std - Ed. 05/2022 </a:t>
            </a:r>
          </a:p>
        </p:txBody>
      </p:sp>
    </p:spTree>
  </p:cSld>
  <p:clrMapOvr>
    <a:masterClrMapping/>
  </p:clrMapOvr>
</p:sld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Application>Microsoft Office PowerPoint</Application>
  <PresentationFormat>Custom</PresentationFormat>
  <Slides>17</Slides>
  <Notes>0</Notes>
  <HiddenSlides>0</HiddenSlides>
  <ScaleCrop>false</ScaleCrop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</cp:coreProperties>
</file>